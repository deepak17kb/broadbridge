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live link. Say: this is a financial planning platform we built end to end - the maths, the interface and an AI agent on top. Everything you will see is computed live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The key phrase is "showing its work". Most finance apps give you a number. This one gives you the number and the arithmetic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Land the third one hard - it is the reason the architecture looks the way it does. We never let the language model do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so nobody gets lost. Do not read every box - just say we go from the idea, through the architecture, then screen by screen, and finish with how it is built and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 If the audience remembers one thing, it should be: the language model never computes a number, it only explains numbers the engine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personas exist: a planning tool is useless with an empty profile, and nobody wants to type their salary into a demo. Each persona is designed to trigger a different part of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point of the last line: there is no compiled copy of the engine that can drift out of date. The browser compiles the same source files the server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helps: drag a slider on the Scenario page and the number updates before your finger leaves the mouse - that is the engine running in the browser. Ask the assistant the same question and it calls the identical function server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Pick two rows: Zod, because validation is what stops one bad request from permanently breaking a profile, and the model row, because we can swap providers without touching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idea: there is exactly one source of truth. Everything else in the app is derived. That is why editing your age instantly re-scores ten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dependency out loud: risk decides allocation, allocation decides return, return decides whether your goals are on track, and that decides your score. Change your risk answers and all nine steps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four numbers along the top. Say: this is Aarav. His wellness score is 43 out of 100, grade D. The banner above is not his position today - it is what his position becomes if he follows the top two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favourite feature. Emphasise the ordering rule - if one tip says "save more" and another says "cut spending", naively adding them double-counts the same rupee. And read the amber line out loud; honesty about what the tool cannot do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views of the same five numbers. Explain why three: the ring is the headline, the radar shows the shape of the weakness, and the bars give the actual arithmetic. Different questions,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sentence matters. A 10x-income life cover rule is trivially satisfied when income is zero - that false pass used to flow into the headline grade, so we made missing data visible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the arcs are different lengths: because the pillars are weighted differently. Protection is a quarter of the whole score, so it gets a quarter of the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Mentioning the limitation is a strong move in a viva. Radar charts are often criticised because area is misleading - we know, and that is why the bars below carry the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"show your work" principle made visible. Read one of the sentences aloud and point out that it names the number, the target, and therefore lets you argue with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charts beat pie charts here because goals differ by orders of magnitude - a 4 lakh emergency fund against a 20 crore retirement. Plotting percent funded puts them on one honest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surplus is a good teaching moment. A lot of tools would just show a zero. We show the negative number because it changes which advice is even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Read the third card almost word for word - it is the clearest example in the whole project of the engine refusing to take the user’s word for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arithmetic slowly: expenses today, inflate for 34 years, divide by 3.5% - that is the corpus. Then say the gap is 10 crore, which is why his advice is so blunt.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Emergency Fund. Point out "projected at 4.9% a year" - that is not the portfolio return, it is the return for a 1.3-year horizon. Money you need next year cannot sit in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points are the ones an examiner is most likely to probe. Horizon-appropriate returns is genuinely what a real financial planner does and what a spreadsheet usually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why does retirement get zero when it is also must-have? Answer: because the emergency fund is due in 1.3 years and retirement in 33. Urgency breaks the tie inside a priority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impressive screen for a live demo. Drag a slider and let the audience watch every number on the right move. Say: 2,500 simulated market paths, recomputed as you drag.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crash preset. It is the most visceral: the whole fan chart shifts down and the success probability drops in front of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is non-technical, this is the analogy to use: instead of predicting one future, we roll the dice 2,500 times and count how often the plan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wins technical marks. You do not need to explain the maths fully - just say we corrected for variance drag, which most implementations forget, and name the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widening cone with your finger on screen. Then say the sentence about the single-line projection being a confident lie - it usually gets a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it back: the fan chart shows outcomes over time, the histogram shows the same outcomes at the finish line. Two views of one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two panels. Point at the Sharpe ratio of 0.22 and say: that is the return per unit of risk, measured against the 6.6% risk-free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192% anecdote is worth telling. It is a real bug we fixed, and it shows we thought about whether a number is meaningful to a reader, not just whether it 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measures because they fail independently - you can hold twenty stocks that are all banks, or one index fund that is genuinely diversified. The index-fund exception is a detail examiners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has a title, a "Why this is advised" paragraph with real arithmetic, a category, an effort level, a priority score, and a one-click Apply button. Read one "why"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Aarav quote at the bottom in full. It is the single best demonstration that the advice is reasoned rather than templated.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filters at the top of the page - All, Debt, Goals, Investing, Protection, Saving, Tax - are these categories. Demo one filter click if you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amber banner: on the public link the assistant is switched off, because it needs a model key and a public bundle cannot hold a secret. Show it running locally if you can, or describe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trace is the demo moment. Most AI features are a black box; here the audience watches the model choose tools and you can see the numbers arrive before the sentence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design-rule slide. We said the model only speaks - this is the mechanism that enforces it. If a figure has no tool result behind it, the system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closing point for the product half: most apps hide their assumptions. Ours puts them on a page with sliders and lets you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live link works at all without a backend. The finance engine was always compiled into the browser bundle for instant sliders; we just pointed the API client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the accessibility tests are automated, so a heading-level mistake fails the build. That is unusual in a student project and it is a genuine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Saying it out loud before anyone asks shows judgement, and it is genuinely true of the product - the disclaimer is on the Assumptions page and the onboarding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live link and invite questions. If you have time, leave the Scenario Lab open behind you - it is the screen people want to play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1371600"/>
            <a:ext cx="11055096" cy="274320"/>
          </a:xfrm>
          <a:prstGeom prst="rect">
            <a:avLst/>
          </a:prstGeom>
          <a:noFill/>
          <a:ln/>
        </p:spPr>
        <p:txBody>
          <a:bodyPr wrap="square" lIns="0" tIns="0" rIns="0" bIns="0" rtlCol="0" anchor="ctr"/>
          <a:lstStyle/>
          <a:p>
            <a:pPr indent="0" marL="0">
              <a:buNone/>
            </a:pPr>
            <a:r>
              <a:rPr lang="en-US" sz="1300" b="1" spc="300" kern="0" dirty="0">
                <a:solidFill>
                  <a:srgbClr val="2FD8A0"/>
                </a:solidFill>
                <a:latin typeface="Calibri" pitchFamily="34" charset="0"/>
                <a:ea typeface="Calibri" pitchFamily="34" charset="-122"/>
                <a:cs typeface="Calibri" pitchFamily="34" charset="-120"/>
              </a:rPr>
              <a:t>GROUP PROJECT WALKTHROUGH</a:t>
            </a:r>
            <a:endParaRPr lang="en-US" sz="1300" dirty="0"/>
          </a:p>
        </p:txBody>
      </p:sp>
      <p:sp>
        <p:nvSpPr>
          <p:cNvPr id="3" name="Text 1"/>
          <p:cNvSpPr txBox="1"/>
          <p:nvPr/>
        </p:nvSpPr>
        <p:spPr>
          <a:xfrm>
            <a:off x="566928" y="1783080"/>
            <a:ext cx="11055096" cy="1097280"/>
          </a:xfrm>
          <a:prstGeom prst="rect">
            <a:avLst/>
          </a:prstGeom>
          <a:noFill/>
          <a:ln/>
        </p:spPr>
        <p:txBody>
          <a:bodyPr wrap="square" lIns="0" tIns="0" rIns="0" bIns="0" rtlCol="0" anchor="ctr"/>
          <a:lstStyle/>
          <a:p>
            <a:pPr indent="0" marL="0">
              <a:buNone/>
            </a:pPr>
            <a:r>
              <a:rPr lang="en-US" sz="5400" b="1" dirty="0">
                <a:solidFill>
                  <a:srgbClr val="E9EFEC"/>
                </a:solidFill>
                <a:latin typeface="Arial" pitchFamily="34" charset="0"/>
                <a:ea typeface="Arial" pitchFamily="34" charset="-122"/>
                <a:cs typeface="Arial" pitchFamily="34" charset="-120"/>
              </a:rPr>
              <a:t>AI Wealth Navigator</a:t>
            </a:r>
            <a:endParaRPr lang="en-US" sz="5400" dirty="0"/>
          </a:p>
        </p:txBody>
      </p:sp>
      <p:sp>
        <p:nvSpPr>
          <p:cNvPr id="4" name="Text 2"/>
          <p:cNvSpPr txBox="1"/>
          <p:nvPr/>
        </p:nvSpPr>
        <p:spPr>
          <a:xfrm>
            <a:off x="566928" y="2971800"/>
            <a:ext cx="8595360" cy="914400"/>
          </a:xfrm>
          <a:prstGeom prst="rect">
            <a:avLst/>
          </a:prstGeom>
          <a:noFill/>
          <a:ln/>
        </p:spPr>
        <p:txBody>
          <a:bodyPr wrap="square" lIns="0" tIns="0" rIns="0" bIns="0" rtlCol="0" anchor="ctr"/>
          <a:lstStyle/>
          <a:p>
            <a:pPr indent="0" marL="0">
              <a:lnSpc>
                <a:spcPct val="120000"/>
              </a:lnSpc>
              <a:buNone/>
            </a:pPr>
            <a:r>
              <a:rPr lang="en-US" sz="1800" dirty="0">
                <a:solidFill>
                  <a:srgbClr val="93A49D"/>
                </a:solidFill>
                <a:latin typeface="Calibri" pitchFamily="34" charset="0"/>
                <a:ea typeface="Calibri" pitchFamily="34" charset="-122"/>
                <a:cs typeface="Calibri" pitchFamily="34" charset="-120"/>
              </a:rPr>
              <a:t>An agentic financial wellness platform where every number on the screen can be traced back to the arithmetic that produced it.</a:t>
            </a:r>
            <a:endParaRPr lang="en-US" sz="1800" dirty="0"/>
          </a:p>
        </p:txBody>
      </p:sp>
      <p:sp>
        <p:nvSpPr>
          <p:cNvPr id="5" name="Shape 3"/>
          <p:cNvSpPr/>
          <p:nvPr/>
        </p:nvSpPr>
        <p:spPr>
          <a:xfrm>
            <a:off x="566928" y="4069080"/>
            <a:ext cx="3255264" cy="384048"/>
          </a:xfrm>
          <a:prstGeom prst="roundRect">
            <a:avLst>
              <a:gd name="adj" fmla="val 47619"/>
            </a:avLst>
          </a:prstGeom>
          <a:solidFill>
            <a:srgbClr val="161F1C"/>
          </a:solidFill>
          <a:ln w="12700">
            <a:solidFill>
              <a:srgbClr val="1D2926"/>
            </a:solidFill>
            <a:prstDash val="solid"/>
          </a:ln>
        </p:spPr>
      </p:sp>
      <p:sp>
        <p:nvSpPr>
          <p:cNvPr id="6" name="Text 4"/>
          <p:cNvSpPr txBox="1"/>
          <p:nvPr/>
        </p:nvSpPr>
        <p:spPr>
          <a:xfrm>
            <a:off x="566928" y="4069080"/>
            <a:ext cx="3255264" cy="384048"/>
          </a:xfrm>
          <a:prstGeom prst="rect">
            <a:avLst/>
          </a:prstGeom>
          <a:noFill/>
          <a:ln/>
        </p:spPr>
        <p:txBody>
          <a:bodyPr wrap="square" lIns="0" tIns="0" rIns="0" bIns="0" rtlCol="0" anchor="ctr"/>
          <a:lstStyle/>
          <a:p>
            <a:pPr algn="ctr" indent="0" marL="0">
              <a:buNone/>
            </a:pPr>
            <a:r>
              <a:rPr lang="en-US" sz="1200" dirty="0">
                <a:solidFill>
                  <a:srgbClr val="E9EFEC"/>
                </a:solidFill>
                <a:latin typeface="Calibri" pitchFamily="34" charset="0"/>
                <a:ea typeface="Calibri" pitchFamily="34" charset="-122"/>
                <a:cs typeface="Calibri" pitchFamily="34" charset="-120"/>
              </a:rPr>
              <a:t>React + TypeScript</a:t>
            </a:r>
            <a:endParaRPr lang="en-US" sz="1200" dirty="0"/>
          </a:p>
        </p:txBody>
      </p:sp>
      <p:sp>
        <p:nvSpPr>
          <p:cNvPr id="7" name="Shape 5"/>
          <p:cNvSpPr/>
          <p:nvPr/>
        </p:nvSpPr>
        <p:spPr>
          <a:xfrm>
            <a:off x="3986784" y="4069080"/>
            <a:ext cx="2633472" cy="384048"/>
          </a:xfrm>
          <a:prstGeom prst="roundRect">
            <a:avLst>
              <a:gd name="adj" fmla="val 47619"/>
            </a:avLst>
          </a:prstGeom>
          <a:solidFill>
            <a:srgbClr val="161F1C"/>
          </a:solidFill>
          <a:ln w="12700">
            <a:solidFill>
              <a:srgbClr val="1D2926"/>
            </a:solidFill>
            <a:prstDash val="solid"/>
          </a:ln>
        </p:spPr>
      </p:sp>
      <p:sp>
        <p:nvSpPr>
          <p:cNvPr id="8" name="Text 6"/>
          <p:cNvSpPr txBox="1"/>
          <p:nvPr/>
        </p:nvSpPr>
        <p:spPr>
          <a:xfrm>
            <a:off x="3986784" y="4069080"/>
            <a:ext cx="2633472" cy="384048"/>
          </a:xfrm>
          <a:prstGeom prst="rect">
            <a:avLst/>
          </a:prstGeom>
          <a:noFill/>
          <a:ln/>
        </p:spPr>
        <p:txBody>
          <a:bodyPr wrap="square" lIns="0" tIns="0" rIns="0" bIns="0" rtlCol="0" anchor="ctr"/>
          <a:lstStyle/>
          <a:p>
            <a:pPr algn="ctr" indent="0" marL="0">
              <a:buNone/>
            </a:pPr>
            <a:r>
              <a:rPr lang="en-US" sz="1200" dirty="0">
                <a:solidFill>
                  <a:srgbClr val="E9EFEC"/>
                </a:solidFill>
                <a:latin typeface="Calibri" pitchFamily="34" charset="0"/>
                <a:ea typeface="Calibri" pitchFamily="34" charset="-122"/>
                <a:cs typeface="Calibri" pitchFamily="34" charset="-120"/>
              </a:rPr>
              <a:t>Node + Express</a:t>
            </a:r>
            <a:endParaRPr lang="en-US" sz="1200" dirty="0"/>
          </a:p>
        </p:txBody>
      </p:sp>
      <p:sp>
        <p:nvSpPr>
          <p:cNvPr id="9" name="Shape 7"/>
          <p:cNvSpPr/>
          <p:nvPr/>
        </p:nvSpPr>
        <p:spPr>
          <a:xfrm>
            <a:off x="6784848" y="4069080"/>
            <a:ext cx="3255264" cy="384048"/>
          </a:xfrm>
          <a:prstGeom prst="roundRect">
            <a:avLst>
              <a:gd name="adj" fmla="val 47619"/>
            </a:avLst>
          </a:prstGeom>
          <a:solidFill>
            <a:srgbClr val="161F1C"/>
          </a:solidFill>
          <a:ln w="12700">
            <a:solidFill>
              <a:srgbClr val="1D2926"/>
            </a:solidFill>
            <a:prstDash val="solid"/>
          </a:ln>
        </p:spPr>
      </p:sp>
      <p:sp>
        <p:nvSpPr>
          <p:cNvPr id="10" name="Text 8"/>
          <p:cNvSpPr txBox="1"/>
          <p:nvPr/>
        </p:nvSpPr>
        <p:spPr>
          <a:xfrm>
            <a:off x="6784848" y="4069080"/>
            <a:ext cx="3255264" cy="384048"/>
          </a:xfrm>
          <a:prstGeom prst="rect">
            <a:avLst/>
          </a:prstGeom>
          <a:noFill/>
          <a:ln/>
        </p:spPr>
        <p:txBody>
          <a:bodyPr wrap="square" lIns="0" tIns="0" rIns="0" bIns="0" rtlCol="0" anchor="ctr"/>
          <a:lstStyle/>
          <a:p>
            <a:pPr algn="ctr" indent="0" marL="0">
              <a:buNone/>
            </a:pPr>
            <a:r>
              <a:rPr lang="en-US" sz="1200" dirty="0">
                <a:solidFill>
                  <a:srgbClr val="E9EFEC"/>
                </a:solidFill>
                <a:latin typeface="Calibri" pitchFamily="34" charset="0"/>
                <a:ea typeface="Calibri" pitchFamily="34" charset="-122"/>
                <a:cs typeface="Calibri" pitchFamily="34" charset="-120"/>
              </a:rPr>
              <a:t>Monte Carlo engine</a:t>
            </a:r>
            <a:endParaRPr lang="en-US" sz="1200" dirty="0"/>
          </a:p>
        </p:txBody>
      </p:sp>
      <p:sp>
        <p:nvSpPr>
          <p:cNvPr id="11" name="Shape 9"/>
          <p:cNvSpPr/>
          <p:nvPr/>
        </p:nvSpPr>
        <p:spPr>
          <a:xfrm>
            <a:off x="10204704" y="4069080"/>
            <a:ext cx="1856232" cy="384048"/>
          </a:xfrm>
          <a:prstGeom prst="roundRect">
            <a:avLst>
              <a:gd name="adj" fmla="val 47619"/>
            </a:avLst>
          </a:prstGeom>
          <a:solidFill>
            <a:srgbClr val="161F1C"/>
          </a:solidFill>
          <a:ln w="12700">
            <a:solidFill>
              <a:srgbClr val="1D2926"/>
            </a:solidFill>
            <a:prstDash val="solid"/>
          </a:ln>
        </p:spPr>
      </p:sp>
      <p:sp>
        <p:nvSpPr>
          <p:cNvPr id="12" name="Text 10"/>
          <p:cNvSpPr txBox="1"/>
          <p:nvPr/>
        </p:nvSpPr>
        <p:spPr>
          <a:xfrm>
            <a:off x="10204704" y="4069080"/>
            <a:ext cx="1856232" cy="384048"/>
          </a:xfrm>
          <a:prstGeom prst="rect">
            <a:avLst/>
          </a:prstGeom>
          <a:noFill/>
          <a:ln/>
        </p:spPr>
        <p:txBody>
          <a:bodyPr wrap="square" lIns="0" tIns="0" rIns="0" bIns="0" rtlCol="0" anchor="ctr"/>
          <a:lstStyle/>
          <a:p>
            <a:pPr algn="ctr" indent="0" marL="0">
              <a:buNone/>
            </a:pPr>
            <a:r>
              <a:rPr lang="en-US" sz="1200" dirty="0">
                <a:solidFill>
                  <a:srgbClr val="E9EFEC"/>
                </a:solidFill>
                <a:latin typeface="Calibri" pitchFamily="34" charset="0"/>
                <a:ea typeface="Calibri" pitchFamily="34" charset="-122"/>
                <a:cs typeface="Calibri" pitchFamily="34" charset="-120"/>
              </a:rPr>
              <a:t>LLM agent</a:t>
            </a:r>
            <a:endParaRPr lang="en-US" sz="1200" dirty="0"/>
          </a:p>
        </p:txBody>
      </p:sp>
      <p:sp>
        <p:nvSpPr>
          <p:cNvPr id="13" name="Text 11"/>
          <p:cNvSpPr txBox="1"/>
          <p:nvPr/>
        </p:nvSpPr>
        <p:spPr>
          <a:xfrm>
            <a:off x="566928" y="5120640"/>
            <a:ext cx="7315200" cy="274320"/>
          </a:xfrm>
          <a:prstGeom prst="rect">
            <a:avLst/>
          </a:prstGeom>
          <a:noFill/>
          <a:ln/>
        </p:spPr>
        <p:txBody>
          <a:bodyPr wrap="square" lIns="0" tIns="0" rIns="0" bIns="0" rtlCol="0" anchor="ctr"/>
          <a:lstStyle/>
          <a:p>
            <a:pPr indent="0" marL="0">
              <a:buNone/>
            </a:pPr>
            <a:r>
              <a:rPr lang="en-US" sz="1400" dirty="0">
                <a:solidFill>
                  <a:srgbClr val="2FD8A0"/>
                </a:solidFill>
                <a:latin typeface="Calibri" pitchFamily="34" charset="0"/>
                <a:ea typeface="Calibri" pitchFamily="34" charset="-122"/>
                <a:cs typeface="Calibri" pitchFamily="34" charset="-120"/>
              </a:rPr>
              <a:t>deepak17kb.github.io/BroadBridge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FD8A0"/>
        </a:solidFill>
      </p:bgPr>
    </p:bg>
    <p:spTree>
      <p:nvGrpSpPr>
        <p:cNvPr id="1" name=""/>
        <p:cNvGrpSpPr/>
        <p:nvPr/>
      </p:nvGrpSpPr>
      <p:grpSpPr>
        <a:xfrm>
          <a:off x="0" y="0"/>
          <a:ext cx="0" cy="0"/>
          <a:chOff x="0" y="0"/>
          <a:chExt cx="0" cy="0"/>
        </a:xfrm>
      </p:grpSpPr>
      <p:sp>
        <p:nvSpPr>
          <p:cNvPr id="2" name="Text 0"/>
          <p:cNvSpPr txBox="1"/>
          <p:nvPr/>
        </p:nvSpPr>
        <p:spPr>
          <a:xfrm>
            <a:off x="566928" y="1371600"/>
            <a:ext cx="11055096" cy="274320"/>
          </a:xfrm>
          <a:prstGeom prst="rect">
            <a:avLst/>
          </a:prstGeom>
          <a:noFill/>
          <a:ln/>
        </p:spPr>
        <p:txBody>
          <a:bodyPr wrap="square" lIns="0" tIns="0" rIns="0" bIns="0" rtlCol="0" anchor="ctr"/>
          <a:lstStyle/>
          <a:p>
            <a:pPr indent="0" marL="0">
              <a:buNone/>
            </a:pPr>
            <a:r>
              <a:rPr lang="en-US" sz="1300" b="1" spc="300" kern="0" dirty="0">
                <a:solidFill>
                  <a:srgbClr val="0F1E19"/>
                </a:solidFill>
                <a:latin typeface="Calibri" pitchFamily="34" charset="0"/>
                <a:ea typeface="Calibri" pitchFamily="34" charset="-122"/>
                <a:cs typeface="Calibri" pitchFamily="34" charset="-120"/>
              </a:rPr>
              <a:t>IN ONE SENTENCE</a:t>
            </a:r>
            <a:endParaRPr lang="en-US" sz="1300" dirty="0"/>
          </a:p>
        </p:txBody>
      </p:sp>
      <p:sp>
        <p:nvSpPr>
          <p:cNvPr id="3" name="Text 1"/>
          <p:cNvSpPr txBox="1"/>
          <p:nvPr/>
        </p:nvSpPr>
        <p:spPr>
          <a:xfrm>
            <a:off x="566928" y="1920240"/>
            <a:ext cx="10506456" cy="2743200"/>
          </a:xfrm>
          <a:prstGeom prst="rect">
            <a:avLst/>
          </a:prstGeom>
          <a:noFill/>
          <a:ln/>
        </p:spPr>
        <p:txBody>
          <a:bodyPr wrap="square" lIns="0" tIns="0" rIns="0" bIns="0" rtlCol="0" anchor="ctr"/>
          <a:lstStyle/>
          <a:p>
            <a:pPr indent="0" marL="0">
              <a:lnSpc>
                <a:spcPct val="118000"/>
              </a:lnSpc>
              <a:buNone/>
            </a:pPr>
            <a:r>
              <a:rPr lang="en-US" sz="3400" b="1" dirty="0">
                <a:solidFill>
                  <a:srgbClr val="0F1E19"/>
                </a:solidFill>
                <a:latin typeface="Arial" pitchFamily="34" charset="0"/>
                <a:ea typeface="Arial" pitchFamily="34" charset="-122"/>
                <a:cs typeface="Arial" pitchFamily="34" charset="-120"/>
              </a:rPr>
              <a:t>It reads your real financial position, projects it against thousands of simulated markets, and tells you what to do next — showing its work every time.</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Financial advice is either generic or a black box</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66928" y="1600200"/>
            <a:ext cx="3514344" cy="2651760"/>
          </a:xfrm>
          <a:prstGeom prst="roundRect">
            <a:avLst>
              <a:gd name="adj" fmla="val 3448"/>
            </a:avLst>
          </a:prstGeom>
          <a:solidFill>
            <a:srgbClr val="161F1C"/>
          </a:solidFill>
          <a:ln w="12700">
            <a:solidFill>
              <a:srgbClr val="1D2926"/>
            </a:solidFill>
            <a:prstDash val="solid"/>
          </a:ln>
        </p:spPr>
      </p:sp>
      <p:sp>
        <p:nvSpPr>
          <p:cNvPr id="7" name="Text 4"/>
          <p:cNvSpPr txBox="1"/>
          <p:nvPr/>
        </p:nvSpPr>
        <p:spPr>
          <a:xfrm>
            <a:off x="804672" y="1801368"/>
            <a:ext cx="3038856" cy="566928"/>
          </a:xfrm>
          <a:prstGeom prst="rect">
            <a:avLst/>
          </a:prstGeom>
          <a:noFill/>
          <a:ln/>
        </p:spPr>
        <p:txBody>
          <a:bodyPr wrap="square" lIns="0" tIns="0" rIns="0" bIns="0" rtlCol="0" anchor="ctr"/>
          <a:lstStyle/>
          <a:p>
            <a:pPr indent="0" marL="0">
              <a:buNone/>
            </a:pPr>
            <a:r>
              <a:rPr lang="en-US" sz="1500" b="1" dirty="0">
                <a:solidFill>
                  <a:srgbClr val="FF5C7A"/>
                </a:solidFill>
                <a:latin typeface="Arial" pitchFamily="34" charset="0"/>
                <a:ea typeface="Arial" pitchFamily="34" charset="-122"/>
                <a:cs typeface="Arial" pitchFamily="34" charset="-120"/>
              </a:rPr>
              <a:t>Generic content</a:t>
            </a:r>
            <a:endParaRPr lang="en-US" sz="1500" dirty="0"/>
          </a:p>
        </p:txBody>
      </p:sp>
      <p:sp>
        <p:nvSpPr>
          <p:cNvPr id="8" name="Text 5"/>
          <p:cNvSpPr txBox="1"/>
          <p:nvPr/>
        </p:nvSpPr>
        <p:spPr>
          <a:xfrm>
            <a:off x="804672"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Blogs and calculators do not know your income, your loans, your dependents or your horizon. A 20% savings rule means nothing to someone paying 42% on a credit card.</a:t>
            </a:r>
            <a:endParaRPr lang="en-US" sz="1300" dirty="0"/>
          </a:p>
        </p:txBody>
      </p:sp>
      <p:sp>
        <p:nvSpPr>
          <p:cNvPr id="9" name="Shape 6"/>
          <p:cNvSpPr/>
          <p:nvPr/>
        </p:nvSpPr>
        <p:spPr>
          <a:xfrm>
            <a:off x="4337304" y="1600200"/>
            <a:ext cx="3514344" cy="2651760"/>
          </a:xfrm>
          <a:prstGeom prst="roundRect">
            <a:avLst>
              <a:gd name="adj" fmla="val 3448"/>
            </a:avLst>
          </a:prstGeom>
          <a:solidFill>
            <a:srgbClr val="161F1C"/>
          </a:solidFill>
          <a:ln w="12700">
            <a:solidFill>
              <a:srgbClr val="1D2926"/>
            </a:solidFill>
            <a:prstDash val="solid"/>
          </a:ln>
        </p:spPr>
      </p:sp>
      <p:sp>
        <p:nvSpPr>
          <p:cNvPr id="10" name="Text 7"/>
          <p:cNvSpPr txBox="1"/>
          <p:nvPr/>
        </p:nvSpPr>
        <p:spPr>
          <a:xfrm>
            <a:off x="4575048" y="18013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Black-box apps</a:t>
            </a:r>
            <a:endParaRPr lang="en-US" sz="1500" dirty="0"/>
          </a:p>
        </p:txBody>
      </p:sp>
      <p:sp>
        <p:nvSpPr>
          <p:cNvPr id="11" name="Text 8"/>
          <p:cNvSpPr txBox="1"/>
          <p:nvPr/>
        </p:nvSpPr>
        <p:spPr>
          <a:xfrm>
            <a:off x="4575048"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Robo-advisors output an allocation with no visible reasoning. You cannot disagree with it, because you cannot see what it assumed.</a:t>
            </a:r>
            <a:endParaRPr lang="en-US" sz="1300" dirty="0"/>
          </a:p>
        </p:txBody>
      </p:sp>
      <p:sp>
        <p:nvSpPr>
          <p:cNvPr id="12" name="Shape 9"/>
          <p:cNvSpPr/>
          <p:nvPr/>
        </p:nvSpPr>
        <p:spPr>
          <a:xfrm>
            <a:off x="8107680" y="1600200"/>
            <a:ext cx="3514344" cy="2651760"/>
          </a:xfrm>
          <a:prstGeom prst="roundRect">
            <a:avLst>
              <a:gd name="adj" fmla="val 3448"/>
            </a:avLst>
          </a:prstGeom>
          <a:solidFill>
            <a:srgbClr val="161F1C"/>
          </a:solidFill>
          <a:ln w="12700">
            <a:solidFill>
              <a:srgbClr val="1D2926"/>
            </a:solidFill>
            <a:prstDash val="solid"/>
          </a:ln>
        </p:spPr>
      </p:sp>
      <p:sp>
        <p:nvSpPr>
          <p:cNvPr id="13" name="Text 10"/>
          <p:cNvSpPr txBox="1"/>
          <p:nvPr/>
        </p:nvSpPr>
        <p:spPr>
          <a:xfrm>
            <a:off x="8345424" y="18013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A model alone hallucinates</a:t>
            </a:r>
            <a:endParaRPr lang="en-US" sz="1500" dirty="0"/>
          </a:p>
        </p:txBody>
      </p:sp>
      <p:sp>
        <p:nvSpPr>
          <p:cNvPr id="14" name="Text 11"/>
          <p:cNvSpPr txBox="1"/>
          <p:nvPr/>
        </p:nvSpPr>
        <p:spPr>
          <a:xfrm>
            <a:off x="8345424"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Ask a chatbot to plan your retirement and it will invent plausible arithmetic. Confident, fluent, and wrong by crores.</a:t>
            </a:r>
            <a:endParaRPr lang="en-US" sz="1300" dirty="0"/>
          </a:p>
        </p:txBody>
      </p:sp>
      <p:sp>
        <p:nvSpPr>
          <p:cNvPr id="15" name="Text 12"/>
          <p:cNvSpPr txBox="1"/>
          <p:nvPr/>
        </p:nvSpPr>
        <p:spPr>
          <a:xfrm>
            <a:off x="566928" y="4617720"/>
            <a:ext cx="11055096" cy="914400"/>
          </a:xfrm>
          <a:prstGeom prst="rect">
            <a:avLst/>
          </a:prstGeom>
          <a:noFill/>
          <a:ln/>
        </p:spPr>
        <p:txBody>
          <a:bodyPr wrap="square" lIns="0" tIns="0" rIns="0" bIns="0" rtlCol="0" anchor="t"/>
          <a:lstStyle/>
          <a:p>
            <a:pPr indent="0" marL="0">
              <a:lnSpc>
                <a:spcPct val="120000"/>
              </a:lnSpc>
              <a:buNone/>
            </a:pPr>
            <a:r>
              <a:rPr lang="en-US" sz="1600" dirty="0">
                <a:solidFill>
                  <a:srgbClr val="2FD8A0"/>
                </a:solidFill>
                <a:latin typeface="Calibri" pitchFamily="34" charset="0"/>
                <a:ea typeface="Calibri" pitchFamily="34" charset="-122"/>
                <a:cs typeface="Calibri" pitchFamily="34" charset="-120"/>
              </a:rPr>
              <a:t>Our answer: compute everything with a deterministic engine, let the model only narrate and prioritise, and print the assumptions next to every figure.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WHAT WE WILL COVER</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Nine parts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66928" y="1600200"/>
            <a:ext cx="3514344" cy="1207008"/>
          </a:xfrm>
          <a:prstGeom prst="roundRect">
            <a:avLst>
              <a:gd name="adj" fmla="val 6818"/>
            </a:avLst>
          </a:prstGeom>
          <a:solidFill>
            <a:srgbClr val="161F1C"/>
          </a:solidFill>
          <a:ln w="12700">
            <a:solidFill>
              <a:srgbClr val="1D2926"/>
            </a:solidFill>
            <a:prstDash val="solid"/>
          </a:ln>
        </p:spPr>
      </p:sp>
      <p:sp>
        <p:nvSpPr>
          <p:cNvPr id="7" name="Text 4"/>
          <p:cNvSpPr txBox="1"/>
          <p:nvPr/>
        </p:nvSpPr>
        <p:spPr>
          <a:xfrm>
            <a:off x="786384" y="1746504"/>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01</a:t>
            </a:r>
            <a:endParaRPr lang="en-US" sz="1200" dirty="0"/>
          </a:p>
        </p:txBody>
      </p:sp>
      <p:sp>
        <p:nvSpPr>
          <p:cNvPr id="8" name="Text 5"/>
          <p:cNvSpPr txBox="1"/>
          <p:nvPr/>
        </p:nvSpPr>
        <p:spPr>
          <a:xfrm>
            <a:off x="786384" y="2002536"/>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The idea</a:t>
            </a:r>
            <a:endParaRPr lang="en-US" sz="1500" dirty="0"/>
          </a:p>
        </p:txBody>
      </p:sp>
      <p:sp>
        <p:nvSpPr>
          <p:cNvPr id="9" name="Text 6"/>
          <p:cNvSpPr txBox="1"/>
          <p:nvPr/>
        </p:nvSpPr>
        <p:spPr>
          <a:xfrm>
            <a:off x="786384" y="2331720"/>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What makes it different</a:t>
            </a:r>
            <a:endParaRPr lang="en-US" sz="1200" dirty="0"/>
          </a:p>
        </p:txBody>
      </p:sp>
      <p:sp>
        <p:nvSpPr>
          <p:cNvPr id="10" name="Shape 7"/>
          <p:cNvSpPr/>
          <p:nvPr/>
        </p:nvSpPr>
        <p:spPr>
          <a:xfrm>
            <a:off x="4337304" y="1600200"/>
            <a:ext cx="3514344" cy="1207008"/>
          </a:xfrm>
          <a:prstGeom prst="roundRect">
            <a:avLst>
              <a:gd name="adj" fmla="val 6818"/>
            </a:avLst>
          </a:prstGeom>
          <a:solidFill>
            <a:srgbClr val="161F1C"/>
          </a:solidFill>
          <a:ln w="12700">
            <a:solidFill>
              <a:srgbClr val="1D2926"/>
            </a:solidFill>
            <a:prstDash val="solid"/>
          </a:ln>
        </p:spPr>
      </p:sp>
      <p:sp>
        <p:nvSpPr>
          <p:cNvPr id="11" name="Text 8"/>
          <p:cNvSpPr txBox="1"/>
          <p:nvPr/>
        </p:nvSpPr>
        <p:spPr>
          <a:xfrm>
            <a:off x="4556760" y="1746504"/>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02</a:t>
            </a:r>
            <a:endParaRPr lang="en-US" sz="1200" dirty="0"/>
          </a:p>
        </p:txBody>
      </p:sp>
      <p:sp>
        <p:nvSpPr>
          <p:cNvPr id="12" name="Text 9"/>
          <p:cNvSpPr txBox="1"/>
          <p:nvPr/>
        </p:nvSpPr>
        <p:spPr>
          <a:xfrm>
            <a:off x="4556760" y="2002536"/>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Architecture</a:t>
            </a:r>
            <a:endParaRPr lang="en-US" sz="1500" dirty="0"/>
          </a:p>
        </p:txBody>
      </p:sp>
      <p:sp>
        <p:nvSpPr>
          <p:cNvPr id="13" name="Text 10"/>
          <p:cNvSpPr txBox="1"/>
          <p:nvPr/>
        </p:nvSpPr>
        <p:spPr>
          <a:xfrm>
            <a:off x="4556760" y="2331720"/>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Monorepo, shared engine</a:t>
            </a:r>
            <a:endParaRPr lang="en-US" sz="1200" dirty="0"/>
          </a:p>
        </p:txBody>
      </p:sp>
      <p:sp>
        <p:nvSpPr>
          <p:cNvPr id="14" name="Shape 11"/>
          <p:cNvSpPr/>
          <p:nvPr/>
        </p:nvSpPr>
        <p:spPr>
          <a:xfrm>
            <a:off x="8107680" y="1600200"/>
            <a:ext cx="3514344" cy="1207008"/>
          </a:xfrm>
          <a:prstGeom prst="roundRect">
            <a:avLst>
              <a:gd name="adj" fmla="val 6818"/>
            </a:avLst>
          </a:prstGeom>
          <a:solidFill>
            <a:srgbClr val="161F1C"/>
          </a:solidFill>
          <a:ln w="12700">
            <a:solidFill>
              <a:srgbClr val="1D2926"/>
            </a:solidFill>
            <a:prstDash val="solid"/>
          </a:ln>
        </p:spPr>
      </p:sp>
      <p:sp>
        <p:nvSpPr>
          <p:cNvPr id="15" name="Text 12"/>
          <p:cNvSpPr txBox="1"/>
          <p:nvPr/>
        </p:nvSpPr>
        <p:spPr>
          <a:xfrm>
            <a:off x="8327136" y="1746504"/>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03</a:t>
            </a:r>
            <a:endParaRPr lang="en-US" sz="1200" dirty="0"/>
          </a:p>
        </p:txBody>
      </p:sp>
      <p:sp>
        <p:nvSpPr>
          <p:cNvPr id="16" name="Text 13"/>
          <p:cNvSpPr txBox="1"/>
          <p:nvPr/>
        </p:nvSpPr>
        <p:spPr>
          <a:xfrm>
            <a:off x="8327136" y="2002536"/>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Dashboard</a:t>
            </a:r>
            <a:endParaRPr lang="en-US" sz="1500" dirty="0"/>
          </a:p>
        </p:txBody>
      </p:sp>
      <p:sp>
        <p:nvSpPr>
          <p:cNvPr id="17" name="Text 14"/>
          <p:cNvSpPr txBox="1"/>
          <p:nvPr/>
        </p:nvSpPr>
        <p:spPr>
          <a:xfrm>
            <a:off x="8327136" y="2331720"/>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Wellness, impact, cashflow</a:t>
            </a:r>
            <a:endParaRPr lang="en-US" sz="1200" dirty="0"/>
          </a:p>
        </p:txBody>
      </p:sp>
      <p:sp>
        <p:nvSpPr>
          <p:cNvPr id="18" name="Shape 15"/>
          <p:cNvSpPr/>
          <p:nvPr/>
        </p:nvSpPr>
        <p:spPr>
          <a:xfrm>
            <a:off x="566928" y="3026664"/>
            <a:ext cx="3514344" cy="1207008"/>
          </a:xfrm>
          <a:prstGeom prst="roundRect">
            <a:avLst>
              <a:gd name="adj" fmla="val 6818"/>
            </a:avLst>
          </a:prstGeom>
          <a:solidFill>
            <a:srgbClr val="161F1C"/>
          </a:solidFill>
          <a:ln w="12700">
            <a:solidFill>
              <a:srgbClr val="1D2926"/>
            </a:solidFill>
            <a:prstDash val="solid"/>
          </a:ln>
        </p:spPr>
      </p:sp>
      <p:sp>
        <p:nvSpPr>
          <p:cNvPr id="19" name="Text 16"/>
          <p:cNvSpPr txBox="1"/>
          <p:nvPr/>
        </p:nvSpPr>
        <p:spPr>
          <a:xfrm>
            <a:off x="786384" y="3172968"/>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04</a:t>
            </a:r>
            <a:endParaRPr lang="en-US" sz="1200" dirty="0"/>
          </a:p>
        </p:txBody>
      </p:sp>
      <p:sp>
        <p:nvSpPr>
          <p:cNvPr id="20" name="Text 17"/>
          <p:cNvSpPr txBox="1"/>
          <p:nvPr/>
        </p:nvSpPr>
        <p:spPr>
          <a:xfrm>
            <a:off x="786384" y="3429000"/>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Goals</a:t>
            </a:r>
            <a:endParaRPr lang="en-US" sz="1500" dirty="0"/>
          </a:p>
        </p:txBody>
      </p:sp>
      <p:sp>
        <p:nvSpPr>
          <p:cNvPr id="21" name="Text 18"/>
          <p:cNvSpPr txBox="1"/>
          <p:nvPr/>
        </p:nvSpPr>
        <p:spPr>
          <a:xfrm>
            <a:off x="786384" y="3758184"/>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Inflation, funding, optimiser</a:t>
            </a:r>
            <a:endParaRPr lang="en-US" sz="1200" dirty="0"/>
          </a:p>
        </p:txBody>
      </p:sp>
      <p:sp>
        <p:nvSpPr>
          <p:cNvPr id="22" name="Shape 19"/>
          <p:cNvSpPr/>
          <p:nvPr/>
        </p:nvSpPr>
        <p:spPr>
          <a:xfrm>
            <a:off x="4337304" y="3026664"/>
            <a:ext cx="3514344" cy="1207008"/>
          </a:xfrm>
          <a:prstGeom prst="roundRect">
            <a:avLst>
              <a:gd name="adj" fmla="val 6818"/>
            </a:avLst>
          </a:prstGeom>
          <a:solidFill>
            <a:srgbClr val="161F1C"/>
          </a:solidFill>
          <a:ln w="12700">
            <a:solidFill>
              <a:srgbClr val="1D2926"/>
            </a:solidFill>
            <a:prstDash val="solid"/>
          </a:ln>
        </p:spPr>
      </p:sp>
      <p:sp>
        <p:nvSpPr>
          <p:cNvPr id="23" name="Text 20"/>
          <p:cNvSpPr txBox="1"/>
          <p:nvPr/>
        </p:nvSpPr>
        <p:spPr>
          <a:xfrm>
            <a:off x="4556760" y="3172968"/>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05</a:t>
            </a:r>
            <a:endParaRPr lang="en-US" sz="1200" dirty="0"/>
          </a:p>
        </p:txBody>
      </p:sp>
      <p:sp>
        <p:nvSpPr>
          <p:cNvPr id="24" name="Text 21"/>
          <p:cNvSpPr txBox="1"/>
          <p:nvPr/>
        </p:nvSpPr>
        <p:spPr>
          <a:xfrm>
            <a:off x="4556760" y="3429000"/>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Scenario Lab</a:t>
            </a:r>
            <a:endParaRPr lang="en-US" sz="1500" dirty="0"/>
          </a:p>
        </p:txBody>
      </p:sp>
      <p:sp>
        <p:nvSpPr>
          <p:cNvPr id="25" name="Text 22"/>
          <p:cNvSpPr txBox="1"/>
          <p:nvPr/>
        </p:nvSpPr>
        <p:spPr>
          <a:xfrm>
            <a:off x="4556760" y="3758184"/>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Levers and Monte Carlo</a:t>
            </a:r>
            <a:endParaRPr lang="en-US" sz="1200" dirty="0"/>
          </a:p>
        </p:txBody>
      </p:sp>
      <p:sp>
        <p:nvSpPr>
          <p:cNvPr id="26" name="Shape 23"/>
          <p:cNvSpPr/>
          <p:nvPr/>
        </p:nvSpPr>
        <p:spPr>
          <a:xfrm>
            <a:off x="8107680" y="3026664"/>
            <a:ext cx="3514344" cy="1207008"/>
          </a:xfrm>
          <a:prstGeom prst="roundRect">
            <a:avLst>
              <a:gd name="adj" fmla="val 6818"/>
            </a:avLst>
          </a:prstGeom>
          <a:solidFill>
            <a:srgbClr val="161F1C"/>
          </a:solidFill>
          <a:ln w="12700">
            <a:solidFill>
              <a:srgbClr val="1D2926"/>
            </a:solidFill>
            <a:prstDash val="solid"/>
          </a:ln>
        </p:spPr>
      </p:sp>
      <p:sp>
        <p:nvSpPr>
          <p:cNvPr id="27" name="Text 24"/>
          <p:cNvSpPr txBox="1"/>
          <p:nvPr/>
        </p:nvSpPr>
        <p:spPr>
          <a:xfrm>
            <a:off x="8327136" y="3172968"/>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06</a:t>
            </a:r>
            <a:endParaRPr lang="en-US" sz="1200" dirty="0"/>
          </a:p>
        </p:txBody>
      </p:sp>
      <p:sp>
        <p:nvSpPr>
          <p:cNvPr id="28" name="Text 25"/>
          <p:cNvSpPr txBox="1"/>
          <p:nvPr/>
        </p:nvSpPr>
        <p:spPr>
          <a:xfrm>
            <a:off x="8327136" y="3429000"/>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Portfolio</a:t>
            </a:r>
            <a:endParaRPr lang="en-US" sz="1500" dirty="0"/>
          </a:p>
        </p:txBody>
      </p:sp>
      <p:sp>
        <p:nvSpPr>
          <p:cNvPr id="29" name="Text 26"/>
          <p:cNvSpPr txBox="1"/>
          <p:nvPr/>
        </p:nvSpPr>
        <p:spPr>
          <a:xfrm>
            <a:off x="8327136" y="3758184"/>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Allocation, drift, risk</a:t>
            </a:r>
            <a:endParaRPr lang="en-US" sz="1200" dirty="0"/>
          </a:p>
        </p:txBody>
      </p:sp>
      <p:sp>
        <p:nvSpPr>
          <p:cNvPr id="30" name="Shape 27"/>
          <p:cNvSpPr/>
          <p:nvPr/>
        </p:nvSpPr>
        <p:spPr>
          <a:xfrm>
            <a:off x="566928" y="4453128"/>
            <a:ext cx="3514344" cy="1207008"/>
          </a:xfrm>
          <a:prstGeom prst="roundRect">
            <a:avLst>
              <a:gd name="adj" fmla="val 6818"/>
            </a:avLst>
          </a:prstGeom>
          <a:solidFill>
            <a:srgbClr val="161F1C"/>
          </a:solidFill>
          <a:ln w="12700">
            <a:solidFill>
              <a:srgbClr val="1D2926"/>
            </a:solidFill>
            <a:prstDash val="solid"/>
          </a:ln>
        </p:spPr>
      </p:sp>
      <p:sp>
        <p:nvSpPr>
          <p:cNvPr id="31" name="Text 28"/>
          <p:cNvSpPr txBox="1"/>
          <p:nvPr/>
        </p:nvSpPr>
        <p:spPr>
          <a:xfrm>
            <a:off x="786384" y="4599432"/>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07</a:t>
            </a:r>
            <a:endParaRPr lang="en-US" sz="1200" dirty="0"/>
          </a:p>
        </p:txBody>
      </p:sp>
      <p:sp>
        <p:nvSpPr>
          <p:cNvPr id="32" name="Text 29"/>
          <p:cNvSpPr txBox="1"/>
          <p:nvPr/>
        </p:nvSpPr>
        <p:spPr>
          <a:xfrm>
            <a:off x="786384" y="4855464"/>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Actions</a:t>
            </a:r>
            <a:endParaRPr lang="en-US" sz="1500" dirty="0"/>
          </a:p>
        </p:txBody>
      </p:sp>
      <p:sp>
        <p:nvSpPr>
          <p:cNvPr id="33" name="Text 30"/>
          <p:cNvSpPr txBox="1"/>
          <p:nvPr/>
        </p:nvSpPr>
        <p:spPr>
          <a:xfrm>
            <a:off x="786384" y="5184648"/>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The planning waterfall</a:t>
            </a:r>
            <a:endParaRPr lang="en-US" sz="1200" dirty="0"/>
          </a:p>
        </p:txBody>
      </p:sp>
      <p:sp>
        <p:nvSpPr>
          <p:cNvPr id="34" name="Shape 31"/>
          <p:cNvSpPr/>
          <p:nvPr/>
        </p:nvSpPr>
        <p:spPr>
          <a:xfrm>
            <a:off x="4337304" y="4453128"/>
            <a:ext cx="3514344" cy="1207008"/>
          </a:xfrm>
          <a:prstGeom prst="roundRect">
            <a:avLst>
              <a:gd name="adj" fmla="val 6818"/>
            </a:avLst>
          </a:prstGeom>
          <a:solidFill>
            <a:srgbClr val="161F1C"/>
          </a:solidFill>
          <a:ln w="12700">
            <a:solidFill>
              <a:srgbClr val="1D2926"/>
            </a:solidFill>
            <a:prstDash val="solid"/>
          </a:ln>
        </p:spPr>
      </p:sp>
      <p:sp>
        <p:nvSpPr>
          <p:cNvPr id="35" name="Text 32"/>
          <p:cNvSpPr txBox="1"/>
          <p:nvPr/>
        </p:nvSpPr>
        <p:spPr>
          <a:xfrm>
            <a:off x="4556760" y="4599432"/>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08</a:t>
            </a:r>
            <a:endParaRPr lang="en-US" sz="1200" dirty="0"/>
          </a:p>
        </p:txBody>
      </p:sp>
      <p:sp>
        <p:nvSpPr>
          <p:cNvPr id="36" name="Text 33"/>
          <p:cNvSpPr txBox="1"/>
          <p:nvPr/>
        </p:nvSpPr>
        <p:spPr>
          <a:xfrm>
            <a:off x="4556760" y="4855464"/>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AI Assistant</a:t>
            </a:r>
            <a:endParaRPr lang="en-US" sz="1500" dirty="0"/>
          </a:p>
        </p:txBody>
      </p:sp>
      <p:sp>
        <p:nvSpPr>
          <p:cNvPr id="37" name="Text 34"/>
          <p:cNvSpPr txBox="1"/>
          <p:nvPr/>
        </p:nvSpPr>
        <p:spPr>
          <a:xfrm>
            <a:off x="4556760" y="5184648"/>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Agent loop and grounding</a:t>
            </a:r>
            <a:endParaRPr lang="en-US" sz="1200" dirty="0"/>
          </a:p>
        </p:txBody>
      </p:sp>
      <p:sp>
        <p:nvSpPr>
          <p:cNvPr id="38" name="Shape 35"/>
          <p:cNvSpPr/>
          <p:nvPr/>
        </p:nvSpPr>
        <p:spPr>
          <a:xfrm>
            <a:off x="8107680" y="4453128"/>
            <a:ext cx="3514344" cy="1207008"/>
          </a:xfrm>
          <a:prstGeom prst="roundRect">
            <a:avLst>
              <a:gd name="adj" fmla="val 6818"/>
            </a:avLst>
          </a:prstGeom>
          <a:solidFill>
            <a:srgbClr val="161F1C"/>
          </a:solidFill>
          <a:ln w="12700">
            <a:solidFill>
              <a:srgbClr val="1D2926"/>
            </a:solidFill>
            <a:prstDash val="solid"/>
          </a:ln>
        </p:spPr>
      </p:sp>
      <p:sp>
        <p:nvSpPr>
          <p:cNvPr id="39" name="Text 36"/>
          <p:cNvSpPr txBox="1"/>
          <p:nvPr/>
        </p:nvSpPr>
        <p:spPr>
          <a:xfrm>
            <a:off x="8327136" y="4599432"/>
            <a:ext cx="914400" cy="237744"/>
          </a:xfrm>
          <a:prstGeom prst="rect">
            <a:avLst/>
          </a:prstGeom>
          <a:noFill/>
          <a:ln/>
        </p:spPr>
        <p:txBody>
          <a:bodyPr wrap="square" lIns="0" tIns="0" rIns="0" bIns="0" rtlCol="0" anchor="ctr"/>
          <a:lstStyle/>
          <a:p>
            <a:pPr indent="0" marL="0">
              <a:buNone/>
            </a:pPr>
            <a:r>
              <a:rPr lang="en-US" sz="1200" dirty="0">
                <a:solidFill>
                  <a:srgbClr val="2FD8A0"/>
                </a:solidFill>
                <a:latin typeface="Calibri" pitchFamily="34" charset="0"/>
                <a:ea typeface="Calibri" pitchFamily="34" charset="-122"/>
                <a:cs typeface="Calibri" pitchFamily="34" charset="-120"/>
              </a:rPr>
              <a:t>09</a:t>
            </a:r>
            <a:endParaRPr lang="en-US" sz="1200" dirty="0"/>
          </a:p>
        </p:txBody>
      </p:sp>
      <p:sp>
        <p:nvSpPr>
          <p:cNvPr id="40" name="Text 37"/>
          <p:cNvSpPr txBox="1"/>
          <p:nvPr/>
        </p:nvSpPr>
        <p:spPr>
          <a:xfrm>
            <a:off x="8327136" y="4855464"/>
            <a:ext cx="3075432"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Engineering</a:t>
            </a:r>
            <a:endParaRPr lang="en-US" sz="1500" dirty="0"/>
          </a:p>
        </p:txBody>
      </p:sp>
      <p:sp>
        <p:nvSpPr>
          <p:cNvPr id="41" name="Text 38"/>
          <p:cNvSpPr txBox="1"/>
          <p:nvPr/>
        </p:nvSpPr>
        <p:spPr>
          <a:xfrm>
            <a:off x="8327136" y="5184648"/>
            <a:ext cx="3075432" cy="36576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Tests, CI, deployment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F1C"/>
        </a:solidFill>
      </p:bgPr>
    </p:bg>
    <p:spTree>
      <p:nvGrpSpPr>
        <p:cNvPr id="1" name=""/>
        <p:cNvGrpSpPr/>
        <p:nvPr/>
      </p:nvGrpSpPr>
      <p:grpSpPr>
        <a:xfrm>
          <a:off x="0" y="0"/>
          <a:ext cx="0" cy="0"/>
          <a:chOff x="0" y="0"/>
          <a:chExt cx="0" cy="0"/>
        </a:xfrm>
      </p:grpSpPr>
      <p:sp>
        <p:nvSpPr>
          <p:cNvPr id="2" name="Text 0"/>
          <p:cNvSpPr txBox="1"/>
          <p:nvPr/>
        </p:nvSpPr>
        <p:spPr>
          <a:xfrm>
            <a:off x="566928" y="914400"/>
            <a:ext cx="11055096" cy="274320"/>
          </a:xfrm>
          <a:prstGeom prst="rect">
            <a:avLst/>
          </a:prstGeom>
          <a:noFill/>
          <a:ln/>
        </p:spPr>
        <p:txBody>
          <a:bodyPr wrap="square" lIns="0" tIns="0" rIns="0" bIns="0" rtlCol="0" anchor="ctr"/>
          <a:lstStyle/>
          <a:p>
            <a:pPr indent="0" marL="0">
              <a:buNone/>
            </a:pPr>
            <a:r>
              <a:rPr lang="en-US" sz="1200" b="1" spc="300" kern="0" dirty="0">
                <a:solidFill>
                  <a:srgbClr val="2FD8A0"/>
                </a:solidFill>
                <a:latin typeface="Calibri" pitchFamily="34" charset="0"/>
                <a:ea typeface="Calibri" pitchFamily="34" charset="-122"/>
                <a:cs typeface="Calibri" pitchFamily="34" charset="-120"/>
              </a:rPr>
              <a:t>THE DESIGN RULE</a:t>
            </a:r>
            <a:endParaRPr lang="en-US" sz="1200" dirty="0"/>
          </a:p>
        </p:txBody>
      </p:sp>
      <p:sp>
        <p:nvSpPr>
          <p:cNvPr id="3" name="Text 1"/>
          <p:cNvSpPr txBox="1"/>
          <p:nvPr/>
        </p:nvSpPr>
        <p:spPr>
          <a:xfrm>
            <a:off x="566928" y="1325880"/>
            <a:ext cx="11055096" cy="914400"/>
          </a:xfrm>
          <a:prstGeom prst="rect">
            <a:avLst/>
          </a:prstGeom>
          <a:noFill/>
          <a:ln/>
        </p:spPr>
        <p:txBody>
          <a:bodyPr wrap="square" lIns="0" tIns="0" rIns="0" bIns="0" rtlCol="0" anchor="ctr"/>
          <a:lstStyle/>
          <a:p>
            <a:pPr indent="0" marL="0">
              <a:buNone/>
            </a:pPr>
            <a:r>
              <a:rPr lang="en-US" sz="4000" b="1" dirty="0">
                <a:solidFill>
                  <a:srgbClr val="E9EFEC"/>
                </a:solidFill>
                <a:latin typeface="Arial" pitchFamily="34" charset="0"/>
                <a:ea typeface="Arial" pitchFamily="34" charset="-122"/>
                <a:cs typeface="Arial" pitchFamily="34" charset="-120"/>
              </a:rPr>
              <a:t>The engine decides. The model only speaks.</a:t>
            </a:r>
            <a:endParaRPr lang="en-US" sz="4000" dirty="0"/>
          </a:p>
        </p:txBody>
      </p:sp>
      <p:sp>
        <p:nvSpPr>
          <p:cNvPr id="4" name="Shape 2"/>
          <p:cNvSpPr/>
          <p:nvPr/>
        </p:nvSpPr>
        <p:spPr>
          <a:xfrm>
            <a:off x="566928" y="2743200"/>
            <a:ext cx="3514344" cy="2377440"/>
          </a:xfrm>
          <a:prstGeom prst="roundRect">
            <a:avLst>
              <a:gd name="adj" fmla="val 3846"/>
            </a:avLst>
          </a:prstGeom>
          <a:solidFill>
            <a:srgbClr val="0B1210"/>
          </a:solidFill>
          <a:ln w="12700">
            <a:solidFill>
              <a:srgbClr val="1D2926"/>
            </a:solidFill>
            <a:prstDash val="solid"/>
          </a:ln>
        </p:spPr>
      </p:sp>
      <p:sp>
        <p:nvSpPr>
          <p:cNvPr id="5" name="Text 3"/>
          <p:cNvSpPr txBox="1"/>
          <p:nvPr/>
        </p:nvSpPr>
        <p:spPr>
          <a:xfrm>
            <a:off x="804672" y="2962656"/>
            <a:ext cx="3038856" cy="36576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Deterministic</a:t>
            </a:r>
            <a:endParaRPr lang="en-US" sz="1700" dirty="0"/>
          </a:p>
        </p:txBody>
      </p:sp>
      <p:sp>
        <p:nvSpPr>
          <p:cNvPr id="6" name="Text 4"/>
          <p:cNvSpPr txBox="1"/>
          <p:nvPr/>
        </p:nvSpPr>
        <p:spPr>
          <a:xfrm>
            <a:off x="804672" y="3401568"/>
            <a:ext cx="3038856" cy="155448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Two users with the same balance sheet get the same actions, every time. The recommendation set is generated by rules, not by a model.</a:t>
            </a:r>
            <a:endParaRPr lang="en-US" sz="1300" dirty="0"/>
          </a:p>
        </p:txBody>
      </p:sp>
      <p:sp>
        <p:nvSpPr>
          <p:cNvPr id="7" name="Shape 5"/>
          <p:cNvSpPr/>
          <p:nvPr/>
        </p:nvSpPr>
        <p:spPr>
          <a:xfrm>
            <a:off x="4337304" y="2743200"/>
            <a:ext cx="3514344" cy="2377440"/>
          </a:xfrm>
          <a:prstGeom prst="roundRect">
            <a:avLst>
              <a:gd name="adj" fmla="val 3846"/>
            </a:avLst>
          </a:prstGeom>
          <a:solidFill>
            <a:srgbClr val="0B1210"/>
          </a:solidFill>
          <a:ln w="12700">
            <a:solidFill>
              <a:srgbClr val="1D2926"/>
            </a:solidFill>
            <a:prstDash val="solid"/>
          </a:ln>
        </p:spPr>
      </p:sp>
      <p:sp>
        <p:nvSpPr>
          <p:cNvPr id="8" name="Text 6"/>
          <p:cNvSpPr txBox="1"/>
          <p:nvPr/>
        </p:nvSpPr>
        <p:spPr>
          <a:xfrm>
            <a:off x="4575048" y="2962656"/>
            <a:ext cx="3038856" cy="36576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Reproducible</a:t>
            </a:r>
            <a:endParaRPr lang="en-US" sz="1700" dirty="0"/>
          </a:p>
        </p:txBody>
      </p:sp>
      <p:sp>
        <p:nvSpPr>
          <p:cNvPr id="9" name="Text 7"/>
          <p:cNvSpPr txBox="1"/>
          <p:nvPr/>
        </p:nvSpPr>
        <p:spPr>
          <a:xfrm>
            <a:off x="4575048" y="3401568"/>
            <a:ext cx="3038856" cy="155448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Every Monte Carlo run is seeded, so the same inputs always draw the same fan chart. A cited success probability can be checked.</a:t>
            </a:r>
            <a:endParaRPr lang="en-US" sz="1300" dirty="0"/>
          </a:p>
        </p:txBody>
      </p:sp>
      <p:sp>
        <p:nvSpPr>
          <p:cNvPr id="10" name="Shape 8"/>
          <p:cNvSpPr/>
          <p:nvPr/>
        </p:nvSpPr>
        <p:spPr>
          <a:xfrm>
            <a:off x="8107680" y="2743200"/>
            <a:ext cx="3514344" cy="2377440"/>
          </a:xfrm>
          <a:prstGeom prst="roundRect">
            <a:avLst>
              <a:gd name="adj" fmla="val 3846"/>
            </a:avLst>
          </a:prstGeom>
          <a:solidFill>
            <a:srgbClr val="0B1210"/>
          </a:solidFill>
          <a:ln w="12700">
            <a:solidFill>
              <a:srgbClr val="1D2926"/>
            </a:solidFill>
            <a:prstDash val="solid"/>
          </a:ln>
        </p:spPr>
      </p:sp>
      <p:sp>
        <p:nvSpPr>
          <p:cNvPr id="11" name="Text 9"/>
          <p:cNvSpPr txBox="1"/>
          <p:nvPr/>
        </p:nvSpPr>
        <p:spPr>
          <a:xfrm>
            <a:off x="8345424" y="2962656"/>
            <a:ext cx="3038856" cy="36576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Auditable</a:t>
            </a:r>
            <a:endParaRPr lang="en-US" sz="1700" dirty="0"/>
          </a:p>
        </p:txBody>
      </p:sp>
      <p:sp>
        <p:nvSpPr>
          <p:cNvPr id="12" name="Text 10"/>
          <p:cNvSpPr txBox="1"/>
          <p:nvPr/>
        </p:nvSpPr>
        <p:spPr>
          <a:xfrm>
            <a:off x="8345424" y="3401568"/>
            <a:ext cx="3038856" cy="155448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Every action carries the arithmetic behind its impact figure, and every projection lists the assumptions it used.</a:t>
            </a:r>
            <a:endParaRPr lang="en-US" sz="1300" dirty="0"/>
          </a:p>
        </p:txBody>
      </p:sp>
      <p:sp>
        <p:nvSpPr>
          <p:cNvPr id="13" name="Text 11"/>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TRY IT WITHOUT TYPING ANYTHING</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Three synthetic personas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66928" y="1600200"/>
            <a:ext cx="3514344" cy="2651760"/>
          </a:xfrm>
          <a:prstGeom prst="roundRect">
            <a:avLst>
              <a:gd name="adj" fmla="val 3448"/>
            </a:avLst>
          </a:prstGeom>
          <a:solidFill>
            <a:srgbClr val="161F1C"/>
          </a:solidFill>
          <a:ln w="12700">
            <a:solidFill>
              <a:srgbClr val="1D2926"/>
            </a:solidFill>
            <a:prstDash val="solid"/>
          </a:ln>
        </p:spPr>
      </p:sp>
      <p:sp>
        <p:nvSpPr>
          <p:cNvPr id="7" name="Text 4"/>
          <p:cNvSpPr txBox="1"/>
          <p:nvPr/>
        </p:nvSpPr>
        <p:spPr>
          <a:xfrm>
            <a:off x="804672" y="18013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Aarav, 26</a:t>
            </a:r>
            <a:endParaRPr lang="en-US" sz="1500" dirty="0"/>
          </a:p>
        </p:txBody>
      </p:sp>
      <p:sp>
        <p:nvSpPr>
          <p:cNvPr id="8" name="Text 5"/>
          <p:cNvSpPr txBox="1"/>
          <p:nvPr/>
        </p:nvSpPr>
        <p:spPr>
          <a:xfrm>
            <a:off x="804672"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Early career. Good income, no buffer, a 42% credit-card balance. The engine refuses to discuss investing until that is fixed.</a:t>
            </a:r>
            <a:endParaRPr lang="en-US" sz="1300" dirty="0"/>
          </a:p>
        </p:txBody>
      </p:sp>
      <p:sp>
        <p:nvSpPr>
          <p:cNvPr id="9" name="Shape 6"/>
          <p:cNvSpPr/>
          <p:nvPr/>
        </p:nvSpPr>
        <p:spPr>
          <a:xfrm>
            <a:off x="4337304" y="1600200"/>
            <a:ext cx="3514344" cy="2651760"/>
          </a:xfrm>
          <a:prstGeom prst="roundRect">
            <a:avLst>
              <a:gd name="adj" fmla="val 3448"/>
            </a:avLst>
          </a:prstGeom>
          <a:solidFill>
            <a:srgbClr val="161F1C"/>
          </a:solidFill>
          <a:ln w="12700">
            <a:solidFill>
              <a:srgbClr val="1D2926"/>
            </a:solidFill>
            <a:prstDash val="solid"/>
          </a:ln>
        </p:spPr>
      </p:sp>
      <p:sp>
        <p:nvSpPr>
          <p:cNvPr id="10" name="Text 7"/>
          <p:cNvSpPr txBox="1"/>
          <p:nvPr/>
        </p:nvSpPr>
        <p:spPr>
          <a:xfrm>
            <a:off x="4575048" y="18013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Meera, 38</a:t>
            </a:r>
            <a:endParaRPr lang="en-US" sz="1500" dirty="0"/>
          </a:p>
        </p:txBody>
      </p:sp>
      <p:sp>
        <p:nvSpPr>
          <p:cNvPr id="11" name="Text 8"/>
          <p:cNvSpPr txBox="1"/>
          <p:nvPr/>
        </p:nvSpPr>
        <p:spPr>
          <a:xfrm>
            <a:off x="4575048"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Mid career, two kids. Competing goals bidding for one surplus, education costs inflating fastest, only 4x income of life cover.</a:t>
            </a:r>
            <a:endParaRPr lang="en-US" sz="1300" dirty="0"/>
          </a:p>
        </p:txBody>
      </p:sp>
      <p:sp>
        <p:nvSpPr>
          <p:cNvPr id="12" name="Shape 9"/>
          <p:cNvSpPr/>
          <p:nvPr/>
        </p:nvSpPr>
        <p:spPr>
          <a:xfrm>
            <a:off x="8107680" y="1600200"/>
            <a:ext cx="3514344" cy="2651760"/>
          </a:xfrm>
          <a:prstGeom prst="roundRect">
            <a:avLst>
              <a:gd name="adj" fmla="val 3448"/>
            </a:avLst>
          </a:prstGeom>
          <a:solidFill>
            <a:srgbClr val="161F1C"/>
          </a:solidFill>
          <a:ln w="12700">
            <a:solidFill>
              <a:srgbClr val="1D2926"/>
            </a:solidFill>
            <a:prstDash val="solid"/>
          </a:ln>
        </p:spPr>
      </p:sp>
      <p:sp>
        <p:nvSpPr>
          <p:cNvPr id="13" name="Text 10"/>
          <p:cNvSpPr txBox="1"/>
          <p:nvPr/>
        </p:nvSpPr>
        <p:spPr>
          <a:xfrm>
            <a:off x="8345424" y="18013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Rohan, 52</a:t>
            </a:r>
            <a:endParaRPr lang="en-US" sz="1500" dirty="0"/>
          </a:p>
        </p:txBody>
      </p:sp>
      <p:sp>
        <p:nvSpPr>
          <p:cNvPr id="14" name="Text 11"/>
          <p:cNvSpPr txBox="1"/>
          <p:nvPr/>
        </p:nvSpPr>
        <p:spPr>
          <a:xfrm>
            <a:off x="8345424"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Pre-retirement. 78% equity with a quarter of it in one stock. Sequencing risk dominates; the glide path should pull risk down hard.</a:t>
            </a:r>
            <a:endParaRPr lang="en-US" sz="1300" dirty="0"/>
          </a:p>
        </p:txBody>
      </p:sp>
      <p:sp>
        <p:nvSpPr>
          <p:cNvPr id="15" name="Text 12"/>
          <p:cNvSpPr txBox="1"/>
          <p:nvPr/>
        </p:nvSpPr>
        <p:spPr>
          <a:xfrm>
            <a:off x="566928" y="4617720"/>
            <a:ext cx="11055096" cy="91440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Each persona is a complete balance sheet — income, expenses by category, holdings, liabilities, goals and risk answers — so the whole platform lights up the moment you pick one. All data is fabricated for this project.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2 — ARCHITECTURE</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Three packages, one npm workspace</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66928" y="1600200"/>
            <a:ext cx="3514344" cy="2468880"/>
          </a:xfrm>
          <a:prstGeom prst="roundRect">
            <a:avLst>
              <a:gd name="adj" fmla="val 3704"/>
            </a:avLst>
          </a:prstGeom>
          <a:solidFill>
            <a:srgbClr val="161F1C"/>
          </a:solidFill>
          <a:ln w="25400">
            <a:solidFill>
              <a:srgbClr val="2FD8A0"/>
            </a:solidFill>
            <a:prstDash val="solid"/>
          </a:ln>
        </p:spPr>
      </p:sp>
      <p:sp>
        <p:nvSpPr>
          <p:cNvPr id="7" name="Text 4"/>
          <p:cNvSpPr txBox="1"/>
          <p:nvPr/>
        </p:nvSpPr>
        <p:spPr>
          <a:xfrm>
            <a:off x="804672" y="1810512"/>
            <a:ext cx="3038856" cy="256032"/>
          </a:xfrm>
          <a:prstGeom prst="rect">
            <a:avLst/>
          </a:prstGeom>
          <a:noFill/>
          <a:ln/>
        </p:spPr>
        <p:txBody>
          <a:bodyPr wrap="square" lIns="0" tIns="0" rIns="0" bIns="0" rtlCol="0" anchor="ctr"/>
          <a:lstStyle/>
          <a:p>
            <a:pPr indent="0" marL="0">
              <a:buNone/>
            </a:pPr>
            <a:r>
              <a:rPr lang="en-US" sz="1200" dirty="0">
                <a:solidFill>
                  <a:srgbClr val="2FD8A0"/>
                </a:solidFill>
                <a:latin typeface="Courier New" pitchFamily="34" charset="0"/>
                <a:ea typeface="Courier New" pitchFamily="34" charset="-122"/>
                <a:cs typeface="Courier New" pitchFamily="34" charset="-120"/>
              </a:rPr>
              <a:t>packages/shared</a:t>
            </a:r>
            <a:endParaRPr lang="en-US" sz="1200" dirty="0"/>
          </a:p>
        </p:txBody>
      </p:sp>
      <p:sp>
        <p:nvSpPr>
          <p:cNvPr id="8" name="Text 5"/>
          <p:cNvSpPr txBox="1"/>
          <p:nvPr/>
        </p:nvSpPr>
        <p:spPr>
          <a:xfrm>
            <a:off x="804672" y="2121408"/>
            <a:ext cx="3038856" cy="365760"/>
          </a:xfrm>
          <a:prstGeom prst="rect">
            <a:avLst/>
          </a:prstGeom>
          <a:noFill/>
          <a:ln/>
        </p:spPr>
        <p:txBody>
          <a:bodyPr wrap="square" lIns="0" tIns="0" rIns="0" bIns="0" rtlCol="0" anchor="ctr"/>
          <a:lstStyle/>
          <a:p>
            <a:pPr indent="0" marL="0">
              <a:buNone/>
            </a:pPr>
            <a:r>
              <a:rPr lang="en-US" sz="1600" b="1" dirty="0">
                <a:solidFill>
                  <a:srgbClr val="E9EFEC"/>
                </a:solidFill>
                <a:latin typeface="Arial" pitchFamily="34" charset="0"/>
                <a:ea typeface="Arial" pitchFamily="34" charset="-122"/>
                <a:cs typeface="Arial" pitchFamily="34" charset="-120"/>
              </a:rPr>
              <a:t>The finance engine</a:t>
            </a:r>
            <a:endParaRPr lang="en-US" sz="1600" dirty="0"/>
          </a:p>
        </p:txBody>
      </p:sp>
      <p:sp>
        <p:nvSpPr>
          <p:cNvPr id="9" name="Text 6"/>
          <p:cNvSpPr txBox="1"/>
          <p:nvPr/>
        </p:nvSpPr>
        <p:spPr>
          <a:xfrm>
            <a:off x="804672" y="2560320"/>
            <a:ext cx="3038856" cy="1280160"/>
          </a:xfrm>
          <a:prstGeom prst="rect">
            <a:avLst/>
          </a:prstGeom>
          <a:noFill/>
          <a:ln/>
        </p:spPr>
        <p:txBody>
          <a:bodyPr wrap="square" lIns="0" tIns="0" rIns="0" bIns="0" rtlCol="0" anchor="t"/>
          <a:lstStyle/>
          <a:p>
            <a:pPr indent="0" marL="0">
              <a:lnSpc>
                <a:spcPct val="112000"/>
              </a:lnSpc>
              <a:buNone/>
            </a:pPr>
            <a:r>
              <a:rPr lang="en-US" sz="1300" dirty="0">
                <a:solidFill>
                  <a:srgbClr val="93A49D"/>
                </a:solidFill>
                <a:latin typeface="Calibri" pitchFamily="34" charset="0"/>
                <a:ea typeface="Calibri" pitchFamily="34" charset="-122"/>
                <a:cs typeface="Calibri" pitchFamily="34" charset="-120"/>
              </a:rPr>
              <a:t>Types, market assumptions and every calculation. 4,500 lines. Imported by both sides.</a:t>
            </a:r>
            <a:endParaRPr lang="en-US" sz="1300" dirty="0"/>
          </a:p>
        </p:txBody>
      </p:sp>
      <p:sp>
        <p:nvSpPr>
          <p:cNvPr id="10" name="Shape 7"/>
          <p:cNvSpPr/>
          <p:nvPr/>
        </p:nvSpPr>
        <p:spPr>
          <a:xfrm>
            <a:off x="4337304" y="1600200"/>
            <a:ext cx="3514344" cy="2468880"/>
          </a:xfrm>
          <a:prstGeom prst="roundRect">
            <a:avLst>
              <a:gd name="adj" fmla="val 3704"/>
            </a:avLst>
          </a:prstGeom>
          <a:solidFill>
            <a:srgbClr val="161F1C"/>
          </a:solidFill>
          <a:ln w="12700">
            <a:solidFill>
              <a:srgbClr val="1D2926"/>
            </a:solidFill>
            <a:prstDash val="solid"/>
          </a:ln>
        </p:spPr>
      </p:sp>
      <p:sp>
        <p:nvSpPr>
          <p:cNvPr id="11" name="Text 8"/>
          <p:cNvSpPr txBox="1"/>
          <p:nvPr/>
        </p:nvSpPr>
        <p:spPr>
          <a:xfrm>
            <a:off x="4575048" y="1810512"/>
            <a:ext cx="3038856" cy="256032"/>
          </a:xfrm>
          <a:prstGeom prst="rect">
            <a:avLst/>
          </a:prstGeom>
          <a:noFill/>
          <a:ln/>
        </p:spPr>
        <p:txBody>
          <a:bodyPr wrap="square" lIns="0" tIns="0" rIns="0" bIns="0" rtlCol="0" anchor="ctr"/>
          <a:lstStyle/>
          <a:p>
            <a:pPr indent="0" marL="0">
              <a:buNone/>
            </a:pPr>
            <a:r>
              <a:rPr lang="en-US" sz="1200" dirty="0">
                <a:solidFill>
                  <a:srgbClr val="2FD8A0"/>
                </a:solidFill>
                <a:latin typeface="Courier New" pitchFamily="34" charset="0"/>
                <a:ea typeface="Courier New" pitchFamily="34" charset="-122"/>
                <a:cs typeface="Courier New" pitchFamily="34" charset="-120"/>
              </a:rPr>
              <a:t>packages/server</a:t>
            </a:r>
            <a:endParaRPr lang="en-US" sz="1200" dirty="0"/>
          </a:p>
        </p:txBody>
      </p:sp>
      <p:sp>
        <p:nvSpPr>
          <p:cNvPr id="12" name="Text 9"/>
          <p:cNvSpPr txBox="1"/>
          <p:nvPr/>
        </p:nvSpPr>
        <p:spPr>
          <a:xfrm>
            <a:off x="4575048" y="2121408"/>
            <a:ext cx="3038856" cy="365760"/>
          </a:xfrm>
          <a:prstGeom prst="rect">
            <a:avLst/>
          </a:prstGeom>
          <a:noFill/>
          <a:ln/>
        </p:spPr>
        <p:txBody>
          <a:bodyPr wrap="square" lIns="0" tIns="0" rIns="0" bIns="0" rtlCol="0" anchor="ctr"/>
          <a:lstStyle/>
          <a:p>
            <a:pPr indent="0" marL="0">
              <a:buNone/>
            </a:pPr>
            <a:r>
              <a:rPr lang="en-US" sz="1600" b="1" dirty="0">
                <a:solidFill>
                  <a:srgbClr val="E9EFEC"/>
                </a:solidFill>
                <a:latin typeface="Arial" pitchFamily="34" charset="0"/>
                <a:ea typeface="Arial" pitchFamily="34" charset="-122"/>
                <a:cs typeface="Arial" pitchFamily="34" charset="-120"/>
              </a:rPr>
              <a:t>API + agent</a:t>
            </a:r>
            <a:endParaRPr lang="en-US" sz="1600" dirty="0"/>
          </a:p>
        </p:txBody>
      </p:sp>
      <p:sp>
        <p:nvSpPr>
          <p:cNvPr id="13" name="Text 10"/>
          <p:cNvSpPr txBox="1"/>
          <p:nvPr/>
        </p:nvSpPr>
        <p:spPr>
          <a:xfrm>
            <a:off x="4575048" y="2560320"/>
            <a:ext cx="3038856" cy="1280160"/>
          </a:xfrm>
          <a:prstGeom prst="rect">
            <a:avLst/>
          </a:prstGeom>
          <a:noFill/>
          <a:ln/>
        </p:spPr>
        <p:txBody>
          <a:bodyPr wrap="square" lIns="0" tIns="0" rIns="0" bIns="0" rtlCol="0" anchor="t"/>
          <a:lstStyle/>
          <a:p>
            <a:pPr indent="0" marL="0">
              <a:lnSpc>
                <a:spcPct val="112000"/>
              </a:lnSpc>
              <a:buNone/>
            </a:pPr>
            <a:r>
              <a:rPr lang="en-US" sz="1300" dirty="0">
                <a:solidFill>
                  <a:srgbClr val="93A49D"/>
                </a:solidFill>
                <a:latin typeface="Calibri" pitchFamily="34" charset="0"/>
                <a:ea typeface="Calibri" pitchFamily="34" charset="-122"/>
                <a:cs typeface="Calibri" pitchFamily="34" charset="-120"/>
              </a:rPr>
              <a:t>Express routes, the agent orchestrator, tool catalogue, knowledge base and the grounding verifier.</a:t>
            </a:r>
            <a:endParaRPr lang="en-US" sz="1300" dirty="0"/>
          </a:p>
        </p:txBody>
      </p:sp>
      <p:sp>
        <p:nvSpPr>
          <p:cNvPr id="14" name="Shape 11"/>
          <p:cNvSpPr/>
          <p:nvPr/>
        </p:nvSpPr>
        <p:spPr>
          <a:xfrm>
            <a:off x="8107680" y="1600200"/>
            <a:ext cx="3514344" cy="2468880"/>
          </a:xfrm>
          <a:prstGeom prst="roundRect">
            <a:avLst>
              <a:gd name="adj" fmla="val 3704"/>
            </a:avLst>
          </a:prstGeom>
          <a:solidFill>
            <a:srgbClr val="161F1C"/>
          </a:solidFill>
          <a:ln w="12700">
            <a:solidFill>
              <a:srgbClr val="1D2926"/>
            </a:solidFill>
            <a:prstDash val="solid"/>
          </a:ln>
        </p:spPr>
      </p:sp>
      <p:sp>
        <p:nvSpPr>
          <p:cNvPr id="15" name="Text 12"/>
          <p:cNvSpPr txBox="1"/>
          <p:nvPr/>
        </p:nvSpPr>
        <p:spPr>
          <a:xfrm>
            <a:off x="8345424" y="1810512"/>
            <a:ext cx="3038856" cy="256032"/>
          </a:xfrm>
          <a:prstGeom prst="rect">
            <a:avLst/>
          </a:prstGeom>
          <a:noFill/>
          <a:ln/>
        </p:spPr>
        <p:txBody>
          <a:bodyPr wrap="square" lIns="0" tIns="0" rIns="0" bIns="0" rtlCol="0" anchor="ctr"/>
          <a:lstStyle/>
          <a:p>
            <a:pPr indent="0" marL="0">
              <a:buNone/>
            </a:pPr>
            <a:r>
              <a:rPr lang="en-US" sz="1200" dirty="0">
                <a:solidFill>
                  <a:srgbClr val="2FD8A0"/>
                </a:solidFill>
                <a:latin typeface="Courier New" pitchFamily="34" charset="0"/>
                <a:ea typeface="Courier New" pitchFamily="34" charset="-122"/>
                <a:cs typeface="Courier New" pitchFamily="34" charset="-120"/>
              </a:rPr>
              <a:t>packages/web</a:t>
            </a:r>
            <a:endParaRPr lang="en-US" sz="1200" dirty="0"/>
          </a:p>
        </p:txBody>
      </p:sp>
      <p:sp>
        <p:nvSpPr>
          <p:cNvPr id="16" name="Text 13"/>
          <p:cNvSpPr txBox="1"/>
          <p:nvPr/>
        </p:nvSpPr>
        <p:spPr>
          <a:xfrm>
            <a:off x="8345424" y="2121408"/>
            <a:ext cx="3038856" cy="365760"/>
          </a:xfrm>
          <a:prstGeom prst="rect">
            <a:avLst/>
          </a:prstGeom>
          <a:noFill/>
          <a:ln/>
        </p:spPr>
        <p:txBody>
          <a:bodyPr wrap="square" lIns="0" tIns="0" rIns="0" bIns="0" rtlCol="0" anchor="ctr"/>
          <a:lstStyle/>
          <a:p>
            <a:pPr indent="0" marL="0">
              <a:buNone/>
            </a:pPr>
            <a:r>
              <a:rPr lang="en-US" sz="1600" b="1" dirty="0">
                <a:solidFill>
                  <a:srgbClr val="E9EFEC"/>
                </a:solidFill>
                <a:latin typeface="Arial" pitchFamily="34" charset="0"/>
                <a:ea typeface="Arial" pitchFamily="34" charset="-122"/>
                <a:cs typeface="Arial" pitchFamily="34" charset="-120"/>
              </a:rPr>
              <a:t>React client</a:t>
            </a:r>
            <a:endParaRPr lang="en-US" sz="1600" dirty="0"/>
          </a:p>
        </p:txBody>
      </p:sp>
      <p:sp>
        <p:nvSpPr>
          <p:cNvPr id="17" name="Text 14"/>
          <p:cNvSpPr txBox="1"/>
          <p:nvPr/>
        </p:nvSpPr>
        <p:spPr>
          <a:xfrm>
            <a:off x="8345424" y="2560320"/>
            <a:ext cx="3038856" cy="1280160"/>
          </a:xfrm>
          <a:prstGeom prst="rect">
            <a:avLst/>
          </a:prstGeom>
          <a:noFill/>
          <a:ln/>
        </p:spPr>
        <p:txBody>
          <a:bodyPr wrap="square" lIns="0" tIns="0" rIns="0" bIns="0" rtlCol="0" anchor="t"/>
          <a:lstStyle/>
          <a:p>
            <a:pPr indent="0" marL="0">
              <a:lnSpc>
                <a:spcPct val="112000"/>
              </a:lnSpc>
              <a:buNone/>
            </a:pPr>
            <a:r>
              <a:rPr lang="en-US" sz="1300" dirty="0">
                <a:solidFill>
                  <a:srgbClr val="93A49D"/>
                </a:solidFill>
                <a:latin typeface="Calibri" pitchFamily="34" charset="0"/>
                <a:ea typeface="Calibri" pitchFamily="34" charset="-122"/>
                <a:cs typeface="Calibri" pitchFamily="34" charset="-120"/>
              </a:rPr>
              <a:t>Nine screens, custom chart components, design tokens, and a browser-only client for static hosting.</a:t>
            </a:r>
            <a:endParaRPr lang="en-US" sz="1300" dirty="0"/>
          </a:p>
        </p:txBody>
      </p:sp>
      <p:sp>
        <p:nvSpPr>
          <p:cNvPr id="18" name="Text 15"/>
          <p:cNvSpPr txBox="1"/>
          <p:nvPr/>
        </p:nvSpPr>
        <p:spPr>
          <a:xfrm>
            <a:off x="566928" y="4434840"/>
            <a:ext cx="11055096" cy="9144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Vite aliases @wealth/shared at TypeScript source, not a build output — so a change to the maths is live in the browser on the next hot-reload, with no build step between the packages.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WHY IT MATTERS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One engine, two runtimes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7</a:t>
            </a:r>
            <a:endParaRPr lang="en-US" sz="1000" dirty="0"/>
          </a:p>
        </p:txBody>
      </p:sp>
      <p:sp>
        <p:nvSpPr>
          <p:cNvPr id="6" name="Text 3"/>
          <p:cNvSpPr txBox="1"/>
          <p:nvPr/>
        </p:nvSpPr>
        <p:spPr>
          <a:xfrm>
            <a:off x="566928" y="1645920"/>
            <a:ext cx="5298948" cy="201168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A slider in the browser has to feel instant, so the client computes the what-if locally. The server has to compute the same thing for the agent’s tool calls.</a:t>
            </a:r>
            <a:endParaRPr lang="en-US" sz="1500" dirty="0"/>
          </a:p>
          <a:p>
            <a:pPr indent="0" marL="0">
              <a:lnSpc>
                <a:spcPct val="120000"/>
              </a:lnSpc>
              <a:buNone/>
            </a:pPr>
            <a:endParaRPr lang="en-US" sz="1500" dirty="0"/>
          </a:p>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If those were two implementations they would drift, and the number the agent quotes would stop matching the number on the screen.</a:t>
            </a:r>
            <a:endParaRPr lang="en-US" sz="1500" dirty="0"/>
          </a:p>
        </p:txBody>
      </p:sp>
      <p:sp>
        <p:nvSpPr>
          <p:cNvPr id="7" name="Text 4"/>
          <p:cNvSpPr txBox="1"/>
          <p:nvPr/>
        </p:nvSpPr>
        <p:spPr>
          <a:xfrm>
            <a:off x="566928" y="3840480"/>
            <a:ext cx="5298948" cy="822960"/>
          </a:xfrm>
          <a:prstGeom prst="rect">
            <a:avLst/>
          </a:prstGeom>
          <a:noFill/>
          <a:ln/>
        </p:spPr>
        <p:txBody>
          <a:bodyPr wrap="square" lIns="0" tIns="0" rIns="0" bIns="0" rtlCol="0" anchor="t"/>
          <a:lstStyle/>
          <a:p>
            <a:pPr indent="0" marL="0">
              <a:lnSpc>
                <a:spcPct val="120000"/>
              </a:lnSpc>
              <a:buNone/>
            </a:pPr>
            <a:r>
              <a:rPr lang="en-US" sz="1500" b="1" dirty="0">
                <a:solidFill>
                  <a:srgbClr val="2FD8A0"/>
                </a:solidFill>
                <a:latin typeface="Calibri" pitchFamily="34" charset="0"/>
                <a:ea typeface="Calibri" pitchFamily="34" charset="-122"/>
                <a:cs typeface="Calibri" pitchFamily="34" charset="-120"/>
              </a:rPr>
              <a:t>They are the same functions. Identical by construction, not by luck.</a:t>
            </a:r>
            <a:endParaRPr lang="en-US" sz="1500" dirty="0"/>
          </a:p>
        </p:txBody>
      </p:sp>
      <p:sp>
        <p:nvSpPr>
          <p:cNvPr id="8" name="Shape 5"/>
          <p:cNvSpPr/>
          <p:nvPr/>
        </p:nvSpPr>
        <p:spPr>
          <a:xfrm>
            <a:off x="6323076" y="1645920"/>
            <a:ext cx="5298948" cy="566928"/>
          </a:xfrm>
          <a:prstGeom prst="roundRect">
            <a:avLst>
              <a:gd name="adj" fmla="val 11290"/>
            </a:avLst>
          </a:prstGeom>
          <a:solidFill>
            <a:srgbClr val="161F1C"/>
          </a:solidFill>
          <a:ln w="12700">
            <a:solidFill>
              <a:srgbClr val="1D2926"/>
            </a:solidFill>
            <a:prstDash val="solid"/>
          </a:ln>
        </p:spPr>
      </p:sp>
      <p:sp>
        <p:nvSpPr>
          <p:cNvPr id="9" name="Text 6"/>
          <p:cNvSpPr txBox="1"/>
          <p:nvPr/>
        </p:nvSpPr>
        <p:spPr>
          <a:xfrm>
            <a:off x="6524244" y="1737360"/>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buildSnapshot()</a:t>
            </a:r>
            <a:endParaRPr lang="en-US" sz="1300" dirty="0"/>
          </a:p>
        </p:txBody>
      </p:sp>
      <p:sp>
        <p:nvSpPr>
          <p:cNvPr id="10" name="Text 7"/>
          <p:cNvSpPr txBox="1"/>
          <p:nvPr/>
        </p:nvSpPr>
        <p:spPr>
          <a:xfrm>
            <a:off x="9237497" y="1737360"/>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the whole dashboard</a:t>
            </a:r>
            <a:endParaRPr lang="en-US" sz="1300" dirty="0"/>
          </a:p>
        </p:txBody>
      </p:sp>
      <p:sp>
        <p:nvSpPr>
          <p:cNvPr id="11" name="Shape 8"/>
          <p:cNvSpPr/>
          <p:nvPr/>
        </p:nvSpPr>
        <p:spPr>
          <a:xfrm>
            <a:off x="6323076" y="2340864"/>
            <a:ext cx="5298948" cy="566928"/>
          </a:xfrm>
          <a:prstGeom prst="roundRect">
            <a:avLst>
              <a:gd name="adj" fmla="val 11290"/>
            </a:avLst>
          </a:prstGeom>
          <a:solidFill>
            <a:srgbClr val="161F1C"/>
          </a:solidFill>
          <a:ln w="12700">
            <a:solidFill>
              <a:srgbClr val="1D2926"/>
            </a:solidFill>
            <a:prstDash val="solid"/>
          </a:ln>
        </p:spPr>
      </p:sp>
      <p:sp>
        <p:nvSpPr>
          <p:cNvPr id="12" name="Text 9"/>
          <p:cNvSpPr txBox="1"/>
          <p:nvPr/>
        </p:nvSpPr>
        <p:spPr>
          <a:xfrm>
            <a:off x="6524244" y="2432304"/>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runMonteCarlo()</a:t>
            </a:r>
            <a:endParaRPr lang="en-US" sz="1300" dirty="0"/>
          </a:p>
        </p:txBody>
      </p:sp>
      <p:sp>
        <p:nvSpPr>
          <p:cNvPr id="13" name="Text 10"/>
          <p:cNvSpPr txBox="1"/>
          <p:nvPr/>
        </p:nvSpPr>
        <p:spPr>
          <a:xfrm>
            <a:off x="9237497" y="2432304"/>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simulated outcomes</a:t>
            </a:r>
            <a:endParaRPr lang="en-US" sz="1300" dirty="0"/>
          </a:p>
        </p:txBody>
      </p:sp>
      <p:sp>
        <p:nvSpPr>
          <p:cNvPr id="14" name="Shape 11"/>
          <p:cNvSpPr/>
          <p:nvPr/>
        </p:nvSpPr>
        <p:spPr>
          <a:xfrm>
            <a:off x="6323076" y="3035808"/>
            <a:ext cx="5298948" cy="566928"/>
          </a:xfrm>
          <a:prstGeom prst="roundRect">
            <a:avLst>
              <a:gd name="adj" fmla="val 11290"/>
            </a:avLst>
          </a:prstGeom>
          <a:solidFill>
            <a:srgbClr val="161F1C"/>
          </a:solidFill>
          <a:ln w="12700">
            <a:solidFill>
              <a:srgbClr val="1D2926"/>
            </a:solidFill>
            <a:prstDash val="solid"/>
          </a:ln>
        </p:spPr>
      </p:sp>
      <p:sp>
        <p:nvSpPr>
          <p:cNvPr id="15" name="Text 12"/>
          <p:cNvSpPr txBox="1"/>
          <p:nvPr/>
        </p:nvSpPr>
        <p:spPr>
          <a:xfrm>
            <a:off x="6524244" y="3127248"/>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generateActions()</a:t>
            </a:r>
            <a:endParaRPr lang="en-US" sz="1300" dirty="0"/>
          </a:p>
        </p:txBody>
      </p:sp>
      <p:sp>
        <p:nvSpPr>
          <p:cNvPr id="16" name="Text 13"/>
          <p:cNvSpPr txBox="1"/>
          <p:nvPr/>
        </p:nvSpPr>
        <p:spPr>
          <a:xfrm>
            <a:off x="9237497" y="3127248"/>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the recommendations</a:t>
            </a:r>
            <a:endParaRPr lang="en-US" sz="1300" dirty="0"/>
          </a:p>
        </p:txBody>
      </p:sp>
      <p:sp>
        <p:nvSpPr>
          <p:cNvPr id="17" name="Shape 14"/>
          <p:cNvSpPr/>
          <p:nvPr/>
        </p:nvSpPr>
        <p:spPr>
          <a:xfrm>
            <a:off x="6323076" y="3730752"/>
            <a:ext cx="5298948" cy="566928"/>
          </a:xfrm>
          <a:prstGeom prst="roundRect">
            <a:avLst>
              <a:gd name="adj" fmla="val 11290"/>
            </a:avLst>
          </a:prstGeom>
          <a:solidFill>
            <a:srgbClr val="161F1C"/>
          </a:solidFill>
          <a:ln w="12700">
            <a:solidFill>
              <a:srgbClr val="1D2926"/>
            </a:solidFill>
            <a:prstDash val="solid"/>
          </a:ln>
        </p:spPr>
      </p:sp>
      <p:sp>
        <p:nvSpPr>
          <p:cNvPr id="18" name="Text 15"/>
          <p:cNvSpPr txBox="1"/>
          <p:nvPr/>
        </p:nvSpPr>
        <p:spPr>
          <a:xfrm>
            <a:off x="6524244" y="3822192"/>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scoreWellness()</a:t>
            </a:r>
            <a:endParaRPr lang="en-US" sz="1300" dirty="0"/>
          </a:p>
        </p:txBody>
      </p:sp>
      <p:sp>
        <p:nvSpPr>
          <p:cNvPr id="19" name="Text 16"/>
          <p:cNvSpPr txBox="1"/>
          <p:nvPr/>
        </p:nvSpPr>
        <p:spPr>
          <a:xfrm>
            <a:off x="9237497" y="3822192"/>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the five pillars</a:t>
            </a:r>
            <a:endParaRPr lang="en-US" sz="1300" dirty="0"/>
          </a:p>
        </p:txBody>
      </p:sp>
      <p:sp>
        <p:nvSpPr>
          <p:cNvPr id="20" name="Shape 17"/>
          <p:cNvSpPr/>
          <p:nvPr/>
        </p:nvSpPr>
        <p:spPr>
          <a:xfrm>
            <a:off x="6323076" y="4425696"/>
            <a:ext cx="5298948" cy="566928"/>
          </a:xfrm>
          <a:prstGeom prst="roundRect">
            <a:avLst>
              <a:gd name="adj" fmla="val 11290"/>
            </a:avLst>
          </a:prstGeom>
          <a:solidFill>
            <a:srgbClr val="161F1C"/>
          </a:solidFill>
          <a:ln w="12700">
            <a:solidFill>
              <a:srgbClr val="1D2926"/>
            </a:solidFill>
            <a:prstDash val="solid"/>
          </a:ln>
        </p:spPr>
      </p:sp>
      <p:sp>
        <p:nvSpPr>
          <p:cNvPr id="21" name="Text 18"/>
          <p:cNvSpPr txBox="1"/>
          <p:nvPr/>
        </p:nvSpPr>
        <p:spPr>
          <a:xfrm>
            <a:off x="6524244" y="4517136"/>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scoreRisk()</a:t>
            </a:r>
            <a:endParaRPr lang="en-US" sz="1300" dirty="0"/>
          </a:p>
        </p:txBody>
      </p:sp>
      <p:sp>
        <p:nvSpPr>
          <p:cNvPr id="22" name="Text 19"/>
          <p:cNvSpPr txBox="1"/>
          <p:nvPr/>
        </p:nvSpPr>
        <p:spPr>
          <a:xfrm>
            <a:off x="9237497" y="4517136"/>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tolerance vs capacity</a:t>
            </a:r>
            <a:endParaRPr lang="en-US" sz="1300" dirty="0"/>
          </a:p>
        </p:txBody>
      </p:sp>
      <p:sp>
        <p:nvSpPr>
          <p:cNvPr id="23" name="Shape 20"/>
          <p:cNvSpPr/>
          <p:nvPr/>
        </p:nvSpPr>
        <p:spPr>
          <a:xfrm>
            <a:off x="6323076" y="5120640"/>
            <a:ext cx="5298948" cy="566928"/>
          </a:xfrm>
          <a:prstGeom prst="roundRect">
            <a:avLst>
              <a:gd name="adj" fmla="val 11290"/>
            </a:avLst>
          </a:prstGeom>
          <a:solidFill>
            <a:srgbClr val="161F1C"/>
          </a:solidFill>
          <a:ln w="12700">
            <a:solidFill>
              <a:srgbClr val="1D2926"/>
            </a:solidFill>
            <a:prstDash val="solid"/>
          </a:ln>
        </p:spPr>
      </p:sp>
      <p:sp>
        <p:nvSpPr>
          <p:cNvPr id="24" name="Text 21"/>
          <p:cNvSpPr txBox="1"/>
          <p:nvPr/>
        </p:nvSpPr>
        <p:spPr>
          <a:xfrm>
            <a:off x="6524244" y="5212080"/>
            <a:ext cx="2914421" cy="38404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optimiseGoalFunding()</a:t>
            </a:r>
            <a:endParaRPr lang="en-US" sz="1300" dirty="0"/>
          </a:p>
        </p:txBody>
      </p:sp>
      <p:sp>
        <p:nvSpPr>
          <p:cNvPr id="25" name="Text 22"/>
          <p:cNvSpPr txBox="1"/>
          <p:nvPr/>
        </p:nvSpPr>
        <p:spPr>
          <a:xfrm>
            <a:off x="9237497" y="5212080"/>
            <a:ext cx="2183359" cy="384048"/>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the surplus split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TOOLING</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stack, and why each piece</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8</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914400"/>
        </p:xfrm>
        <a:graphic>
          <a:graphicData uri="http://schemas.openxmlformats.org/drawingml/2006/table">
            <a:tbl>
              <a:tblPr/>
              <a:tblGrid>
                <a:gridCol w="2011680"/>
                <a:gridCol w="2651760"/>
                <a:gridCol w="6391656"/>
              </a:tblGrid>
              <a:tr h="384048">
                <a:tc>
                  <a:txBody>
                    <a:bodyPr/>
                    <a:lstStyle/>
                    <a:p>
                      <a:pPr indent="0" marL="0">
                        <a:buNone/>
                      </a:pPr>
                      <a:r>
                        <a:rPr lang="en-US" sz="1250" b="1" dirty="0">
                          <a:solidFill>
                            <a:srgbClr val="2FD8A0"/>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b="1" dirty="0">
                          <a:solidFill>
                            <a:srgbClr val="2FD8A0"/>
                          </a:solidFill>
                          <a:latin typeface="Calibri" pitchFamily="34" charset="0"/>
                          <a:ea typeface="Calibri" pitchFamily="34" charset="-122"/>
                          <a:cs typeface="Calibri" pitchFamily="34" charset="-120"/>
                        </a:rPr>
                        <a:t>Choice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b="1" dirty="0">
                          <a:solidFill>
                            <a:srgbClr val="2FD8A0"/>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Language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TypeScript</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One language across engine, API and UI; the profile type is checked everywhere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Client</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React 18 + Vite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Hot reload over TS source, and a small production bundle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Routing</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React Router 6</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Real URLs, so every screen is linkable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Charts</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Recharts + custom SVG</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Recharts for the fan chart; hand-written SVG where we needed exact control</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Server</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Express 4</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Thin — the routes are wrappers over the shared engine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Zod</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Every request body is bounded, so a bad number cannot corrupt a profile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Claude / Groq / rules</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Three interchangeable providers behind one interface</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384048">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Tests</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node:test + tsx</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250" dirty="0">
                          <a:solidFill>
                            <a:srgbClr val="E9EFEC"/>
                          </a:solidFill>
                          <a:latin typeface="Calibri" pitchFamily="34" charset="0"/>
                          <a:ea typeface="Calibri" pitchFamily="34" charset="-122"/>
                          <a:cs typeface="Calibri" pitchFamily="34" charset="-120"/>
                        </a:rPr>
                        <a:t>No framework to configure; runs straight off TypeScript</a:t>
                      </a:r>
                      <a:endParaRPr lang="en-US" sz="125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DATA MODEL</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One profile is the only input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66928" y="1645920"/>
            <a:ext cx="5298948" cy="603504"/>
          </a:xfrm>
          <a:prstGeom prst="roundRect">
            <a:avLst>
              <a:gd name="adj" fmla="val 10606"/>
            </a:avLst>
          </a:prstGeom>
          <a:solidFill>
            <a:srgbClr val="161F1C"/>
          </a:solidFill>
          <a:ln w="12700">
            <a:solidFill>
              <a:srgbClr val="1D2926"/>
            </a:solidFill>
            <a:prstDash val="solid"/>
          </a:ln>
        </p:spPr>
      </p:sp>
      <p:sp>
        <p:nvSpPr>
          <p:cNvPr id="7" name="Text 4"/>
          <p:cNvSpPr txBox="1"/>
          <p:nvPr/>
        </p:nvSpPr>
        <p:spPr>
          <a:xfrm>
            <a:off x="768096" y="173736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age, retirementAge, dependents</a:t>
            </a:r>
            <a:endParaRPr lang="en-US" sz="1300" dirty="0"/>
          </a:p>
        </p:txBody>
      </p:sp>
      <p:sp>
        <p:nvSpPr>
          <p:cNvPr id="8" name="Text 5"/>
          <p:cNvSpPr txBox="1"/>
          <p:nvPr/>
        </p:nvSpPr>
        <p:spPr>
          <a:xfrm>
            <a:off x="3481349" y="173736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horizon, protection</a:t>
            </a:r>
            <a:endParaRPr lang="en-US" sz="1300" dirty="0"/>
          </a:p>
        </p:txBody>
      </p:sp>
      <p:sp>
        <p:nvSpPr>
          <p:cNvPr id="9" name="Shape 6"/>
          <p:cNvSpPr/>
          <p:nvPr/>
        </p:nvSpPr>
        <p:spPr>
          <a:xfrm>
            <a:off x="566928" y="2377440"/>
            <a:ext cx="5298948" cy="603504"/>
          </a:xfrm>
          <a:prstGeom prst="roundRect">
            <a:avLst>
              <a:gd name="adj" fmla="val 10606"/>
            </a:avLst>
          </a:prstGeom>
          <a:solidFill>
            <a:srgbClr val="161F1C"/>
          </a:solidFill>
          <a:ln w="12700">
            <a:solidFill>
              <a:srgbClr val="1D2926"/>
            </a:solidFill>
            <a:prstDash val="solid"/>
          </a:ln>
        </p:spPr>
      </p:sp>
      <p:sp>
        <p:nvSpPr>
          <p:cNvPr id="10" name="Text 7"/>
          <p:cNvSpPr txBox="1"/>
          <p:nvPr/>
        </p:nvSpPr>
        <p:spPr>
          <a:xfrm>
            <a:off x="768096" y="246888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cashflow</a:t>
            </a:r>
            <a:endParaRPr lang="en-US" sz="1300" dirty="0"/>
          </a:p>
        </p:txBody>
      </p:sp>
      <p:sp>
        <p:nvSpPr>
          <p:cNvPr id="11" name="Text 8"/>
          <p:cNvSpPr txBox="1"/>
          <p:nvPr/>
        </p:nvSpPr>
        <p:spPr>
          <a:xfrm>
            <a:off x="3481349" y="246888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income, growth, expenses</a:t>
            </a:r>
            <a:endParaRPr lang="en-US" sz="1300" dirty="0"/>
          </a:p>
        </p:txBody>
      </p:sp>
      <p:sp>
        <p:nvSpPr>
          <p:cNvPr id="12" name="Shape 9"/>
          <p:cNvSpPr/>
          <p:nvPr/>
        </p:nvSpPr>
        <p:spPr>
          <a:xfrm>
            <a:off x="566928" y="3108960"/>
            <a:ext cx="5298948" cy="603504"/>
          </a:xfrm>
          <a:prstGeom prst="roundRect">
            <a:avLst>
              <a:gd name="adj" fmla="val 10606"/>
            </a:avLst>
          </a:prstGeom>
          <a:solidFill>
            <a:srgbClr val="161F1C"/>
          </a:solidFill>
          <a:ln w="12700">
            <a:solidFill>
              <a:srgbClr val="1D2926"/>
            </a:solidFill>
            <a:prstDash val="solid"/>
          </a:ln>
        </p:spPr>
      </p:sp>
      <p:sp>
        <p:nvSpPr>
          <p:cNvPr id="13" name="Text 10"/>
          <p:cNvSpPr txBox="1"/>
          <p:nvPr/>
        </p:nvSpPr>
        <p:spPr>
          <a:xfrm>
            <a:off x="768096" y="320040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holdings[]</a:t>
            </a:r>
            <a:endParaRPr lang="en-US" sz="1300" dirty="0"/>
          </a:p>
        </p:txBody>
      </p:sp>
      <p:sp>
        <p:nvSpPr>
          <p:cNvPr id="14" name="Text 11"/>
          <p:cNvSpPr txBox="1"/>
          <p:nvPr/>
        </p:nvSpPr>
        <p:spPr>
          <a:xfrm>
            <a:off x="3481349" y="320040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units, price, asset class</a:t>
            </a:r>
            <a:endParaRPr lang="en-US" sz="1300" dirty="0"/>
          </a:p>
        </p:txBody>
      </p:sp>
      <p:sp>
        <p:nvSpPr>
          <p:cNvPr id="15" name="Shape 12"/>
          <p:cNvSpPr/>
          <p:nvPr/>
        </p:nvSpPr>
        <p:spPr>
          <a:xfrm>
            <a:off x="566928" y="3840480"/>
            <a:ext cx="5298948" cy="603504"/>
          </a:xfrm>
          <a:prstGeom prst="roundRect">
            <a:avLst>
              <a:gd name="adj" fmla="val 10606"/>
            </a:avLst>
          </a:prstGeom>
          <a:solidFill>
            <a:srgbClr val="161F1C"/>
          </a:solidFill>
          <a:ln w="12700">
            <a:solidFill>
              <a:srgbClr val="1D2926"/>
            </a:solidFill>
            <a:prstDash val="solid"/>
          </a:ln>
        </p:spPr>
      </p:sp>
      <p:sp>
        <p:nvSpPr>
          <p:cNvPr id="16" name="Text 13"/>
          <p:cNvSpPr txBox="1"/>
          <p:nvPr/>
        </p:nvSpPr>
        <p:spPr>
          <a:xfrm>
            <a:off x="768096" y="393192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liabilities[]</a:t>
            </a:r>
            <a:endParaRPr lang="en-US" sz="1300" dirty="0"/>
          </a:p>
        </p:txBody>
      </p:sp>
      <p:sp>
        <p:nvSpPr>
          <p:cNvPr id="17" name="Text 14"/>
          <p:cNvSpPr txBox="1"/>
          <p:nvPr/>
        </p:nvSpPr>
        <p:spPr>
          <a:xfrm>
            <a:off x="3481349" y="393192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outstanding, APR, EMI</a:t>
            </a:r>
            <a:endParaRPr lang="en-US" sz="1300" dirty="0"/>
          </a:p>
        </p:txBody>
      </p:sp>
      <p:sp>
        <p:nvSpPr>
          <p:cNvPr id="18" name="Shape 15"/>
          <p:cNvSpPr/>
          <p:nvPr/>
        </p:nvSpPr>
        <p:spPr>
          <a:xfrm>
            <a:off x="6323076" y="1645920"/>
            <a:ext cx="5298948" cy="603504"/>
          </a:xfrm>
          <a:prstGeom prst="roundRect">
            <a:avLst>
              <a:gd name="adj" fmla="val 10606"/>
            </a:avLst>
          </a:prstGeom>
          <a:solidFill>
            <a:srgbClr val="161F1C"/>
          </a:solidFill>
          <a:ln w="12700">
            <a:solidFill>
              <a:srgbClr val="1D2926"/>
            </a:solidFill>
            <a:prstDash val="solid"/>
          </a:ln>
        </p:spPr>
      </p:sp>
      <p:sp>
        <p:nvSpPr>
          <p:cNvPr id="19" name="Text 16"/>
          <p:cNvSpPr txBox="1"/>
          <p:nvPr/>
        </p:nvSpPr>
        <p:spPr>
          <a:xfrm>
            <a:off x="6524244" y="173736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goals[]</a:t>
            </a:r>
            <a:endParaRPr lang="en-US" sz="1300" dirty="0"/>
          </a:p>
        </p:txBody>
      </p:sp>
      <p:sp>
        <p:nvSpPr>
          <p:cNvPr id="20" name="Text 17"/>
          <p:cNvSpPr txBox="1"/>
          <p:nvPr/>
        </p:nvSpPr>
        <p:spPr>
          <a:xfrm>
            <a:off x="9237497" y="173736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target, year, priority</a:t>
            </a:r>
            <a:endParaRPr lang="en-US" sz="1300" dirty="0"/>
          </a:p>
        </p:txBody>
      </p:sp>
      <p:sp>
        <p:nvSpPr>
          <p:cNvPr id="21" name="Shape 18"/>
          <p:cNvSpPr/>
          <p:nvPr/>
        </p:nvSpPr>
        <p:spPr>
          <a:xfrm>
            <a:off x="6323076" y="2377440"/>
            <a:ext cx="5298948" cy="603504"/>
          </a:xfrm>
          <a:prstGeom prst="roundRect">
            <a:avLst>
              <a:gd name="adj" fmla="val 10606"/>
            </a:avLst>
          </a:prstGeom>
          <a:solidFill>
            <a:srgbClr val="161F1C"/>
          </a:solidFill>
          <a:ln w="12700">
            <a:solidFill>
              <a:srgbClr val="1D2926"/>
            </a:solidFill>
            <a:prstDash val="solid"/>
          </a:ln>
        </p:spPr>
      </p:sp>
      <p:sp>
        <p:nvSpPr>
          <p:cNvPr id="22" name="Text 19"/>
          <p:cNvSpPr txBox="1"/>
          <p:nvPr/>
        </p:nvSpPr>
        <p:spPr>
          <a:xfrm>
            <a:off x="6524244" y="246888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riskAnswers</a:t>
            </a:r>
            <a:endParaRPr lang="en-US" sz="1300" dirty="0"/>
          </a:p>
        </p:txBody>
      </p:sp>
      <p:sp>
        <p:nvSpPr>
          <p:cNvPr id="23" name="Text 20"/>
          <p:cNvSpPr txBox="1"/>
          <p:nvPr/>
        </p:nvSpPr>
        <p:spPr>
          <a:xfrm>
            <a:off x="9237497" y="246888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the questionnaire</a:t>
            </a:r>
            <a:endParaRPr lang="en-US" sz="1300" dirty="0"/>
          </a:p>
        </p:txBody>
      </p:sp>
      <p:sp>
        <p:nvSpPr>
          <p:cNvPr id="24" name="Shape 21"/>
          <p:cNvSpPr/>
          <p:nvPr/>
        </p:nvSpPr>
        <p:spPr>
          <a:xfrm>
            <a:off x="6323076" y="3108960"/>
            <a:ext cx="5298948" cy="603504"/>
          </a:xfrm>
          <a:prstGeom prst="roundRect">
            <a:avLst>
              <a:gd name="adj" fmla="val 10606"/>
            </a:avLst>
          </a:prstGeom>
          <a:solidFill>
            <a:srgbClr val="161F1C"/>
          </a:solidFill>
          <a:ln w="12700">
            <a:solidFill>
              <a:srgbClr val="1D2926"/>
            </a:solidFill>
            <a:prstDash val="solid"/>
          </a:ln>
        </p:spPr>
      </p:sp>
      <p:sp>
        <p:nvSpPr>
          <p:cNvPr id="25" name="Text 22"/>
          <p:cNvSpPr txBox="1"/>
          <p:nvPr/>
        </p:nvSpPr>
        <p:spPr>
          <a:xfrm>
            <a:off x="6524244" y="320040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assumptionOverrides</a:t>
            </a:r>
            <a:endParaRPr lang="en-US" sz="1300" dirty="0"/>
          </a:p>
        </p:txBody>
      </p:sp>
      <p:sp>
        <p:nvSpPr>
          <p:cNvPr id="26" name="Text 23"/>
          <p:cNvSpPr txBox="1"/>
          <p:nvPr/>
        </p:nvSpPr>
        <p:spPr>
          <a:xfrm>
            <a:off x="9237497" y="320040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your edits to the house view</a:t>
            </a:r>
            <a:endParaRPr lang="en-US" sz="1300" dirty="0"/>
          </a:p>
        </p:txBody>
      </p:sp>
      <p:sp>
        <p:nvSpPr>
          <p:cNvPr id="27" name="Shape 24"/>
          <p:cNvSpPr/>
          <p:nvPr/>
        </p:nvSpPr>
        <p:spPr>
          <a:xfrm>
            <a:off x="6323076" y="3840480"/>
            <a:ext cx="5298948" cy="603504"/>
          </a:xfrm>
          <a:prstGeom prst="roundRect">
            <a:avLst>
              <a:gd name="adj" fmla="val 10606"/>
            </a:avLst>
          </a:prstGeom>
          <a:solidFill>
            <a:srgbClr val="161F1C"/>
          </a:solidFill>
          <a:ln w="12700">
            <a:solidFill>
              <a:srgbClr val="1D2926"/>
            </a:solidFill>
            <a:prstDash val="solid"/>
          </a:ln>
        </p:spPr>
      </p:sp>
      <p:sp>
        <p:nvSpPr>
          <p:cNvPr id="28" name="Text 25"/>
          <p:cNvSpPr txBox="1"/>
          <p:nvPr/>
        </p:nvSpPr>
        <p:spPr>
          <a:xfrm>
            <a:off x="6524244" y="3931920"/>
            <a:ext cx="2914421" cy="420624"/>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insurance cover</a:t>
            </a:r>
            <a:endParaRPr lang="en-US" sz="1300" dirty="0"/>
          </a:p>
        </p:txBody>
      </p:sp>
      <p:sp>
        <p:nvSpPr>
          <p:cNvPr id="29" name="Text 26"/>
          <p:cNvSpPr txBox="1"/>
          <p:nvPr/>
        </p:nvSpPr>
        <p:spPr>
          <a:xfrm>
            <a:off x="9237497" y="3931920"/>
            <a:ext cx="2183359" cy="420624"/>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life and health</a:t>
            </a:r>
            <a:endParaRPr lang="en-US" sz="1300" dirty="0"/>
          </a:p>
        </p:txBody>
      </p:sp>
      <p:sp>
        <p:nvSpPr>
          <p:cNvPr id="30" name="Text 27"/>
          <p:cNvSpPr txBox="1"/>
          <p:nvPr/>
        </p:nvSpPr>
        <p:spPr>
          <a:xfrm>
            <a:off x="566928" y="4663440"/>
            <a:ext cx="11055096" cy="822960"/>
          </a:xfrm>
          <a:prstGeom prst="rect">
            <a:avLst/>
          </a:prstGeom>
          <a:noFill/>
          <a:ln/>
        </p:spPr>
        <p:txBody>
          <a:bodyPr wrap="square" lIns="0" tIns="0" rIns="0" bIns="0" rtlCol="0" anchor="t"/>
          <a:lstStyle/>
          <a:p>
            <a:pPr indent="0" marL="0">
              <a:lnSpc>
                <a:spcPct val="120000"/>
              </a:lnSpc>
              <a:buNone/>
            </a:pPr>
            <a:r>
              <a:rPr lang="en-US" sz="1500" dirty="0">
                <a:solidFill>
                  <a:srgbClr val="2FD8A0"/>
                </a:solidFill>
                <a:latin typeface="Calibri" pitchFamily="34" charset="0"/>
                <a:ea typeface="Calibri" pitchFamily="34" charset="-122"/>
                <a:cs typeface="Calibri" pitchFamily="34" charset="-120"/>
              </a:rPr>
              <a:t>Change one number here and every projection, chart and recommendation changes with it. There is no separate "dashboard data" to keep in sync.</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THE CORE FUNCTION</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buildSnapshot(): profile in, everything out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66928" y="1691640"/>
            <a:ext cx="1098296" cy="2103120"/>
          </a:xfrm>
          <a:prstGeom prst="roundRect">
            <a:avLst>
              <a:gd name="adj" fmla="val 6660"/>
            </a:avLst>
          </a:prstGeom>
          <a:solidFill>
            <a:srgbClr val="161F1C"/>
          </a:solidFill>
          <a:ln w="12700">
            <a:solidFill>
              <a:srgbClr val="1D2926"/>
            </a:solidFill>
            <a:prstDash val="solid"/>
          </a:ln>
        </p:spPr>
      </p:sp>
      <p:sp>
        <p:nvSpPr>
          <p:cNvPr id="7" name="Text 4"/>
          <p:cNvSpPr txBox="1"/>
          <p:nvPr/>
        </p:nvSpPr>
        <p:spPr>
          <a:xfrm>
            <a:off x="6583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01</a:t>
            </a:r>
            <a:endParaRPr lang="en-US" sz="1100" dirty="0"/>
          </a:p>
        </p:txBody>
      </p:sp>
      <p:sp>
        <p:nvSpPr>
          <p:cNvPr id="8" name="Text 5"/>
          <p:cNvSpPr txBox="1"/>
          <p:nvPr/>
        </p:nvSpPr>
        <p:spPr>
          <a:xfrm>
            <a:off x="6583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Inputs</a:t>
            </a:r>
            <a:endParaRPr lang="en-US" sz="1200" dirty="0"/>
          </a:p>
        </p:txBody>
      </p:sp>
      <p:sp>
        <p:nvSpPr>
          <p:cNvPr id="9" name="Text 6"/>
          <p:cNvSpPr txBox="1"/>
          <p:nvPr/>
        </p:nvSpPr>
        <p:spPr>
          <a:xfrm>
            <a:off x="6583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house view + overrides</a:t>
            </a:r>
            <a:endParaRPr lang="en-US" sz="1000" dirty="0"/>
          </a:p>
        </p:txBody>
      </p:sp>
      <p:sp>
        <p:nvSpPr>
          <p:cNvPr id="10" name="Shape 7"/>
          <p:cNvSpPr/>
          <p:nvPr/>
        </p:nvSpPr>
        <p:spPr>
          <a:xfrm>
            <a:off x="1811528" y="1691640"/>
            <a:ext cx="1098296" cy="2103120"/>
          </a:xfrm>
          <a:prstGeom prst="roundRect">
            <a:avLst>
              <a:gd name="adj" fmla="val 6660"/>
            </a:avLst>
          </a:prstGeom>
          <a:solidFill>
            <a:srgbClr val="161F1C"/>
          </a:solidFill>
          <a:ln w="12700">
            <a:solidFill>
              <a:srgbClr val="1D2926"/>
            </a:solidFill>
            <a:prstDash val="solid"/>
          </a:ln>
        </p:spPr>
      </p:sp>
      <p:sp>
        <p:nvSpPr>
          <p:cNvPr id="11" name="Text 8"/>
          <p:cNvSpPr txBox="1"/>
          <p:nvPr/>
        </p:nvSpPr>
        <p:spPr>
          <a:xfrm>
            <a:off x="19029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02</a:t>
            </a:r>
            <a:endParaRPr lang="en-US" sz="1100" dirty="0"/>
          </a:p>
        </p:txBody>
      </p:sp>
      <p:sp>
        <p:nvSpPr>
          <p:cNvPr id="12" name="Text 9"/>
          <p:cNvSpPr txBox="1"/>
          <p:nvPr/>
        </p:nvSpPr>
        <p:spPr>
          <a:xfrm>
            <a:off x="19029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Risk</a:t>
            </a:r>
            <a:endParaRPr lang="en-US" sz="1200" dirty="0"/>
          </a:p>
        </p:txBody>
      </p:sp>
      <p:sp>
        <p:nvSpPr>
          <p:cNvPr id="13" name="Text 10"/>
          <p:cNvSpPr txBox="1"/>
          <p:nvPr/>
        </p:nvSpPr>
        <p:spPr>
          <a:xfrm>
            <a:off x="19029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tolerance and capacity</a:t>
            </a:r>
            <a:endParaRPr lang="en-US" sz="1000" dirty="0"/>
          </a:p>
        </p:txBody>
      </p:sp>
      <p:sp>
        <p:nvSpPr>
          <p:cNvPr id="14" name="Shape 11"/>
          <p:cNvSpPr/>
          <p:nvPr/>
        </p:nvSpPr>
        <p:spPr>
          <a:xfrm>
            <a:off x="3056128" y="1691640"/>
            <a:ext cx="1098296" cy="2103120"/>
          </a:xfrm>
          <a:prstGeom prst="roundRect">
            <a:avLst>
              <a:gd name="adj" fmla="val 6660"/>
            </a:avLst>
          </a:prstGeom>
          <a:solidFill>
            <a:srgbClr val="161F1C"/>
          </a:solidFill>
          <a:ln w="12700">
            <a:solidFill>
              <a:srgbClr val="1D2926"/>
            </a:solidFill>
            <a:prstDash val="solid"/>
          </a:ln>
        </p:spPr>
      </p:sp>
      <p:sp>
        <p:nvSpPr>
          <p:cNvPr id="15" name="Text 12"/>
          <p:cNvSpPr txBox="1"/>
          <p:nvPr/>
        </p:nvSpPr>
        <p:spPr>
          <a:xfrm>
            <a:off x="31475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03</a:t>
            </a:r>
            <a:endParaRPr lang="en-US" sz="1100" dirty="0"/>
          </a:p>
        </p:txBody>
      </p:sp>
      <p:sp>
        <p:nvSpPr>
          <p:cNvPr id="16" name="Text 13"/>
          <p:cNvSpPr txBox="1"/>
          <p:nvPr/>
        </p:nvSpPr>
        <p:spPr>
          <a:xfrm>
            <a:off x="31475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Allocation</a:t>
            </a:r>
            <a:endParaRPr lang="en-US" sz="1200" dirty="0"/>
          </a:p>
        </p:txBody>
      </p:sp>
      <p:sp>
        <p:nvSpPr>
          <p:cNvPr id="17" name="Text 14"/>
          <p:cNvSpPr txBox="1"/>
          <p:nvPr/>
        </p:nvSpPr>
        <p:spPr>
          <a:xfrm>
            <a:off x="31475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for bucket + horizon</a:t>
            </a:r>
            <a:endParaRPr lang="en-US" sz="1000" dirty="0"/>
          </a:p>
        </p:txBody>
      </p:sp>
      <p:sp>
        <p:nvSpPr>
          <p:cNvPr id="18" name="Shape 15"/>
          <p:cNvSpPr/>
          <p:nvPr/>
        </p:nvSpPr>
        <p:spPr>
          <a:xfrm>
            <a:off x="4300728" y="1691640"/>
            <a:ext cx="1098296" cy="2103120"/>
          </a:xfrm>
          <a:prstGeom prst="roundRect">
            <a:avLst>
              <a:gd name="adj" fmla="val 6660"/>
            </a:avLst>
          </a:prstGeom>
          <a:solidFill>
            <a:srgbClr val="161F1C"/>
          </a:solidFill>
          <a:ln w="12700">
            <a:solidFill>
              <a:srgbClr val="1D2926"/>
            </a:solidFill>
            <a:prstDash val="solid"/>
          </a:ln>
        </p:spPr>
      </p:sp>
      <p:sp>
        <p:nvSpPr>
          <p:cNvPr id="19" name="Text 16"/>
          <p:cNvSpPr txBox="1"/>
          <p:nvPr/>
        </p:nvSpPr>
        <p:spPr>
          <a:xfrm>
            <a:off x="43921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04</a:t>
            </a:r>
            <a:endParaRPr lang="en-US" sz="1100" dirty="0"/>
          </a:p>
        </p:txBody>
      </p:sp>
      <p:sp>
        <p:nvSpPr>
          <p:cNvPr id="20" name="Text 17"/>
          <p:cNvSpPr txBox="1"/>
          <p:nvPr/>
        </p:nvSpPr>
        <p:spPr>
          <a:xfrm>
            <a:off x="43921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Portfolio</a:t>
            </a:r>
            <a:endParaRPr lang="en-US" sz="1200" dirty="0"/>
          </a:p>
        </p:txBody>
      </p:sp>
      <p:sp>
        <p:nvSpPr>
          <p:cNvPr id="21" name="Text 18"/>
          <p:cNvSpPr txBox="1"/>
          <p:nvPr/>
        </p:nvSpPr>
        <p:spPr>
          <a:xfrm>
            <a:off x="43921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value, drift, spread</a:t>
            </a:r>
            <a:endParaRPr lang="en-US" sz="1000" dirty="0"/>
          </a:p>
        </p:txBody>
      </p:sp>
      <p:sp>
        <p:nvSpPr>
          <p:cNvPr id="22" name="Shape 19"/>
          <p:cNvSpPr/>
          <p:nvPr/>
        </p:nvSpPr>
        <p:spPr>
          <a:xfrm>
            <a:off x="5545328" y="1691640"/>
            <a:ext cx="1098296" cy="2103120"/>
          </a:xfrm>
          <a:prstGeom prst="roundRect">
            <a:avLst>
              <a:gd name="adj" fmla="val 6660"/>
            </a:avLst>
          </a:prstGeom>
          <a:solidFill>
            <a:srgbClr val="161F1C"/>
          </a:solidFill>
          <a:ln w="12700">
            <a:solidFill>
              <a:srgbClr val="1D2926"/>
            </a:solidFill>
            <a:prstDash val="solid"/>
          </a:ln>
        </p:spPr>
      </p:sp>
      <p:sp>
        <p:nvSpPr>
          <p:cNvPr id="23" name="Text 20"/>
          <p:cNvSpPr txBox="1"/>
          <p:nvPr/>
        </p:nvSpPr>
        <p:spPr>
          <a:xfrm>
            <a:off x="56367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05</a:t>
            </a:r>
            <a:endParaRPr lang="en-US" sz="1100" dirty="0"/>
          </a:p>
        </p:txBody>
      </p:sp>
      <p:sp>
        <p:nvSpPr>
          <p:cNvPr id="24" name="Text 21"/>
          <p:cNvSpPr txBox="1"/>
          <p:nvPr/>
        </p:nvSpPr>
        <p:spPr>
          <a:xfrm>
            <a:off x="56367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Cashflow</a:t>
            </a:r>
            <a:endParaRPr lang="en-US" sz="1200" dirty="0"/>
          </a:p>
        </p:txBody>
      </p:sp>
      <p:sp>
        <p:nvSpPr>
          <p:cNvPr id="25" name="Text 22"/>
          <p:cNvSpPr txBox="1"/>
          <p:nvPr/>
        </p:nvSpPr>
        <p:spPr>
          <a:xfrm>
            <a:off x="56367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surplus, rate, DTI</a:t>
            </a:r>
            <a:endParaRPr lang="en-US" sz="1000" dirty="0"/>
          </a:p>
        </p:txBody>
      </p:sp>
      <p:sp>
        <p:nvSpPr>
          <p:cNvPr id="26" name="Shape 23"/>
          <p:cNvSpPr/>
          <p:nvPr/>
        </p:nvSpPr>
        <p:spPr>
          <a:xfrm>
            <a:off x="6789928" y="1691640"/>
            <a:ext cx="1098296" cy="2103120"/>
          </a:xfrm>
          <a:prstGeom prst="roundRect">
            <a:avLst>
              <a:gd name="adj" fmla="val 6660"/>
            </a:avLst>
          </a:prstGeom>
          <a:solidFill>
            <a:srgbClr val="161F1C"/>
          </a:solidFill>
          <a:ln w="12700">
            <a:solidFill>
              <a:srgbClr val="1D2926"/>
            </a:solidFill>
            <a:prstDash val="solid"/>
          </a:ln>
        </p:spPr>
      </p:sp>
      <p:sp>
        <p:nvSpPr>
          <p:cNvPr id="27" name="Text 24"/>
          <p:cNvSpPr txBox="1"/>
          <p:nvPr/>
        </p:nvSpPr>
        <p:spPr>
          <a:xfrm>
            <a:off x="68813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06</a:t>
            </a:r>
            <a:endParaRPr lang="en-US" sz="1100" dirty="0"/>
          </a:p>
        </p:txBody>
      </p:sp>
      <p:sp>
        <p:nvSpPr>
          <p:cNvPr id="28" name="Text 25"/>
          <p:cNvSpPr txBox="1"/>
          <p:nvPr/>
        </p:nvSpPr>
        <p:spPr>
          <a:xfrm>
            <a:off x="68813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Goals</a:t>
            </a:r>
            <a:endParaRPr lang="en-US" sz="1200" dirty="0"/>
          </a:p>
        </p:txBody>
      </p:sp>
      <p:sp>
        <p:nvSpPr>
          <p:cNvPr id="29" name="Text 26"/>
          <p:cNvSpPr txBox="1"/>
          <p:nvPr/>
        </p:nvSpPr>
        <p:spPr>
          <a:xfrm>
            <a:off x="68813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each at its own return</a:t>
            </a:r>
            <a:endParaRPr lang="en-US" sz="1000" dirty="0"/>
          </a:p>
        </p:txBody>
      </p:sp>
      <p:sp>
        <p:nvSpPr>
          <p:cNvPr id="30" name="Shape 27"/>
          <p:cNvSpPr/>
          <p:nvPr/>
        </p:nvSpPr>
        <p:spPr>
          <a:xfrm>
            <a:off x="8034528" y="1691640"/>
            <a:ext cx="1098296" cy="2103120"/>
          </a:xfrm>
          <a:prstGeom prst="roundRect">
            <a:avLst>
              <a:gd name="adj" fmla="val 6660"/>
            </a:avLst>
          </a:prstGeom>
          <a:solidFill>
            <a:srgbClr val="161F1C"/>
          </a:solidFill>
          <a:ln w="12700">
            <a:solidFill>
              <a:srgbClr val="1D2926"/>
            </a:solidFill>
            <a:prstDash val="solid"/>
          </a:ln>
        </p:spPr>
      </p:sp>
      <p:sp>
        <p:nvSpPr>
          <p:cNvPr id="31" name="Text 28"/>
          <p:cNvSpPr txBox="1"/>
          <p:nvPr/>
        </p:nvSpPr>
        <p:spPr>
          <a:xfrm>
            <a:off x="81259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07</a:t>
            </a:r>
            <a:endParaRPr lang="en-US" sz="1100" dirty="0"/>
          </a:p>
        </p:txBody>
      </p:sp>
      <p:sp>
        <p:nvSpPr>
          <p:cNvPr id="32" name="Text 29"/>
          <p:cNvSpPr txBox="1"/>
          <p:nvPr/>
        </p:nvSpPr>
        <p:spPr>
          <a:xfrm>
            <a:off x="81259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Retirement</a:t>
            </a:r>
            <a:endParaRPr lang="en-US" sz="1200" dirty="0"/>
          </a:p>
        </p:txBody>
      </p:sp>
      <p:sp>
        <p:nvSpPr>
          <p:cNvPr id="33" name="Text 30"/>
          <p:cNvSpPr txBox="1"/>
          <p:nvPr/>
        </p:nvSpPr>
        <p:spPr>
          <a:xfrm>
            <a:off x="81259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required vs projected</a:t>
            </a:r>
            <a:endParaRPr lang="en-US" sz="1000" dirty="0"/>
          </a:p>
        </p:txBody>
      </p:sp>
      <p:sp>
        <p:nvSpPr>
          <p:cNvPr id="34" name="Shape 31"/>
          <p:cNvSpPr/>
          <p:nvPr/>
        </p:nvSpPr>
        <p:spPr>
          <a:xfrm>
            <a:off x="9279128" y="1691640"/>
            <a:ext cx="1098296" cy="2103120"/>
          </a:xfrm>
          <a:prstGeom prst="roundRect">
            <a:avLst>
              <a:gd name="adj" fmla="val 6660"/>
            </a:avLst>
          </a:prstGeom>
          <a:solidFill>
            <a:srgbClr val="161F1C"/>
          </a:solidFill>
          <a:ln w="12700">
            <a:solidFill>
              <a:srgbClr val="1D2926"/>
            </a:solidFill>
            <a:prstDash val="solid"/>
          </a:ln>
        </p:spPr>
      </p:sp>
      <p:sp>
        <p:nvSpPr>
          <p:cNvPr id="35" name="Text 32"/>
          <p:cNvSpPr txBox="1"/>
          <p:nvPr/>
        </p:nvSpPr>
        <p:spPr>
          <a:xfrm>
            <a:off x="93705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08</a:t>
            </a:r>
            <a:endParaRPr lang="en-US" sz="1100" dirty="0"/>
          </a:p>
        </p:txBody>
      </p:sp>
      <p:sp>
        <p:nvSpPr>
          <p:cNvPr id="36" name="Text 33"/>
          <p:cNvSpPr txBox="1"/>
          <p:nvPr/>
        </p:nvSpPr>
        <p:spPr>
          <a:xfrm>
            <a:off x="93705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Wellness</a:t>
            </a:r>
            <a:endParaRPr lang="en-US" sz="1200" dirty="0"/>
          </a:p>
        </p:txBody>
      </p:sp>
      <p:sp>
        <p:nvSpPr>
          <p:cNvPr id="37" name="Text 34"/>
          <p:cNvSpPr txBox="1"/>
          <p:nvPr/>
        </p:nvSpPr>
        <p:spPr>
          <a:xfrm>
            <a:off x="93705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five weighted pillars</a:t>
            </a:r>
            <a:endParaRPr lang="en-US" sz="1000" dirty="0"/>
          </a:p>
        </p:txBody>
      </p:sp>
      <p:sp>
        <p:nvSpPr>
          <p:cNvPr id="38" name="Shape 35"/>
          <p:cNvSpPr/>
          <p:nvPr/>
        </p:nvSpPr>
        <p:spPr>
          <a:xfrm>
            <a:off x="10523728" y="1691640"/>
            <a:ext cx="1098296" cy="2103120"/>
          </a:xfrm>
          <a:prstGeom prst="roundRect">
            <a:avLst>
              <a:gd name="adj" fmla="val 6660"/>
            </a:avLst>
          </a:prstGeom>
          <a:solidFill>
            <a:srgbClr val="161F1C"/>
          </a:solidFill>
          <a:ln w="12700">
            <a:solidFill>
              <a:srgbClr val="1D2926"/>
            </a:solidFill>
            <a:prstDash val="solid"/>
          </a:ln>
        </p:spPr>
      </p:sp>
      <p:sp>
        <p:nvSpPr>
          <p:cNvPr id="39" name="Text 36"/>
          <p:cNvSpPr txBox="1"/>
          <p:nvPr/>
        </p:nvSpPr>
        <p:spPr>
          <a:xfrm>
            <a:off x="10615168" y="1828800"/>
            <a:ext cx="915416"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09</a:t>
            </a:r>
            <a:endParaRPr lang="en-US" sz="1100" dirty="0"/>
          </a:p>
        </p:txBody>
      </p:sp>
      <p:sp>
        <p:nvSpPr>
          <p:cNvPr id="40" name="Text 37"/>
          <p:cNvSpPr txBox="1"/>
          <p:nvPr/>
        </p:nvSpPr>
        <p:spPr>
          <a:xfrm>
            <a:off x="10615168" y="2084832"/>
            <a:ext cx="915416" cy="548640"/>
          </a:xfrm>
          <a:prstGeom prst="rect">
            <a:avLst/>
          </a:prstGeom>
          <a:noFill/>
          <a:ln/>
        </p:spPr>
        <p:txBody>
          <a:bodyPr wrap="square" lIns="0" tIns="0" rIns="0" bIns="0" rtlCol="0" anchor="ctr"/>
          <a:lstStyle/>
          <a:p>
            <a:pPr indent="0" marL="0">
              <a:buNone/>
            </a:pPr>
            <a:r>
              <a:rPr lang="en-US" sz="1200" b="1" dirty="0">
                <a:solidFill>
                  <a:srgbClr val="E9EFEC"/>
                </a:solidFill>
                <a:latin typeface="Arial" pitchFamily="34" charset="0"/>
                <a:ea typeface="Arial" pitchFamily="34" charset="-122"/>
                <a:cs typeface="Arial" pitchFamily="34" charset="-120"/>
              </a:rPr>
              <a:t>Actions</a:t>
            </a:r>
            <a:endParaRPr lang="en-US" sz="1200" dirty="0"/>
          </a:p>
        </p:txBody>
      </p:sp>
      <p:sp>
        <p:nvSpPr>
          <p:cNvPr id="41" name="Text 38"/>
          <p:cNvSpPr txBox="1"/>
          <p:nvPr/>
        </p:nvSpPr>
        <p:spPr>
          <a:xfrm>
            <a:off x="10615168" y="2670048"/>
            <a:ext cx="915416" cy="1005840"/>
          </a:xfrm>
          <a:prstGeom prst="rect">
            <a:avLst/>
          </a:prstGeom>
          <a:noFill/>
          <a:ln/>
        </p:spPr>
        <p:txBody>
          <a:bodyPr wrap="square" lIns="0" tIns="0" rIns="0" bIns="0" rtlCol="0" anchor="t"/>
          <a:lstStyle/>
          <a:p>
            <a:pPr indent="0" marL="0">
              <a:buNone/>
            </a:pPr>
            <a:r>
              <a:rPr lang="en-US" sz="1000" dirty="0">
                <a:solidFill>
                  <a:srgbClr val="93A49D"/>
                </a:solidFill>
                <a:latin typeface="Calibri" pitchFamily="34" charset="0"/>
                <a:ea typeface="Calibri" pitchFamily="34" charset="-122"/>
                <a:cs typeface="Calibri" pitchFamily="34" charset="-120"/>
              </a:rPr>
              <a:t>the ranked list</a:t>
            </a:r>
            <a:endParaRPr lang="en-US" sz="1000" dirty="0"/>
          </a:p>
        </p:txBody>
      </p:sp>
      <p:sp>
        <p:nvSpPr>
          <p:cNvPr id="42" name="Text 39"/>
          <p:cNvSpPr txBox="1"/>
          <p:nvPr/>
        </p:nvSpPr>
        <p:spPr>
          <a:xfrm>
            <a:off x="566928" y="4160520"/>
            <a:ext cx="11055096" cy="100584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Each step feeds the next: the risk bucket picks the allocation, the allocation sets the expected return, the return drives every goal projection, and the goals feed the wellness score. One function call produces the entire dashboard.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3 — DASHBOARD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screen you land on</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11</a:t>
            </a:r>
            <a:endParaRPr lang="en-US" sz="1000" dirty="0"/>
          </a:p>
        </p:txBody>
      </p:sp>
      <p:pic>
        <p:nvPicPr>
          <p:cNvPr id="6" name="Image 0" descr="C:\Users\deepa\AppData\Local\Temp\claude\C--Users-deepa-OneDrive-Desktop-BroadBridge\76219d84-4fcb-4f71-a8fc-a638015e9df8\scratchpad\shots\dashboard-top.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DASHBOARD — THE BANNER</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What following the advice is actually worth</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12</a:t>
            </a:r>
            <a:endParaRPr lang="en-US" sz="1000" dirty="0"/>
          </a:p>
        </p:txBody>
      </p:sp>
      <p:sp>
        <p:nvSpPr>
          <p:cNvPr id="6" name="Text 3"/>
          <p:cNvSpPr txBox="1"/>
          <p:nvPr/>
        </p:nvSpPr>
        <p:spPr>
          <a:xfrm>
            <a:off x="566928" y="1645920"/>
            <a:ext cx="5298948" cy="100584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Most apps rank advice by a score you cannot interpret. This banner answers the only question that matters: if I do these things, what changes?</a:t>
            </a:r>
            <a:endParaRPr lang="en-US" sz="1500" dirty="0"/>
          </a:p>
        </p:txBody>
      </p:sp>
      <p:sp>
        <p:nvSpPr>
          <p:cNvPr id="7" name="Text 4"/>
          <p:cNvSpPr txBox="1"/>
          <p:nvPr/>
        </p:nvSpPr>
        <p:spPr>
          <a:xfrm>
            <a:off x="566928" y="2743200"/>
            <a:ext cx="5298948" cy="164592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The engine applies the top actions to a copy of the profile, re-runs the entire snapshot, and reports the difference. Actions are applied in order, each credited only with what it adds on top of the ones above it — so two overlapping tips cannot both claim the same gain.</a:t>
            </a:r>
            <a:endParaRPr lang="en-US" sz="1400" dirty="0"/>
          </a:p>
        </p:txBody>
      </p:sp>
      <p:sp>
        <p:nvSpPr>
          <p:cNvPr id="8" name="Shape 5"/>
          <p:cNvSpPr/>
          <p:nvPr/>
        </p:nvSpPr>
        <p:spPr>
          <a:xfrm>
            <a:off x="6323076" y="1645920"/>
            <a:ext cx="5298948" cy="658368"/>
          </a:xfrm>
          <a:prstGeom prst="roundRect">
            <a:avLst>
              <a:gd name="adj" fmla="val 9722"/>
            </a:avLst>
          </a:prstGeom>
          <a:solidFill>
            <a:srgbClr val="161F1C"/>
          </a:solidFill>
          <a:ln w="12700">
            <a:solidFill>
              <a:srgbClr val="1D2926"/>
            </a:solidFill>
            <a:prstDash val="solid"/>
          </a:ln>
        </p:spPr>
      </p:sp>
      <p:sp>
        <p:nvSpPr>
          <p:cNvPr id="9" name="Text 6"/>
          <p:cNvSpPr txBox="1"/>
          <p:nvPr/>
        </p:nvSpPr>
        <p:spPr>
          <a:xfrm>
            <a:off x="6524244" y="1737360"/>
            <a:ext cx="2914421" cy="47548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Wellness score</a:t>
            </a:r>
            <a:endParaRPr lang="en-US" sz="1300" dirty="0"/>
          </a:p>
        </p:txBody>
      </p:sp>
      <p:sp>
        <p:nvSpPr>
          <p:cNvPr id="10" name="Text 7"/>
          <p:cNvSpPr txBox="1"/>
          <p:nvPr/>
        </p:nvSpPr>
        <p:spPr>
          <a:xfrm>
            <a:off x="9237497" y="1737360"/>
            <a:ext cx="2183359" cy="475488"/>
          </a:xfrm>
          <a:prstGeom prst="rect">
            <a:avLst/>
          </a:prstGeom>
          <a:noFill/>
          <a:ln/>
        </p:spPr>
        <p:txBody>
          <a:bodyPr wrap="square" lIns="0" tIns="0" rIns="0" bIns="0" rtlCol="0" anchor="ctr"/>
          <a:lstStyle/>
          <a:p>
            <a:pPr algn="r" indent="0" marL="0">
              <a:buNone/>
            </a:pPr>
            <a:r>
              <a:rPr lang="en-US" sz="1300" dirty="0">
                <a:solidFill>
                  <a:srgbClr val="2FD8A0"/>
                </a:solidFill>
                <a:latin typeface="Calibri" pitchFamily="34" charset="0"/>
                <a:ea typeface="Calibri" pitchFamily="34" charset="-122"/>
                <a:cs typeface="Calibri" pitchFamily="34" charset="-120"/>
              </a:rPr>
              <a:t>43 → 61</a:t>
            </a:r>
            <a:endParaRPr lang="en-US" sz="1300" dirty="0"/>
          </a:p>
        </p:txBody>
      </p:sp>
      <p:sp>
        <p:nvSpPr>
          <p:cNvPr id="11" name="Shape 8"/>
          <p:cNvSpPr/>
          <p:nvPr/>
        </p:nvSpPr>
        <p:spPr>
          <a:xfrm>
            <a:off x="6323076" y="2432304"/>
            <a:ext cx="5298948" cy="658368"/>
          </a:xfrm>
          <a:prstGeom prst="roundRect">
            <a:avLst>
              <a:gd name="adj" fmla="val 9722"/>
            </a:avLst>
          </a:prstGeom>
          <a:solidFill>
            <a:srgbClr val="161F1C"/>
          </a:solidFill>
          <a:ln w="12700">
            <a:solidFill>
              <a:srgbClr val="1D2926"/>
            </a:solidFill>
            <a:prstDash val="solid"/>
          </a:ln>
        </p:spPr>
      </p:sp>
      <p:sp>
        <p:nvSpPr>
          <p:cNvPr id="12" name="Text 9"/>
          <p:cNvSpPr txBox="1"/>
          <p:nvPr/>
        </p:nvSpPr>
        <p:spPr>
          <a:xfrm>
            <a:off x="6524244" y="2523744"/>
            <a:ext cx="2914421" cy="47548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Grade</a:t>
            </a:r>
            <a:endParaRPr lang="en-US" sz="1300" dirty="0"/>
          </a:p>
        </p:txBody>
      </p:sp>
      <p:sp>
        <p:nvSpPr>
          <p:cNvPr id="13" name="Text 10"/>
          <p:cNvSpPr txBox="1"/>
          <p:nvPr/>
        </p:nvSpPr>
        <p:spPr>
          <a:xfrm>
            <a:off x="9237497" y="2523744"/>
            <a:ext cx="2183359" cy="475488"/>
          </a:xfrm>
          <a:prstGeom prst="rect">
            <a:avLst/>
          </a:prstGeom>
          <a:noFill/>
          <a:ln/>
        </p:spPr>
        <p:txBody>
          <a:bodyPr wrap="square" lIns="0" tIns="0" rIns="0" bIns="0" rtlCol="0" anchor="ctr"/>
          <a:lstStyle/>
          <a:p>
            <a:pPr algn="r" indent="0" marL="0">
              <a:buNone/>
            </a:pPr>
            <a:r>
              <a:rPr lang="en-US" sz="1300" dirty="0">
                <a:solidFill>
                  <a:srgbClr val="2FD8A0"/>
                </a:solidFill>
                <a:latin typeface="Calibri" pitchFamily="34" charset="0"/>
                <a:ea typeface="Calibri" pitchFamily="34" charset="-122"/>
                <a:cs typeface="Calibri" pitchFamily="34" charset="-120"/>
              </a:rPr>
              <a:t>D → C</a:t>
            </a:r>
            <a:endParaRPr lang="en-US" sz="1300" dirty="0"/>
          </a:p>
        </p:txBody>
      </p:sp>
      <p:sp>
        <p:nvSpPr>
          <p:cNvPr id="14" name="Shape 11"/>
          <p:cNvSpPr/>
          <p:nvPr/>
        </p:nvSpPr>
        <p:spPr>
          <a:xfrm>
            <a:off x="6323076" y="3218688"/>
            <a:ext cx="5298948" cy="658368"/>
          </a:xfrm>
          <a:prstGeom prst="roundRect">
            <a:avLst>
              <a:gd name="adj" fmla="val 9722"/>
            </a:avLst>
          </a:prstGeom>
          <a:solidFill>
            <a:srgbClr val="161F1C"/>
          </a:solidFill>
          <a:ln w="12700">
            <a:solidFill>
              <a:srgbClr val="1D2926"/>
            </a:solidFill>
            <a:prstDash val="solid"/>
          </a:ln>
        </p:spPr>
      </p:sp>
      <p:sp>
        <p:nvSpPr>
          <p:cNvPr id="15" name="Text 12"/>
          <p:cNvSpPr txBox="1"/>
          <p:nvPr/>
        </p:nvSpPr>
        <p:spPr>
          <a:xfrm>
            <a:off x="6524244" y="3310128"/>
            <a:ext cx="2914421" cy="47548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Retirement funded</a:t>
            </a:r>
            <a:endParaRPr lang="en-US" sz="1300" dirty="0"/>
          </a:p>
        </p:txBody>
      </p:sp>
      <p:sp>
        <p:nvSpPr>
          <p:cNvPr id="16" name="Text 13"/>
          <p:cNvSpPr txBox="1"/>
          <p:nvPr/>
        </p:nvSpPr>
        <p:spPr>
          <a:xfrm>
            <a:off x="9237497" y="3310128"/>
            <a:ext cx="2183359" cy="475488"/>
          </a:xfrm>
          <a:prstGeom prst="rect">
            <a:avLst/>
          </a:prstGeom>
          <a:noFill/>
          <a:ln/>
        </p:spPr>
        <p:txBody>
          <a:bodyPr wrap="square" lIns="0" tIns="0" rIns="0" bIns="0" rtlCol="0" anchor="ctr"/>
          <a:lstStyle/>
          <a:p>
            <a:pPr algn="r" indent="0" marL="0">
              <a:buNone/>
            </a:pPr>
            <a:r>
              <a:rPr lang="en-US" sz="1300" dirty="0">
                <a:solidFill>
                  <a:srgbClr val="E8A33D"/>
                </a:solidFill>
                <a:latin typeface="Calibri" pitchFamily="34" charset="0"/>
                <a:ea typeface="Calibri" pitchFamily="34" charset="-122"/>
                <a:cs typeface="Calibri" pitchFamily="34" charset="-120"/>
              </a:rPr>
              <a:t>41%</a:t>
            </a:r>
            <a:endParaRPr lang="en-US" sz="1300" dirty="0"/>
          </a:p>
        </p:txBody>
      </p:sp>
      <p:sp>
        <p:nvSpPr>
          <p:cNvPr id="17" name="Shape 14"/>
          <p:cNvSpPr/>
          <p:nvPr/>
        </p:nvSpPr>
        <p:spPr>
          <a:xfrm>
            <a:off x="6323076" y="4005072"/>
            <a:ext cx="5298948" cy="658368"/>
          </a:xfrm>
          <a:prstGeom prst="roundRect">
            <a:avLst>
              <a:gd name="adj" fmla="val 9722"/>
            </a:avLst>
          </a:prstGeom>
          <a:solidFill>
            <a:srgbClr val="161F1C"/>
          </a:solidFill>
          <a:ln w="12700">
            <a:solidFill>
              <a:srgbClr val="1D2926"/>
            </a:solidFill>
            <a:prstDash val="solid"/>
          </a:ln>
        </p:spPr>
      </p:sp>
      <p:sp>
        <p:nvSpPr>
          <p:cNvPr id="18" name="Text 15"/>
          <p:cNvSpPr txBox="1"/>
          <p:nvPr/>
        </p:nvSpPr>
        <p:spPr>
          <a:xfrm>
            <a:off x="6524244" y="4096512"/>
            <a:ext cx="2914421" cy="475488"/>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Emergency cover</a:t>
            </a:r>
            <a:endParaRPr lang="en-US" sz="1300" dirty="0"/>
          </a:p>
        </p:txBody>
      </p:sp>
      <p:sp>
        <p:nvSpPr>
          <p:cNvPr id="19" name="Text 16"/>
          <p:cNvSpPr txBox="1"/>
          <p:nvPr/>
        </p:nvSpPr>
        <p:spPr>
          <a:xfrm>
            <a:off x="9237497" y="4096512"/>
            <a:ext cx="2183359" cy="475488"/>
          </a:xfrm>
          <a:prstGeom prst="rect">
            <a:avLst/>
          </a:prstGeom>
          <a:noFill/>
          <a:ln/>
        </p:spPr>
        <p:txBody>
          <a:bodyPr wrap="square" lIns="0" tIns="0" rIns="0" bIns="0" rtlCol="0" anchor="ctr"/>
          <a:lstStyle/>
          <a:p>
            <a:pPr algn="r" indent="0" marL="0">
              <a:buNone/>
            </a:pPr>
            <a:r>
              <a:rPr lang="en-US" sz="1300" dirty="0">
                <a:solidFill>
                  <a:srgbClr val="2FD8A0"/>
                </a:solidFill>
                <a:latin typeface="Calibri" pitchFamily="34" charset="0"/>
                <a:ea typeface="Calibri" pitchFamily="34" charset="-122"/>
                <a:cs typeface="Calibri" pitchFamily="34" charset="-120"/>
              </a:rPr>
              <a:t>1.3m → 6.0m</a:t>
            </a:r>
            <a:endParaRPr lang="en-US" sz="1300" dirty="0"/>
          </a:p>
        </p:txBody>
      </p:sp>
      <p:sp>
        <p:nvSpPr>
          <p:cNvPr id="20" name="Text 17"/>
          <p:cNvSpPr txBox="1"/>
          <p:nvPr/>
        </p:nvSpPr>
        <p:spPr>
          <a:xfrm>
            <a:off x="566928" y="4709160"/>
            <a:ext cx="11055096" cy="822960"/>
          </a:xfrm>
          <a:prstGeom prst="rect">
            <a:avLst/>
          </a:prstGeom>
          <a:noFill/>
          <a:ln/>
        </p:spPr>
        <p:txBody>
          <a:bodyPr wrap="square" lIns="0" tIns="0" rIns="0" bIns="0" rtlCol="0" anchor="t"/>
          <a:lstStyle/>
          <a:p>
            <a:pPr indent="0" marL="0">
              <a:lnSpc>
                <a:spcPct val="120000"/>
              </a:lnSpc>
              <a:buNone/>
            </a:pPr>
            <a:r>
              <a:rPr lang="en-US" sz="1400" dirty="0">
                <a:solidFill>
                  <a:srgbClr val="E8A33D"/>
                </a:solidFill>
                <a:latin typeface="Calibri" pitchFamily="34" charset="0"/>
                <a:ea typeface="Calibri" pitchFamily="34" charset="-122"/>
                <a:cs typeface="Calibri" pitchFamily="34" charset="-120"/>
              </a:rPr>
              <a:t>It also states what does not change: "Debt is unchanged by these actions." The headline figure is never allowed to quietly absorb advice the platform cannot carry out.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DASHBOARD — WELLNESS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Financial wellness, five weighted pillars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13</a:t>
            </a:r>
            <a:endParaRPr lang="en-US" sz="1000" dirty="0"/>
          </a:p>
        </p:txBody>
      </p:sp>
      <p:pic>
        <p:nvPicPr>
          <p:cNvPr id="6" name="Image 0" descr="C:\Users\deepa\AppData\Local\Temp\claude\C--Users-deepa-OneDrive-Desktop-BroadBridge\76219d84-4fcb-4f71-a8fc-a638015e9df8\scratchpad\shots\wellness.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HOW THE SCORE IS BUILT</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Five pillars, explicit weights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14</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914400"/>
        </p:xfrm>
        <a:graphic>
          <a:graphicData uri="http://schemas.openxmlformats.org/drawingml/2006/table">
            <a:tbl>
              <a:tblPr/>
              <a:tblGrid>
                <a:gridCol w="1920240"/>
                <a:gridCol w="1005840"/>
                <a:gridCol w="1005840"/>
                <a:gridCol w="7123176"/>
              </a:tblGrid>
              <a:tr h="438912">
                <a:tc>
                  <a:txBody>
                    <a:bodyPr/>
                    <a:lstStyle/>
                    <a:p>
                      <a:pPr indent="0" marL="0">
                        <a:buNone/>
                      </a:pPr>
                      <a:r>
                        <a:rPr lang="en-US" sz="1300" b="1" dirty="0">
                          <a:solidFill>
                            <a:srgbClr val="2FD8A0"/>
                          </a:solidFill>
                          <a:latin typeface="Calibri" pitchFamily="34" charset="0"/>
                          <a:ea typeface="Calibri" pitchFamily="34" charset="-122"/>
                          <a:cs typeface="Calibri" pitchFamily="34" charset="-120"/>
                        </a:rPr>
                        <a:t>Pillar</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b="1" dirty="0">
                          <a:solidFill>
                            <a:srgbClr val="2FD8A0"/>
                          </a:solidFill>
                          <a:latin typeface="Calibri" pitchFamily="34" charset="0"/>
                          <a:ea typeface="Calibri" pitchFamily="34" charset="-122"/>
                          <a:cs typeface="Calibri" pitchFamily="34" charset="-120"/>
                        </a:rPr>
                        <a:t>Weight</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b="1" dirty="0">
                          <a:solidFill>
                            <a:srgbClr val="2FD8A0"/>
                          </a:solidFill>
                          <a:latin typeface="Calibri" pitchFamily="34" charset="0"/>
                          <a:ea typeface="Calibri" pitchFamily="34" charset="-122"/>
                          <a:cs typeface="Calibri" pitchFamily="34" charset="-120"/>
                        </a:rPr>
                        <a:t>Aarav</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b="1" dirty="0">
                          <a:solidFill>
                            <a:srgbClr val="2FD8A0"/>
                          </a:solidFill>
                          <a:latin typeface="Calibri" pitchFamily="34" charset="0"/>
                          <a:ea typeface="Calibri" pitchFamily="34" charset="-122"/>
                          <a:cs typeface="Calibri" pitchFamily="34" charset="-120"/>
                        </a:rPr>
                        <a:t>Full marks means</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438912">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Protection</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FF5C7A"/>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6 months of expenses, 10x income life cover, health cover at the age-banded target</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438912">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Cashflow</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8A33D"/>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Saving 20% of income</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438912">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Debt</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2FD8A0"/>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EMIs under 20% of income, with no balance above 15% APR</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438912">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Investing</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FF5C7A"/>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A diversification score of 100 across classes and individual names</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r h="438912">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Goals</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FF5C7A"/>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c>
                  <a:txBody>
                    <a:bodyPr/>
                    <a:lstStyle/>
                    <a:p>
                      <a:pPr indent="0" marL="0">
                        <a:buNone/>
                      </a:pPr>
                      <a:r>
                        <a:rPr lang="en-US" sz="1300" dirty="0">
                          <a:solidFill>
                            <a:srgbClr val="E9EFEC"/>
                          </a:solidFill>
                          <a:latin typeface="Calibri" pitchFamily="34" charset="0"/>
                          <a:ea typeface="Calibri" pitchFamily="34" charset="-122"/>
                          <a:cs typeface="Calibri" pitchFamily="34" charset="-120"/>
                        </a:rPr>
                        <a:t>Every goal fully funded, plus retirement readiness</a:t>
                      </a:r>
                      <a:endParaRPr lang="en-US" sz="1300" dirty="0">
                        <a:latin typeface="Calibri" charset="0"/>
                        <a:ea typeface="Calibri" charset="0"/>
                        <a:cs typeface="Calibri" charset="0"/>
                      </a:endParaRPr>
                    </a:p>
                  </a:txBody>
                  <a:tcPr marL="73152" marR="73152" marT="73152" marB="73152" anchor="ctr">
                    <a:lnL w="12700" cap="flat" cmpd="sng" algn="ctr">
                      <a:solidFill>
                        <a:srgbClr val="1D2926"/>
                      </a:solidFill>
                      <a:prstDash val="solid"/>
                      <a:round/>
                      <a:headEnd type="none" w="med" len="med"/>
                      <a:tailEnd type="none" w="med" len="med"/>
                    </a:lnL>
                    <a:lnR w="12700" cap="flat" cmpd="sng" algn="ctr">
                      <a:solidFill>
                        <a:srgbClr val="1D2926"/>
                      </a:solidFill>
                      <a:prstDash val="solid"/>
                      <a:round/>
                      <a:headEnd type="none" w="med" len="med"/>
                      <a:tailEnd type="none" w="med" len="med"/>
                    </a:lnR>
                    <a:lnT w="12700" cap="flat" cmpd="sng" algn="ctr">
                      <a:solidFill>
                        <a:srgbClr val="1D2926"/>
                      </a:solidFill>
                      <a:prstDash val="solid"/>
                      <a:round/>
                      <a:headEnd type="none" w="med" len="med"/>
                      <a:tailEnd type="none" w="med" len="med"/>
                    </a:lnT>
                    <a:lnB w="12700" cap="flat" cmpd="sng" algn="ctr">
                      <a:solidFill>
                        <a:srgbClr val="1D2926"/>
                      </a:solidFill>
                      <a:prstDash val="solid"/>
                      <a:round/>
                      <a:headEnd type="none" w="med" len="med"/>
                      <a:tailEnd type="none" w="med" len="med"/>
                    </a:lnB>
                    <a:solidFill>
                      <a:srgbClr val="161F1C"/>
                    </a:solidFill>
                  </a:tcPr>
                </a:tc>
              </a:tr>
            </a:tbl>
          </a:graphicData>
        </a:graphic>
      </p:graphicFrame>
      <p:sp>
        <p:nvSpPr>
          <p:cNvPr id="7" name="Text 3"/>
          <p:cNvSpPr txBox="1"/>
          <p:nvPr/>
        </p:nvSpPr>
        <p:spPr>
          <a:xfrm>
            <a:off x="566928" y="4800600"/>
            <a:ext cx="11055096" cy="82296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Total = sum of (pillar score x weight). Grades: A at 80+, B at 65+, C at 45+, D below 45. A pillar computed from data you never entered is marked unscored rather than given a free pass.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score ring</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15</a:t>
            </a:r>
            <a:endParaRPr lang="en-US" sz="1000" dirty="0"/>
          </a:p>
        </p:txBody>
      </p:sp>
      <p:sp>
        <p:nvSpPr>
          <p:cNvPr id="6" name="Text 3"/>
          <p:cNvSpPr txBox="1"/>
          <p:nvPr/>
        </p:nvSpPr>
        <p:spPr>
          <a:xfrm>
            <a:off x="566928" y="1645920"/>
            <a:ext cx="5852160" cy="82296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A donut where each arc is one pillar, and the arc’s length is that pillar’s share of the total score, not an equal fifth.</a:t>
            </a:r>
            <a:endParaRPr lang="en-US" sz="1500" dirty="0"/>
          </a:p>
        </p:txBody>
      </p:sp>
      <p:sp>
        <p:nvSpPr>
          <p:cNvPr id="7" name="Text 4"/>
          <p:cNvSpPr txBox="1"/>
          <p:nvPr/>
        </p:nvSpPr>
        <p:spPr>
          <a:xfrm>
            <a:off x="566928" y="2514600"/>
            <a:ext cx="5852160" cy="118872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Protection is 25% of the score, so it owns a quarter of the circle. Its colour is the status of that pillar — red, amber or green. The gap between arcs is the score you have not earned.</a:t>
            </a:r>
            <a:endParaRPr lang="en-US" sz="1400" dirty="0"/>
          </a:p>
        </p:txBody>
      </p:sp>
      <p:sp>
        <p:nvSpPr>
          <p:cNvPr id="8" name="Text 5"/>
          <p:cNvSpPr txBox="1"/>
          <p:nvPr/>
        </p:nvSpPr>
        <p:spPr>
          <a:xfrm>
            <a:off x="566928" y="3703320"/>
            <a:ext cx="5852160" cy="109728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The number in the middle is the weighted total. The arcs draw themselves in on first paint, one after another, so the eye follows the contribution order.</a:t>
            </a:r>
            <a:endParaRPr lang="en-US" sz="1400" dirty="0"/>
          </a:p>
        </p:txBody>
      </p:sp>
      <p:sp>
        <p:nvSpPr>
          <p:cNvPr id="9" name="Shape 6"/>
          <p:cNvSpPr/>
          <p:nvPr/>
        </p:nvSpPr>
        <p:spPr>
          <a:xfrm>
            <a:off x="6876288" y="1645920"/>
            <a:ext cx="4745736" cy="1554480"/>
          </a:xfrm>
          <a:prstGeom prst="roundRect">
            <a:avLst>
              <a:gd name="adj" fmla="val 5882"/>
            </a:avLst>
          </a:prstGeom>
          <a:solidFill>
            <a:srgbClr val="161F1C"/>
          </a:solidFill>
          <a:ln w="12700">
            <a:solidFill>
              <a:srgbClr val="1D2926"/>
            </a:solidFill>
            <a:prstDash val="solid"/>
          </a:ln>
        </p:spPr>
      </p:sp>
      <p:sp>
        <p:nvSpPr>
          <p:cNvPr id="10" name="Text 7"/>
          <p:cNvSpPr txBox="1"/>
          <p:nvPr/>
        </p:nvSpPr>
        <p:spPr>
          <a:xfrm>
            <a:off x="7095744" y="1828800"/>
            <a:ext cx="4306824" cy="310896"/>
          </a:xfrm>
          <a:prstGeom prst="rect">
            <a:avLst/>
          </a:prstGeom>
          <a:noFill/>
          <a:ln/>
        </p:spPr>
        <p:txBody>
          <a:bodyPr wrap="square" lIns="0" tIns="0" rIns="0" bIns="0" rtlCol="0" anchor="ctr"/>
          <a:lstStyle/>
          <a:p>
            <a:pPr indent="0" marL="0">
              <a:buNone/>
            </a:pPr>
            <a:r>
              <a:rPr lang="en-US" sz="1400" b="1" dirty="0">
                <a:solidFill>
                  <a:srgbClr val="2FD8A0"/>
                </a:solidFill>
                <a:latin typeface="Arial" pitchFamily="34" charset="0"/>
                <a:ea typeface="Arial" pitchFamily="34" charset="-122"/>
                <a:cs typeface="Arial" pitchFamily="34" charset="-120"/>
              </a:rPr>
              <a:t>Why a ring, not a bar</a:t>
            </a:r>
            <a:endParaRPr lang="en-US" sz="1400" dirty="0"/>
          </a:p>
        </p:txBody>
      </p:sp>
      <p:sp>
        <p:nvSpPr>
          <p:cNvPr id="11" name="Text 8"/>
          <p:cNvSpPr txBox="1"/>
          <p:nvPr/>
        </p:nvSpPr>
        <p:spPr>
          <a:xfrm>
            <a:off x="7095744" y="2194560"/>
            <a:ext cx="4306824" cy="86868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A single score is a part-to-whole relationship. A ring shows the whole and the parts in one shape, and the empty arc is as readable as the filled one.</a:t>
            </a:r>
            <a:endParaRPr lang="en-US" sz="1250" dirty="0"/>
          </a:p>
        </p:txBody>
      </p:sp>
      <p:sp>
        <p:nvSpPr>
          <p:cNvPr id="12" name="Shape 9"/>
          <p:cNvSpPr/>
          <p:nvPr/>
        </p:nvSpPr>
        <p:spPr>
          <a:xfrm>
            <a:off x="6876288" y="3383280"/>
            <a:ext cx="4745736" cy="1554480"/>
          </a:xfrm>
          <a:prstGeom prst="roundRect">
            <a:avLst>
              <a:gd name="adj" fmla="val 5882"/>
            </a:avLst>
          </a:prstGeom>
          <a:solidFill>
            <a:srgbClr val="161F1C"/>
          </a:solidFill>
          <a:ln w="12700">
            <a:solidFill>
              <a:srgbClr val="1D2926"/>
            </a:solidFill>
            <a:prstDash val="solid"/>
          </a:ln>
        </p:spPr>
      </p:sp>
      <p:sp>
        <p:nvSpPr>
          <p:cNvPr id="13" name="Text 10"/>
          <p:cNvSpPr txBox="1"/>
          <p:nvPr/>
        </p:nvSpPr>
        <p:spPr>
          <a:xfrm>
            <a:off x="7095744" y="3566160"/>
            <a:ext cx="4306824" cy="310896"/>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The "At risk" pill</a:t>
            </a:r>
            <a:endParaRPr lang="en-US" sz="1400" dirty="0"/>
          </a:p>
        </p:txBody>
      </p:sp>
      <p:sp>
        <p:nvSpPr>
          <p:cNvPr id="14" name="Text 11"/>
          <p:cNvSpPr txBox="1"/>
          <p:nvPr/>
        </p:nvSpPr>
        <p:spPr>
          <a:xfrm>
            <a:off x="7095744" y="3931920"/>
            <a:ext cx="4306824" cy="86868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Shown below the ring when the grade is D, so the headline is never just a number without a verdict.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radar (spider) chart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66928" y="1600200"/>
            <a:ext cx="3514344" cy="2651760"/>
          </a:xfrm>
          <a:prstGeom prst="roundRect">
            <a:avLst>
              <a:gd name="adj" fmla="val 3448"/>
            </a:avLst>
          </a:prstGeom>
          <a:solidFill>
            <a:srgbClr val="161F1C"/>
          </a:solidFill>
          <a:ln w="12700">
            <a:solidFill>
              <a:srgbClr val="1D2926"/>
            </a:solidFill>
            <a:prstDash val="solid"/>
          </a:ln>
        </p:spPr>
      </p:sp>
      <p:sp>
        <p:nvSpPr>
          <p:cNvPr id="7" name="Text 4"/>
          <p:cNvSpPr txBox="1"/>
          <p:nvPr/>
        </p:nvSpPr>
        <p:spPr>
          <a:xfrm>
            <a:off x="804672" y="18013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What it plots</a:t>
            </a:r>
            <a:endParaRPr lang="en-US" sz="1500" dirty="0"/>
          </a:p>
        </p:txBody>
      </p:sp>
      <p:sp>
        <p:nvSpPr>
          <p:cNvPr id="8" name="Text 5"/>
          <p:cNvSpPr txBox="1"/>
          <p:nvPr/>
        </p:nvSpPr>
        <p:spPr>
          <a:xfrm>
            <a:off x="804672"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Five axes, one per pillar, each 0 at the centre and 100 at the rim. The shape drawn by joining the five points is the shape of your financial health.</a:t>
            </a:r>
            <a:endParaRPr lang="en-US" sz="1300" dirty="0"/>
          </a:p>
        </p:txBody>
      </p:sp>
      <p:sp>
        <p:nvSpPr>
          <p:cNvPr id="9" name="Shape 6"/>
          <p:cNvSpPr/>
          <p:nvPr/>
        </p:nvSpPr>
        <p:spPr>
          <a:xfrm>
            <a:off x="4337304" y="1600200"/>
            <a:ext cx="3514344" cy="2651760"/>
          </a:xfrm>
          <a:prstGeom prst="roundRect">
            <a:avLst>
              <a:gd name="adj" fmla="val 3448"/>
            </a:avLst>
          </a:prstGeom>
          <a:solidFill>
            <a:srgbClr val="161F1C"/>
          </a:solidFill>
          <a:ln w="12700">
            <a:solidFill>
              <a:srgbClr val="1D2926"/>
            </a:solidFill>
            <a:prstDash val="solid"/>
          </a:ln>
        </p:spPr>
      </p:sp>
      <p:sp>
        <p:nvSpPr>
          <p:cNvPr id="10" name="Text 7"/>
          <p:cNvSpPr txBox="1"/>
          <p:nvPr/>
        </p:nvSpPr>
        <p:spPr>
          <a:xfrm>
            <a:off x="4575048" y="18013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How to read it</a:t>
            </a:r>
            <a:endParaRPr lang="en-US" sz="1500" dirty="0"/>
          </a:p>
        </p:txBody>
      </p:sp>
      <p:sp>
        <p:nvSpPr>
          <p:cNvPr id="11" name="Text 8"/>
          <p:cNvSpPr txBox="1"/>
          <p:nvPr/>
        </p:nvSpPr>
        <p:spPr>
          <a:xfrm>
            <a:off x="4575048"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A balanced plan is a regular pentagon. A spike means one strength carrying the score; a dent means a specific weakness. Aarav dents hard on Protection and Investing.</a:t>
            </a:r>
            <a:endParaRPr lang="en-US" sz="1300" dirty="0"/>
          </a:p>
        </p:txBody>
      </p:sp>
      <p:sp>
        <p:nvSpPr>
          <p:cNvPr id="12" name="Shape 9"/>
          <p:cNvSpPr/>
          <p:nvPr/>
        </p:nvSpPr>
        <p:spPr>
          <a:xfrm>
            <a:off x="8107680" y="1600200"/>
            <a:ext cx="3514344" cy="2651760"/>
          </a:xfrm>
          <a:prstGeom prst="roundRect">
            <a:avLst>
              <a:gd name="adj" fmla="val 3448"/>
            </a:avLst>
          </a:prstGeom>
          <a:solidFill>
            <a:srgbClr val="161F1C"/>
          </a:solidFill>
          <a:ln w="12700">
            <a:solidFill>
              <a:srgbClr val="1D2926"/>
            </a:solidFill>
            <a:prstDash val="solid"/>
          </a:ln>
        </p:spPr>
      </p:sp>
      <p:sp>
        <p:nvSpPr>
          <p:cNvPr id="13" name="Text 10"/>
          <p:cNvSpPr txBox="1"/>
          <p:nvPr/>
        </p:nvSpPr>
        <p:spPr>
          <a:xfrm>
            <a:off x="8345424" y="18013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Why it earns a place</a:t>
            </a:r>
            <a:endParaRPr lang="en-US" sz="1500" dirty="0"/>
          </a:p>
        </p:txBody>
      </p:sp>
      <p:sp>
        <p:nvSpPr>
          <p:cNvPr id="14" name="Text 11"/>
          <p:cNvSpPr txBox="1"/>
          <p:nvPr/>
        </p:nvSpPr>
        <p:spPr>
          <a:xfrm>
            <a:off x="8345424"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The ring gives you one number. The radar answers the next question instantly — where is it weak? — without reading five separate bars.</a:t>
            </a:r>
            <a:endParaRPr lang="en-US" sz="1300" dirty="0"/>
          </a:p>
        </p:txBody>
      </p:sp>
      <p:sp>
        <p:nvSpPr>
          <p:cNvPr id="15" name="Text 12"/>
          <p:cNvSpPr txBox="1"/>
          <p:nvPr/>
        </p:nvSpPr>
        <p:spPr>
          <a:xfrm>
            <a:off x="566928" y="4617720"/>
            <a:ext cx="11055096" cy="91440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Note the honest limitation: a radar chart’s enclosed area is not meaningful — it changes if you reorder the axes. We use it only for the shape, and the real arithmetic sits in the bars underneath.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pillar bars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17</a:t>
            </a:r>
            <a:endParaRPr lang="en-US" sz="1000" dirty="0"/>
          </a:p>
        </p:txBody>
      </p:sp>
      <p:sp>
        <p:nvSpPr>
          <p:cNvPr id="6" name="Text 3"/>
          <p:cNvSpPr txBox="1"/>
          <p:nvPr/>
        </p:nvSpPr>
        <p:spPr>
          <a:xfrm>
            <a:off x="566928" y="1645920"/>
            <a:ext cx="5298948" cy="9144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One horizontal bar per pillar, labelled with its weight, its score out of 100, and — the part that matters — a sentence of arithmetic underneath.</a:t>
            </a:r>
            <a:endParaRPr lang="en-US" sz="1500" dirty="0"/>
          </a:p>
        </p:txBody>
      </p:sp>
      <p:sp>
        <p:nvSpPr>
          <p:cNvPr id="7" name="Shape 4"/>
          <p:cNvSpPr/>
          <p:nvPr/>
        </p:nvSpPr>
        <p:spPr>
          <a:xfrm>
            <a:off x="566928" y="2697480"/>
            <a:ext cx="5298948" cy="713232"/>
          </a:xfrm>
          <a:prstGeom prst="roundRect">
            <a:avLst>
              <a:gd name="adj" fmla="val 10256"/>
            </a:avLst>
          </a:prstGeom>
          <a:solidFill>
            <a:srgbClr val="161F1C"/>
          </a:solidFill>
          <a:ln w="12700">
            <a:solidFill>
              <a:srgbClr val="1D2926"/>
            </a:solidFill>
            <a:prstDash val="solid"/>
          </a:ln>
        </p:spPr>
      </p:sp>
      <p:sp>
        <p:nvSpPr>
          <p:cNvPr id="8" name="Shape 5"/>
          <p:cNvSpPr/>
          <p:nvPr/>
        </p:nvSpPr>
        <p:spPr>
          <a:xfrm>
            <a:off x="566928" y="2779776"/>
            <a:ext cx="45720" cy="548640"/>
          </a:xfrm>
          <a:prstGeom prst="rect">
            <a:avLst/>
          </a:prstGeom>
          <a:solidFill>
            <a:srgbClr val="FF5C7A"/>
          </a:solidFill>
          <a:ln w="12700">
            <a:solidFill>
              <a:srgbClr val="FF5C7A"/>
            </a:solidFill>
            <a:prstDash val="solid"/>
          </a:ln>
        </p:spPr>
      </p:sp>
      <p:sp>
        <p:nvSpPr>
          <p:cNvPr id="9" name="Text 6"/>
          <p:cNvSpPr txBox="1"/>
          <p:nvPr/>
        </p:nvSpPr>
        <p:spPr>
          <a:xfrm>
            <a:off x="786384" y="2788920"/>
            <a:ext cx="4860036" cy="54864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"1.3 months of expenses in reserve (target 6); life cover 0.0x income."</a:t>
            </a:r>
            <a:endParaRPr lang="en-US" sz="1200" dirty="0"/>
          </a:p>
        </p:txBody>
      </p:sp>
      <p:sp>
        <p:nvSpPr>
          <p:cNvPr id="10" name="Shape 7"/>
          <p:cNvSpPr/>
          <p:nvPr/>
        </p:nvSpPr>
        <p:spPr>
          <a:xfrm>
            <a:off x="566928" y="3520440"/>
            <a:ext cx="5298948" cy="713232"/>
          </a:xfrm>
          <a:prstGeom prst="roundRect">
            <a:avLst>
              <a:gd name="adj" fmla="val 10256"/>
            </a:avLst>
          </a:prstGeom>
          <a:solidFill>
            <a:srgbClr val="161F1C"/>
          </a:solidFill>
          <a:ln w="12700">
            <a:solidFill>
              <a:srgbClr val="1D2926"/>
            </a:solidFill>
            <a:prstDash val="solid"/>
          </a:ln>
        </p:spPr>
      </p:sp>
      <p:sp>
        <p:nvSpPr>
          <p:cNvPr id="11" name="Shape 8"/>
          <p:cNvSpPr/>
          <p:nvPr/>
        </p:nvSpPr>
        <p:spPr>
          <a:xfrm>
            <a:off x="566928" y="3602736"/>
            <a:ext cx="45720" cy="548640"/>
          </a:xfrm>
          <a:prstGeom prst="rect">
            <a:avLst/>
          </a:prstGeom>
          <a:solidFill>
            <a:srgbClr val="E8A33D"/>
          </a:solidFill>
          <a:ln w="12700">
            <a:solidFill>
              <a:srgbClr val="E8A33D"/>
            </a:solidFill>
            <a:prstDash val="solid"/>
          </a:ln>
        </p:spPr>
      </p:sp>
      <p:sp>
        <p:nvSpPr>
          <p:cNvPr id="12" name="Text 9"/>
          <p:cNvSpPr txBox="1"/>
          <p:nvPr/>
        </p:nvSpPr>
        <p:spPr>
          <a:xfrm>
            <a:off x="786384" y="3611880"/>
            <a:ext cx="4860036" cy="54864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"Saving 13.5% of income; a 20% rate scores full marks."</a:t>
            </a:r>
            <a:endParaRPr lang="en-US" sz="1200" dirty="0"/>
          </a:p>
        </p:txBody>
      </p:sp>
      <p:sp>
        <p:nvSpPr>
          <p:cNvPr id="13" name="Shape 10"/>
          <p:cNvSpPr/>
          <p:nvPr/>
        </p:nvSpPr>
        <p:spPr>
          <a:xfrm>
            <a:off x="566928" y="4343400"/>
            <a:ext cx="5298948" cy="713232"/>
          </a:xfrm>
          <a:prstGeom prst="roundRect">
            <a:avLst>
              <a:gd name="adj" fmla="val 10256"/>
            </a:avLst>
          </a:prstGeom>
          <a:solidFill>
            <a:srgbClr val="161F1C"/>
          </a:solidFill>
          <a:ln w="12700">
            <a:solidFill>
              <a:srgbClr val="1D2926"/>
            </a:solidFill>
            <a:prstDash val="solid"/>
          </a:ln>
        </p:spPr>
      </p:sp>
      <p:sp>
        <p:nvSpPr>
          <p:cNvPr id="14" name="Shape 11"/>
          <p:cNvSpPr/>
          <p:nvPr/>
        </p:nvSpPr>
        <p:spPr>
          <a:xfrm>
            <a:off x="566928" y="4425696"/>
            <a:ext cx="45720" cy="548640"/>
          </a:xfrm>
          <a:prstGeom prst="rect">
            <a:avLst/>
          </a:prstGeom>
          <a:solidFill>
            <a:srgbClr val="2FD8A0"/>
          </a:solidFill>
          <a:ln w="12700">
            <a:solidFill>
              <a:srgbClr val="2FD8A0"/>
            </a:solidFill>
            <a:prstDash val="solid"/>
          </a:ln>
        </p:spPr>
      </p:sp>
      <p:sp>
        <p:nvSpPr>
          <p:cNvPr id="15" name="Text 12"/>
          <p:cNvSpPr txBox="1"/>
          <p:nvPr/>
        </p:nvSpPr>
        <p:spPr>
          <a:xfrm>
            <a:off x="786384" y="4434840"/>
            <a:ext cx="4860036" cy="548640"/>
          </a:xfrm>
          <a:prstGeom prst="rect">
            <a:avLst/>
          </a:prstGeom>
          <a:noFill/>
          <a:ln/>
        </p:spPr>
        <p:txBody>
          <a:bodyPr wrap="square" lIns="0" tIns="0" rIns="0" bIns="0" rtlCol="0" anchor="ctr"/>
          <a:lstStyle/>
          <a:p>
            <a:pPr indent="0" marL="0">
              <a:buNone/>
            </a:pPr>
            <a:r>
              <a:rPr lang="en-US" sz="1200" dirty="0">
                <a:solidFill>
                  <a:srgbClr val="93A49D"/>
                </a:solidFill>
                <a:latin typeface="Calibri" pitchFamily="34" charset="0"/>
                <a:ea typeface="Calibri" pitchFamily="34" charset="-122"/>
                <a:cs typeface="Calibri" pitchFamily="34" charset="-120"/>
              </a:rPr>
              <a:t>"EMIs are 18% of income, with high-interest debt outstanding."</a:t>
            </a:r>
            <a:endParaRPr lang="en-US" sz="1200" dirty="0"/>
          </a:p>
        </p:txBody>
      </p:sp>
      <p:sp>
        <p:nvSpPr>
          <p:cNvPr id="16" name="Shape 13"/>
          <p:cNvSpPr/>
          <p:nvPr/>
        </p:nvSpPr>
        <p:spPr>
          <a:xfrm>
            <a:off x="6323076" y="1645920"/>
            <a:ext cx="5298948" cy="1645920"/>
          </a:xfrm>
          <a:prstGeom prst="roundRect">
            <a:avLst>
              <a:gd name="adj" fmla="val 5556"/>
            </a:avLst>
          </a:prstGeom>
          <a:solidFill>
            <a:srgbClr val="161F1C"/>
          </a:solidFill>
          <a:ln w="12700">
            <a:solidFill>
              <a:srgbClr val="1D2926"/>
            </a:solidFill>
            <a:prstDash val="solid"/>
          </a:ln>
        </p:spPr>
      </p:sp>
      <p:sp>
        <p:nvSpPr>
          <p:cNvPr id="17" name="Text 14"/>
          <p:cNvSpPr txBox="1"/>
          <p:nvPr/>
        </p:nvSpPr>
        <p:spPr>
          <a:xfrm>
            <a:off x="6542532" y="1828800"/>
            <a:ext cx="4860036" cy="310896"/>
          </a:xfrm>
          <a:prstGeom prst="rect">
            <a:avLst/>
          </a:prstGeom>
          <a:noFill/>
          <a:ln/>
        </p:spPr>
        <p:txBody>
          <a:bodyPr wrap="square" lIns="0" tIns="0" rIns="0" bIns="0" rtlCol="0" anchor="ctr"/>
          <a:lstStyle/>
          <a:p>
            <a:pPr indent="0" marL="0">
              <a:buNone/>
            </a:pPr>
            <a:r>
              <a:rPr lang="en-US" sz="1400" b="1" dirty="0">
                <a:solidFill>
                  <a:srgbClr val="2FD8A0"/>
                </a:solidFill>
                <a:latin typeface="Arial" pitchFamily="34" charset="0"/>
                <a:ea typeface="Arial" pitchFamily="34" charset="-122"/>
                <a:cs typeface="Arial" pitchFamily="34" charset="-120"/>
              </a:rPr>
              <a:t>Colour is a threshold, not decoration</a:t>
            </a:r>
            <a:endParaRPr lang="en-US" sz="1400" dirty="0"/>
          </a:p>
        </p:txBody>
      </p:sp>
      <p:sp>
        <p:nvSpPr>
          <p:cNvPr id="18" name="Text 15"/>
          <p:cNvSpPr txBox="1"/>
          <p:nvPr/>
        </p:nvSpPr>
        <p:spPr>
          <a:xfrm>
            <a:off x="6542532" y="2194560"/>
            <a:ext cx="4860036" cy="96012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Red below 40, amber below 70, green above. The same thresholds are used everywhere in the app, so colour means one thing.</a:t>
            </a:r>
            <a:endParaRPr lang="en-US" sz="1250" dirty="0"/>
          </a:p>
        </p:txBody>
      </p:sp>
      <p:sp>
        <p:nvSpPr>
          <p:cNvPr id="19" name="Shape 16"/>
          <p:cNvSpPr/>
          <p:nvPr/>
        </p:nvSpPr>
        <p:spPr>
          <a:xfrm>
            <a:off x="6323076" y="3474720"/>
            <a:ext cx="5298948" cy="1645920"/>
          </a:xfrm>
          <a:prstGeom prst="roundRect">
            <a:avLst>
              <a:gd name="adj" fmla="val 5556"/>
            </a:avLst>
          </a:prstGeom>
          <a:solidFill>
            <a:srgbClr val="161F1C"/>
          </a:solidFill>
          <a:ln w="12700">
            <a:solidFill>
              <a:srgbClr val="1D2926"/>
            </a:solidFill>
            <a:prstDash val="solid"/>
          </a:ln>
        </p:spPr>
      </p:sp>
      <p:sp>
        <p:nvSpPr>
          <p:cNvPr id="20" name="Text 17"/>
          <p:cNvSpPr txBox="1"/>
          <p:nvPr/>
        </p:nvSpPr>
        <p:spPr>
          <a:xfrm>
            <a:off x="6542532" y="3657600"/>
            <a:ext cx="4860036" cy="310896"/>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You can disagree with it</a:t>
            </a:r>
            <a:endParaRPr lang="en-US" sz="1400" dirty="0"/>
          </a:p>
        </p:txBody>
      </p:sp>
      <p:sp>
        <p:nvSpPr>
          <p:cNvPr id="21" name="Text 18"/>
          <p:cNvSpPr txBox="1"/>
          <p:nvPr/>
        </p:nvSpPr>
        <p:spPr>
          <a:xfrm>
            <a:off x="6542532" y="4023360"/>
            <a:ext cx="4860036" cy="96012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Because the sentence names the input and the target, you can check the claim. "Target 6 months" is itself editable on the Assumptions page.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Goal funding — the bullet chart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18</a:t>
            </a:r>
            <a:endParaRPr lang="en-US" sz="1000" dirty="0"/>
          </a:p>
        </p:txBody>
      </p:sp>
      <p:pic>
        <p:nvPicPr>
          <p:cNvPr id="6" name="Image 0" descr="C:\Users\deepa\AppData\Local\Temp\claude\C--Users-deepa-OneDrive-Desktop-BroadBridge\76219d84-4fcb-4f71-a8fc-a638015e9df8\scratchpad\shots\goal-funding.jpg">    </p:cNvPr>
          <p:cNvPicPr>
            <a:picLocks noChangeAspect="1"/>
          </p:cNvPicPr>
          <p:nvPr/>
        </p:nvPicPr>
        <p:blipFill>
          <a:blip r:embed="rId1"/>
          <a:srcRect l="0" r="0" t="0" b="0"/>
          <a:stretch/>
        </p:blipFill>
        <p:spPr>
          <a:xfrm>
            <a:off x="2656012" y="1572768"/>
            <a:ext cx="6876928" cy="3017520"/>
          </a:xfrm>
          <a:prstGeom prst="rect">
            <a:avLst/>
          </a:prstGeom>
        </p:spPr>
      </p:pic>
      <p:sp>
        <p:nvSpPr>
          <p:cNvPr id="7" name="Shape 3"/>
          <p:cNvSpPr/>
          <p:nvPr/>
        </p:nvSpPr>
        <p:spPr>
          <a:xfrm>
            <a:off x="566928" y="4754880"/>
            <a:ext cx="3514344" cy="1508760"/>
          </a:xfrm>
          <a:prstGeom prst="roundRect">
            <a:avLst>
              <a:gd name="adj" fmla="val 6061"/>
            </a:avLst>
          </a:prstGeom>
          <a:solidFill>
            <a:srgbClr val="161F1C"/>
          </a:solidFill>
          <a:ln w="12700">
            <a:solidFill>
              <a:srgbClr val="1D2926"/>
            </a:solidFill>
            <a:prstDash val="solid"/>
          </a:ln>
        </p:spPr>
      </p:sp>
      <p:sp>
        <p:nvSpPr>
          <p:cNvPr id="8" name="Text 4"/>
          <p:cNvSpPr txBox="1"/>
          <p:nvPr/>
        </p:nvSpPr>
        <p:spPr>
          <a:xfrm>
            <a:off x="804672" y="495604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The bar</a:t>
            </a:r>
            <a:endParaRPr lang="en-US" sz="1500" dirty="0"/>
          </a:p>
        </p:txBody>
      </p:sp>
      <p:sp>
        <p:nvSpPr>
          <p:cNvPr id="9" name="Text 5"/>
          <p:cNvSpPr txBox="1"/>
          <p:nvPr/>
        </p:nvSpPr>
        <p:spPr>
          <a:xfrm>
            <a:off x="804672" y="5559552"/>
            <a:ext cx="3038856" cy="502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How much of the goal is funded on current behaviour. Emergency Fund is 40% funded.</a:t>
            </a:r>
            <a:endParaRPr lang="en-US" sz="1300" dirty="0"/>
          </a:p>
        </p:txBody>
      </p:sp>
      <p:sp>
        <p:nvSpPr>
          <p:cNvPr id="10" name="Shape 6"/>
          <p:cNvSpPr/>
          <p:nvPr/>
        </p:nvSpPr>
        <p:spPr>
          <a:xfrm>
            <a:off x="4337304" y="4754880"/>
            <a:ext cx="3514344" cy="1508760"/>
          </a:xfrm>
          <a:prstGeom prst="roundRect">
            <a:avLst>
              <a:gd name="adj" fmla="val 6061"/>
            </a:avLst>
          </a:prstGeom>
          <a:solidFill>
            <a:srgbClr val="161F1C"/>
          </a:solidFill>
          <a:ln w="12700">
            <a:solidFill>
              <a:srgbClr val="1D2926"/>
            </a:solidFill>
            <a:prstDash val="solid"/>
          </a:ln>
        </p:spPr>
      </p:sp>
      <p:sp>
        <p:nvSpPr>
          <p:cNvPr id="11" name="Text 7"/>
          <p:cNvSpPr txBox="1"/>
          <p:nvPr/>
        </p:nvSpPr>
        <p:spPr>
          <a:xfrm>
            <a:off x="4575048" y="495604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The tick</a:t>
            </a:r>
            <a:endParaRPr lang="en-US" sz="1500" dirty="0"/>
          </a:p>
        </p:txBody>
      </p:sp>
      <p:sp>
        <p:nvSpPr>
          <p:cNvPr id="12" name="Text 8"/>
          <p:cNvSpPr txBox="1"/>
          <p:nvPr/>
        </p:nvSpPr>
        <p:spPr>
          <a:xfrm>
            <a:off x="4575048" y="5559552"/>
            <a:ext cx="3038856" cy="502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The vertical marker is the 100% line. Every goal is measured against its own target, so different sizes share one scale.</a:t>
            </a:r>
            <a:endParaRPr lang="en-US" sz="1300" dirty="0"/>
          </a:p>
        </p:txBody>
      </p:sp>
      <p:sp>
        <p:nvSpPr>
          <p:cNvPr id="13" name="Shape 9"/>
          <p:cNvSpPr/>
          <p:nvPr/>
        </p:nvSpPr>
        <p:spPr>
          <a:xfrm>
            <a:off x="8107680" y="4754880"/>
            <a:ext cx="3514344" cy="1508760"/>
          </a:xfrm>
          <a:prstGeom prst="roundRect">
            <a:avLst>
              <a:gd name="adj" fmla="val 6061"/>
            </a:avLst>
          </a:prstGeom>
          <a:solidFill>
            <a:srgbClr val="161F1C"/>
          </a:solidFill>
          <a:ln w="12700">
            <a:solidFill>
              <a:srgbClr val="1D2926"/>
            </a:solidFill>
            <a:prstDash val="solid"/>
          </a:ln>
        </p:spPr>
      </p:sp>
      <p:sp>
        <p:nvSpPr>
          <p:cNvPr id="14" name="Text 10"/>
          <p:cNvSpPr txBox="1"/>
          <p:nvPr/>
        </p:nvSpPr>
        <p:spPr>
          <a:xfrm>
            <a:off x="8345424" y="495604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The fix</a:t>
            </a:r>
            <a:endParaRPr lang="en-US" sz="1500" dirty="0"/>
          </a:p>
        </p:txBody>
      </p:sp>
      <p:sp>
        <p:nvSpPr>
          <p:cNvPr id="15" name="Text 11"/>
          <p:cNvSpPr txBox="1"/>
          <p:nvPr/>
        </p:nvSpPr>
        <p:spPr>
          <a:xfrm>
            <a:off x="8345424" y="5559552"/>
            <a:ext cx="3038856" cy="502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The right column states the monthly contribution that would close the gap. Advice, not just diagnosis.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DASHBOARD — CASHFLOW</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Where your money goes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19</a:t>
            </a:r>
            <a:endParaRPr lang="en-US" sz="1000" dirty="0"/>
          </a:p>
        </p:txBody>
      </p:sp>
      <p:sp>
        <p:nvSpPr>
          <p:cNvPr id="6" name="Text 3"/>
          <p:cNvSpPr txBox="1"/>
          <p:nvPr/>
        </p:nvSpPr>
        <p:spPr>
          <a:xfrm>
            <a:off x="566928" y="1645920"/>
            <a:ext cx="5298948" cy="118872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A ranked horizontal bar per spending category, with the rupee amount and the share of income. Sorted largest first, because the top two rows are where any real change happens.</a:t>
            </a:r>
            <a:endParaRPr lang="en-US" sz="1500" dirty="0"/>
          </a:p>
        </p:txBody>
      </p:sp>
      <p:sp>
        <p:nvSpPr>
          <p:cNvPr id="7" name="Text 4"/>
          <p:cNvSpPr txBox="1"/>
          <p:nvPr/>
        </p:nvSpPr>
        <p:spPr>
          <a:xfrm>
            <a:off x="566928" y="2880360"/>
            <a:ext cx="5298948" cy="54864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From this the engine derives three figures that feed the rest of the platform:</a:t>
            </a:r>
            <a:endParaRPr lang="en-US" sz="1400" dirty="0"/>
          </a:p>
        </p:txBody>
      </p:sp>
      <p:sp>
        <p:nvSpPr>
          <p:cNvPr id="8" name="Shape 5"/>
          <p:cNvSpPr/>
          <p:nvPr/>
        </p:nvSpPr>
        <p:spPr>
          <a:xfrm>
            <a:off x="6323076" y="1645920"/>
            <a:ext cx="5298948" cy="731520"/>
          </a:xfrm>
          <a:prstGeom prst="roundRect">
            <a:avLst>
              <a:gd name="adj" fmla="val 8750"/>
            </a:avLst>
          </a:prstGeom>
          <a:solidFill>
            <a:srgbClr val="161F1C"/>
          </a:solidFill>
          <a:ln w="12700">
            <a:solidFill>
              <a:srgbClr val="1D2926"/>
            </a:solidFill>
            <a:prstDash val="solid"/>
          </a:ln>
        </p:spPr>
      </p:sp>
      <p:sp>
        <p:nvSpPr>
          <p:cNvPr id="9" name="Text 6"/>
          <p:cNvSpPr txBox="1"/>
          <p:nvPr/>
        </p:nvSpPr>
        <p:spPr>
          <a:xfrm>
            <a:off x="6524244" y="1737360"/>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Monthly surplus</a:t>
            </a:r>
            <a:endParaRPr lang="en-US" sz="1300" dirty="0"/>
          </a:p>
        </p:txBody>
      </p:sp>
      <p:sp>
        <p:nvSpPr>
          <p:cNvPr id="10" name="Text 7"/>
          <p:cNvSpPr txBox="1"/>
          <p:nvPr/>
        </p:nvSpPr>
        <p:spPr>
          <a:xfrm>
            <a:off x="9237497" y="1737360"/>
            <a:ext cx="2183359" cy="548640"/>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income − expenses − EMIs − goals</a:t>
            </a:r>
            <a:endParaRPr lang="en-US" sz="1300" dirty="0"/>
          </a:p>
        </p:txBody>
      </p:sp>
      <p:sp>
        <p:nvSpPr>
          <p:cNvPr id="11" name="Shape 8"/>
          <p:cNvSpPr/>
          <p:nvPr/>
        </p:nvSpPr>
        <p:spPr>
          <a:xfrm>
            <a:off x="6323076" y="2505456"/>
            <a:ext cx="5298948" cy="731520"/>
          </a:xfrm>
          <a:prstGeom prst="roundRect">
            <a:avLst>
              <a:gd name="adj" fmla="val 8750"/>
            </a:avLst>
          </a:prstGeom>
          <a:solidFill>
            <a:srgbClr val="161F1C"/>
          </a:solidFill>
          <a:ln w="12700">
            <a:solidFill>
              <a:srgbClr val="1D2926"/>
            </a:solidFill>
            <a:prstDash val="solid"/>
          </a:ln>
        </p:spPr>
      </p:sp>
      <p:sp>
        <p:nvSpPr>
          <p:cNvPr id="12" name="Text 9"/>
          <p:cNvSpPr txBox="1"/>
          <p:nvPr/>
        </p:nvSpPr>
        <p:spPr>
          <a:xfrm>
            <a:off x="6524244" y="2596896"/>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Savings rate</a:t>
            </a:r>
            <a:endParaRPr lang="en-US" sz="1300" dirty="0"/>
          </a:p>
        </p:txBody>
      </p:sp>
      <p:sp>
        <p:nvSpPr>
          <p:cNvPr id="13" name="Text 10"/>
          <p:cNvSpPr txBox="1"/>
          <p:nvPr/>
        </p:nvSpPr>
        <p:spPr>
          <a:xfrm>
            <a:off x="9237497" y="2596896"/>
            <a:ext cx="2183359" cy="548640"/>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scored against 20%</a:t>
            </a:r>
            <a:endParaRPr lang="en-US" sz="1300" dirty="0"/>
          </a:p>
        </p:txBody>
      </p:sp>
      <p:sp>
        <p:nvSpPr>
          <p:cNvPr id="14" name="Shape 11"/>
          <p:cNvSpPr/>
          <p:nvPr/>
        </p:nvSpPr>
        <p:spPr>
          <a:xfrm>
            <a:off x="6323076" y="3364992"/>
            <a:ext cx="5298948" cy="731520"/>
          </a:xfrm>
          <a:prstGeom prst="roundRect">
            <a:avLst>
              <a:gd name="adj" fmla="val 8750"/>
            </a:avLst>
          </a:prstGeom>
          <a:solidFill>
            <a:srgbClr val="161F1C"/>
          </a:solidFill>
          <a:ln w="12700">
            <a:solidFill>
              <a:srgbClr val="1D2926"/>
            </a:solidFill>
            <a:prstDash val="solid"/>
          </a:ln>
        </p:spPr>
      </p:sp>
      <p:sp>
        <p:nvSpPr>
          <p:cNvPr id="15" name="Text 12"/>
          <p:cNvSpPr txBox="1"/>
          <p:nvPr/>
        </p:nvSpPr>
        <p:spPr>
          <a:xfrm>
            <a:off x="6524244" y="3456432"/>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Debt-to-income</a:t>
            </a:r>
            <a:endParaRPr lang="en-US" sz="1300" dirty="0"/>
          </a:p>
        </p:txBody>
      </p:sp>
      <p:sp>
        <p:nvSpPr>
          <p:cNvPr id="16" name="Text 13"/>
          <p:cNvSpPr txBox="1"/>
          <p:nvPr/>
        </p:nvSpPr>
        <p:spPr>
          <a:xfrm>
            <a:off x="9237497" y="3456432"/>
            <a:ext cx="2183359" cy="548640"/>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drives Debt pillar + risk capacity</a:t>
            </a:r>
            <a:endParaRPr lang="en-US" sz="1300" dirty="0"/>
          </a:p>
        </p:txBody>
      </p:sp>
      <p:sp>
        <p:nvSpPr>
          <p:cNvPr id="17" name="Text 14"/>
          <p:cNvSpPr txBox="1"/>
          <p:nvPr/>
        </p:nvSpPr>
        <p:spPr>
          <a:xfrm>
            <a:off x="566928" y="4526280"/>
            <a:ext cx="11055096" cy="914400"/>
          </a:xfrm>
          <a:prstGeom prst="rect">
            <a:avLst/>
          </a:prstGeom>
          <a:noFill/>
          <a:ln/>
        </p:spPr>
        <p:txBody>
          <a:bodyPr wrap="square" lIns="0" tIns="0" rIns="0" bIns="0" rtlCol="0" anchor="t"/>
          <a:lstStyle/>
          <a:p>
            <a:pPr indent="0" marL="0">
              <a:lnSpc>
                <a:spcPct val="120000"/>
              </a:lnSpc>
              <a:buNone/>
            </a:pPr>
            <a:r>
              <a:rPr lang="en-US" sz="1400" dirty="0">
                <a:solidFill>
                  <a:srgbClr val="E8A33D"/>
                </a:solidFill>
                <a:latin typeface="Calibri" pitchFamily="34" charset="0"/>
                <a:ea typeface="Calibri" pitchFamily="34" charset="-122"/>
                <a:cs typeface="Calibri" pitchFamily="34" charset="-120"/>
              </a:rPr>
              <a:t>Aarav’s surplus is negative — minus 1,200 a month. The platform surfaces that rather than hiding it, because it is the reason every goal recommendation says "the timeline or the target has to move".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DASHBOARD — RISK</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Two-axis risk: tolerance vs capacity</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20</a:t>
            </a:r>
            <a:endParaRPr lang="en-US" sz="1000" dirty="0"/>
          </a:p>
        </p:txBody>
      </p:sp>
      <p:pic>
        <p:nvPicPr>
          <p:cNvPr id="6" name="Image 0" descr="C:\Users\deepa\AppData\Local\Temp\claude\C--Users-deepa-OneDrive-Desktop-BroadBridge\76219d84-4fcb-4f71-a8fc-a638015e9df8\scratchpad\shots\risk-retirement.jpg">    </p:cNvPr>
          <p:cNvPicPr>
            <a:picLocks noChangeAspect="1"/>
          </p:cNvPicPr>
          <p:nvPr/>
        </p:nvPicPr>
        <p:blipFill>
          <a:blip r:embed="rId1"/>
          <a:srcRect l="0" r="0" t="0" b="0"/>
          <a:stretch/>
        </p:blipFill>
        <p:spPr>
          <a:xfrm>
            <a:off x="2864404" y="1572768"/>
            <a:ext cx="6460145" cy="2834640"/>
          </a:xfrm>
          <a:prstGeom prst="rect">
            <a:avLst/>
          </a:prstGeom>
        </p:spPr>
      </p:pic>
      <p:sp>
        <p:nvSpPr>
          <p:cNvPr id="7" name="Shape 3"/>
          <p:cNvSpPr/>
          <p:nvPr/>
        </p:nvSpPr>
        <p:spPr>
          <a:xfrm>
            <a:off x="566928" y="4572000"/>
            <a:ext cx="3514344" cy="1691640"/>
          </a:xfrm>
          <a:prstGeom prst="roundRect">
            <a:avLst>
              <a:gd name="adj" fmla="val 5405"/>
            </a:avLst>
          </a:prstGeom>
          <a:solidFill>
            <a:srgbClr val="161F1C"/>
          </a:solidFill>
          <a:ln w="12700">
            <a:solidFill>
              <a:srgbClr val="1D2926"/>
            </a:solidFill>
            <a:prstDash val="solid"/>
          </a:ln>
        </p:spPr>
      </p:sp>
      <p:sp>
        <p:nvSpPr>
          <p:cNvPr id="8" name="Text 4"/>
          <p:cNvSpPr txBox="1"/>
          <p:nvPr/>
        </p:nvSpPr>
        <p:spPr>
          <a:xfrm>
            <a:off x="804672" y="47731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Tolerance</a:t>
            </a:r>
            <a:endParaRPr lang="en-US" sz="1500" dirty="0"/>
          </a:p>
        </p:txBody>
      </p:sp>
      <p:sp>
        <p:nvSpPr>
          <p:cNvPr id="9" name="Text 5"/>
          <p:cNvSpPr txBox="1"/>
          <p:nvPr/>
        </p:nvSpPr>
        <p:spPr>
          <a:xfrm>
            <a:off x="804672"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From the questionnaire alone. A statement about how you behave when markets fall.</a:t>
            </a:r>
            <a:endParaRPr lang="en-US" sz="1300" dirty="0"/>
          </a:p>
        </p:txBody>
      </p:sp>
      <p:sp>
        <p:nvSpPr>
          <p:cNvPr id="10" name="Shape 6"/>
          <p:cNvSpPr/>
          <p:nvPr/>
        </p:nvSpPr>
        <p:spPr>
          <a:xfrm>
            <a:off x="4337304" y="4572000"/>
            <a:ext cx="3514344" cy="1691640"/>
          </a:xfrm>
          <a:prstGeom prst="roundRect">
            <a:avLst>
              <a:gd name="adj" fmla="val 5405"/>
            </a:avLst>
          </a:prstGeom>
          <a:solidFill>
            <a:srgbClr val="161F1C"/>
          </a:solidFill>
          <a:ln w="12700">
            <a:solidFill>
              <a:srgbClr val="1D2926"/>
            </a:solidFill>
            <a:prstDash val="solid"/>
          </a:ln>
        </p:spPr>
      </p:sp>
      <p:sp>
        <p:nvSpPr>
          <p:cNvPr id="11" name="Text 7"/>
          <p:cNvSpPr txBox="1"/>
          <p:nvPr/>
        </p:nvSpPr>
        <p:spPr>
          <a:xfrm>
            <a:off x="4575048" y="47731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Capacity</a:t>
            </a:r>
            <a:endParaRPr lang="en-US" sz="1500" dirty="0"/>
          </a:p>
        </p:txBody>
      </p:sp>
      <p:sp>
        <p:nvSpPr>
          <p:cNvPr id="12" name="Text 8"/>
          <p:cNvSpPr txBox="1"/>
          <p:nvPr/>
        </p:nvSpPr>
        <p:spPr>
          <a:xfrm>
            <a:off x="4575048"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From the balance sheet: horizon, buffer, dependents, income stability, debt load.</a:t>
            </a:r>
            <a:endParaRPr lang="en-US" sz="1300" dirty="0"/>
          </a:p>
        </p:txBody>
      </p:sp>
      <p:sp>
        <p:nvSpPr>
          <p:cNvPr id="13" name="Shape 9"/>
          <p:cNvSpPr/>
          <p:nvPr/>
        </p:nvSpPr>
        <p:spPr>
          <a:xfrm>
            <a:off x="8107680" y="4572000"/>
            <a:ext cx="3514344" cy="1691640"/>
          </a:xfrm>
          <a:prstGeom prst="roundRect">
            <a:avLst>
              <a:gd name="adj" fmla="val 5405"/>
            </a:avLst>
          </a:prstGeom>
          <a:solidFill>
            <a:srgbClr val="161F1C"/>
          </a:solidFill>
          <a:ln w="12700">
            <a:solidFill>
              <a:srgbClr val="1D2926"/>
            </a:solidFill>
            <a:prstDash val="solid"/>
          </a:ln>
        </p:spPr>
      </p:sp>
      <p:sp>
        <p:nvSpPr>
          <p:cNvPr id="14" name="Text 10"/>
          <p:cNvSpPr txBox="1"/>
          <p:nvPr/>
        </p:nvSpPr>
        <p:spPr>
          <a:xfrm>
            <a:off x="8345424" y="47731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The plan uses the lower</a:t>
            </a:r>
            <a:endParaRPr lang="en-US" sz="1500" dirty="0"/>
          </a:p>
        </p:txBody>
      </p:sp>
      <p:sp>
        <p:nvSpPr>
          <p:cNvPr id="15" name="Text 11"/>
          <p:cNvSpPr txBox="1"/>
          <p:nvPr/>
        </p:nvSpPr>
        <p:spPr>
          <a:xfrm>
            <a:off x="8345424"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You can say you are brave while having three months of runway and a 42% card balance.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DASHBOARD — RETIREMENT</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Corpus required versus projected</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21</a:t>
            </a:r>
            <a:endParaRPr lang="en-US" sz="1000" dirty="0"/>
          </a:p>
        </p:txBody>
      </p:sp>
      <p:sp>
        <p:nvSpPr>
          <p:cNvPr id="6" name="Shape 3"/>
          <p:cNvSpPr/>
          <p:nvPr/>
        </p:nvSpPr>
        <p:spPr>
          <a:xfrm>
            <a:off x="566928" y="1645920"/>
            <a:ext cx="2571750" cy="2011680"/>
          </a:xfrm>
          <a:prstGeom prst="roundRect">
            <a:avLst>
              <a:gd name="adj" fmla="val 4545"/>
            </a:avLst>
          </a:prstGeom>
          <a:solidFill>
            <a:srgbClr val="161F1C"/>
          </a:solidFill>
          <a:ln w="12700">
            <a:solidFill>
              <a:srgbClr val="1D2926"/>
            </a:solidFill>
            <a:prstDash val="solid"/>
          </a:ln>
        </p:spPr>
      </p:sp>
      <p:sp>
        <p:nvSpPr>
          <p:cNvPr id="7" name="Text 4"/>
          <p:cNvSpPr txBox="1"/>
          <p:nvPr/>
        </p:nvSpPr>
        <p:spPr>
          <a:xfrm>
            <a:off x="786384" y="1847088"/>
            <a:ext cx="2132838" cy="274320"/>
          </a:xfrm>
          <a:prstGeom prst="rect">
            <a:avLst/>
          </a:prstGeom>
          <a:noFill/>
          <a:ln/>
        </p:spPr>
        <p:txBody>
          <a:bodyPr wrap="square" lIns="0" tIns="0" rIns="0" bIns="0" rtlCol="0" anchor="ctr"/>
          <a:lstStyle/>
          <a:p>
            <a:pPr indent="0" marL="0">
              <a:buNone/>
            </a:pPr>
            <a:r>
              <a:rPr lang="en-US" sz="1050" spc="100" kern="0" dirty="0">
                <a:solidFill>
                  <a:srgbClr val="93A49D"/>
                </a:solidFill>
                <a:latin typeface="Calibri" pitchFamily="34" charset="0"/>
                <a:ea typeface="Calibri" pitchFamily="34" charset="-122"/>
                <a:cs typeface="Calibri" pitchFamily="34" charset="-120"/>
              </a:rPr>
              <a:t>YEARS TO RETIREMENT</a:t>
            </a:r>
            <a:endParaRPr lang="en-US" sz="1050" dirty="0"/>
          </a:p>
        </p:txBody>
      </p:sp>
      <p:sp>
        <p:nvSpPr>
          <p:cNvPr id="8" name="Text 5"/>
          <p:cNvSpPr txBox="1"/>
          <p:nvPr/>
        </p:nvSpPr>
        <p:spPr>
          <a:xfrm>
            <a:off x="786384" y="2176272"/>
            <a:ext cx="2132838" cy="603504"/>
          </a:xfrm>
          <a:prstGeom prst="rect">
            <a:avLst/>
          </a:prstGeom>
          <a:noFill/>
          <a:ln/>
        </p:spPr>
        <p:txBody>
          <a:bodyPr wrap="square" lIns="0" tIns="0" rIns="0" bIns="0" rtlCol="0" anchor="ctr"/>
          <a:lstStyle/>
          <a:p>
            <a:pPr indent="0" marL="0">
              <a:buNone/>
            </a:pPr>
            <a:r>
              <a:rPr lang="en-US" sz="2600" b="1" dirty="0">
                <a:solidFill>
                  <a:srgbClr val="E9EFEC"/>
                </a:solidFill>
                <a:latin typeface="Arial" pitchFamily="34" charset="0"/>
                <a:ea typeface="Arial" pitchFamily="34" charset="-122"/>
                <a:cs typeface="Arial" pitchFamily="34" charset="-120"/>
              </a:rPr>
              <a:t>34</a:t>
            </a:r>
            <a:endParaRPr lang="en-US" sz="2600" dirty="0"/>
          </a:p>
        </p:txBody>
      </p:sp>
      <p:sp>
        <p:nvSpPr>
          <p:cNvPr id="9" name="Text 6"/>
          <p:cNvSpPr txBox="1"/>
          <p:nvPr/>
        </p:nvSpPr>
        <p:spPr>
          <a:xfrm>
            <a:off x="786384" y="2816352"/>
            <a:ext cx="2132838" cy="6858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retiring at 60</a:t>
            </a:r>
            <a:endParaRPr lang="en-US" sz="1150" dirty="0"/>
          </a:p>
        </p:txBody>
      </p:sp>
      <p:sp>
        <p:nvSpPr>
          <p:cNvPr id="10" name="Shape 7"/>
          <p:cNvSpPr/>
          <p:nvPr/>
        </p:nvSpPr>
        <p:spPr>
          <a:xfrm>
            <a:off x="3394710" y="1645920"/>
            <a:ext cx="2571750" cy="2011680"/>
          </a:xfrm>
          <a:prstGeom prst="roundRect">
            <a:avLst>
              <a:gd name="adj" fmla="val 4545"/>
            </a:avLst>
          </a:prstGeom>
          <a:solidFill>
            <a:srgbClr val="161F1C"/>
          </a:solidFill>
          <a:ln w="12700">
            <a:solidFill>
              <a:srgbClr val="1D2926"/>
            </a:solidFill>
            <a:prstDash val="solid"/>
          </a:ln>
        </p:spPr>
      </p:sp>
      <p:sp>
        <p:nvSpPr>
          <p:cNvPr id="11" name="Text 8"/>
          <p:cNvSpPr txBox="1"/>
          <p:nvPr/>
        </p:nvSpPr>
        <p:spPr>
          <a:xfrm>
            <a:off x="3614166" y="1847088"/>
            <a:ext cx="2132838" cy="274320"/>
          </a:xfrm>
          <a:prstGeom prst="rect">
            <a:avLst/>
          </a:prstGeom>
          <a:noFill/>
          <a:ln/>
        </p:spPr>
        <p:txBody>
          <a:bodyPr wrap="square" lIns="0" tIns="0" rIns="0" bIns="0" rtlCol="0" anchor="ctr"/>
          <a:lstStyle/>
          <a:p>
            <a:pPr indent="0" marL="0">
              <a:buNone/>
            </a:pPr>
            <a:r>
              <a:rPr lang="en-US" sz="1050" spc="100" kern="0" dirty="0">
                <a:solidFill>
                  <a:srgbClr val="93A49D"/>
                </a:solidFill>
                <a:latin typeface="Calibri" pitchFamily="34" charset="0"/>
                <a:ea typeface="Calibri" pitchFamily="34" charset="-122"/>
                <a:cs typeface="Calibri" pitchFamily="34" charset="-120"/>
              </a:rPr>
              <a:t>ANNUAL SPEND THEN</a:t>
            </a:r>
            <a:endParaRPr lang="en-US" sz="1050" dirty="0"/>
          </a:p>
        </p:txBody>
      </p:sp>
      <p:sp>
        <p:nvSpPr>
          <p:cNvPr id="12" name="Text 9"/>
          <p:cNvSpPr txBox="1"/>
          <p:nvPr/>
        </p:nvSpPr>
        <p:spPr>
          <a:xfrm>
            <a:off x="3614166" y="2176272"/>
            <a:ext cx="2132838" cy="603504"/>
          </a:xfrm>
          <a:prstGeom prst="rect">
            <a:avLst/>
          </a:prstGeom>
          <a:noFill/>
          <a:ln/>
        </p:spPr>
        <p:txBody>
          <a:bodyPr wrap="square" lIns="0" tIns="0" rIns="0" bIns="0" rtlCol="0" anchor="ctr"/>
          <a:lstStyle/>
          <a:p>
            <a:pPr indent="0" marL="0">
              <a:buNone/>
            </a:pPr>
            <a:r>
              <a:rPr lang="en-US" sz="2600" b="1" dirty="0">
                <a:solidFill>
                  <a:srgbClr val="E9EFEC"/>
                </a:solidFill>
                <a:latin typeface="Arial" pitchFamily="34" charset="0"/>
                <a:ea typeface="Arial" pitchFamily="34" charset="-122"/>
                <a:cs typeface="Arial" pitchFamily="34" charset="-120"/>
              </a:rPr>
              <a:t>₹56.56 L</a:t>
            </a:r>
            <a:endParaRPr lang="en-US" sz="2600" dirty="0"/>
          </a:p>
        </p:txBody>
      </p:sp>
      <p:sp>
        <p:nvSpPr>
          <p:cNvPr id="13" name="Text 10"/>
          <p:cNvSpPr txBox="1"/>
          <p:nvPr/>
        </p:nvSpPr>
        <p:spPr>
          <a:xfrm>
            <a:off x="3614166" y="2816352"/>
            <a:ext cx="2132838" cy="6858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today's expenses, inflated at 6%</a:t>
            </a:r>
            <a:endParaRPr lang="en-US" sz="1150" dirty="0"/>
          </a:p>
        </p:txBody>
      </p:sp>
      <p:sp>
        <p:nvSpPr>
          <p:cNvPr id="14" name="Shape 11"/>
          <p:cNvSpPr/>
          <p:nvPr/>
        </p:nvSpPr>
        <p:spPr>
          <a:xfrm>
            <a:off x="6222492" y="1645920"/>
            <a:ext cx="2571750" cy="2011680"/>
          </a:xfrm>
          <a:prstGeom prst="roundRect">
            <a:avLst>
              <a:gd name="adj" fmla="val 4545"/>
            </a:avLst>
          </a:prstGeom>
          <a:solidFill>
            <a:srgbClr val="161F1C"/>
          </a:solidFill>
          <a:ln w="12700">
            <a:solidFill>
              <a:srgbClr val="1D2926"/>
            </a:solidFill>
            <a:prstDash val="solid"/>
          </a:ln>
        </p:spPr>
      </p:sp>
      <p:sp>
        <p:nvSpPr>
          <p:cNvPr id="15" name="Text 12"/>
          <p:cNvSpPr txBox="1"/>
          <p:nvPr/>
        </p:nvSpPr>
        <p:spPr>
          <a:xfrm>
            <a:off x="6441948" y="1847088"/>
            <a:ext cx="2132838" cy="274320"/>
          </a:xfrm>
          <a:prstGeom prst="rect">
            <a:avLst/>
          </a:prstGeom>
          <a:noFill/>
          <a:ln/>
        </p:spPr>
        <p:txBody>
          <a:bodyPr wrap="square" lIns="0" tIns="0" rIns="0" bIns="0" rtlCol="0" anchor="ctr"/>
          <a:lstStyle/>
          <a:p>
            <a:pPr indent="0" marL="0">
              <a:buNone/>
            </a:pPr>
            <a:r>
              <a:rPr lang="en-US" sz="1050" spc="100" kern="0" dirty="0">
                <a:solidFill>
                  <a:srgbClr val="93A49D"/>
                </a:solidFill>
                <a:latin typeface="Calibri" pitchFamily="34" charset="0"/>
                <a:ea typeface="Calibri" pitchFamily="34" charset="-122"/>
                <a:cs typeface="Calibri" pitchFamily="34" charset="-120"/>
              </a:rPr>
              <a:t>CORPUS REQUIRED</a:t>
            </a:r>
            <a:endParaRPr lang="en-US" sz="1050" dirty="0"/>
          </a:p>
        </p:txBody>
      </p:sp>
      <p:sp>
        <p:nvSpPr>
          <p:cNvPr id="16" name="Text 13"/>
          <p:cNvSpPr txBox="1"/>
          <p:nvPr/>
        </p:nvSpPr>
        <p:spPr>
          <a:xfrm>
            <a:off x="6441948" y="2176272"/>
            <a:ext cx="2132838" cy="603504"/>
          </a:xfrm>
          <a:prstGeom prst="rect">
            <a:avLst/>
          </a:prstGeom>
          <a:noFill/>
          <a:ln/>
        </p:spPr>
        <p:txBody>
          <a:bodyPr wrap="square" lIns="0" tIns="0" rIns="0" bIns="0" rtlCol="0" anchor="ctr"/>
          <a:lstStyle/>
          <a:p>
            <a:pPr indent="0" marL="0">
              <a:buNone/>
            </a:pPr>
            <a:r>
              <a:rPr lang="en-US" sz="2600" b="1" dirty="0">
                <a:solidFill>
                  <a:srgbClr val="E8A33D"/>
                </a:solidFill>
                <a:latin typeface="Arial" pitchFamily="34" charset="0"/>
                <a:ea typeface="Arial" pitchFamily="34" charset="-122"/>
                <a:cs typeface="Arial" pitchFamily="34" charset="-120"/>
              </a:rPr>
              <a:t>₹16.16 Cr</a:t>
            </a:r>
            <a:endParaRPr lang="en-US" sz="2600" dirty="0"/>
          </a:p>
        </p:txBody>
      </p:sp>
      <p:sp>
        <p:nvSpPr>
          <p:cNvPr id="17" name="Text 14"/>
          <p:cNvSpPr txBox="1"/>
          <p:nvPr/>
        </p:nvSpPr>
        <p:spPr>
          <a:xfrm>
            <a:off x="6441948" y="2816352"/>
            <a:ext cx="2132838" cy="6858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at a 3.5% safe withdrawal rate</a:t>
            </a:r>
            <a:endParaRPr lang="en-US" sz="1150" dirty="0"/>
          </a:p>
        </p:txBody>
      </p:sp>
      <p:sp>
        <p:nvSpPr>
          <p:cNvPr id="18" name="Shape 15"/>
          <p:cNvSpPr/>
          <p:nvPr/>
        </p:nvSpPr>
        <p:spPr>
          <a:xfrm>
            <a:off x="9050274" y="1645920"/>
            <a:ext cx="2571750" cy="2011680"/>
          </a:xfrm>
          <a:prstGeom prst="roundRect">
            <a:avLst>
              <a:gd name="adj" fmla="val 4545"/>
            </a:avLst>
          </a:prstGeom>
          <a:solidFill>
            <a:srgbClr val="161F1C"/>
          </a:solidFill>
          <a:ln w="12700">
            <a:solidFill>
              <a:srgbClr val="1D2926"/>
            </a:solidFill>
            <a:prstDash val="solid"/>
          </a:ln>
        </p:spPr>
      </p:sp>
      <p:sp>
        <p:nvSpPr>
          <p:cNvPr id="19" name="Text 16"/>
          <p:cNvSpPr txBox="1"/>
          <p:nvPr/>
        </p:nvSpPr>
        <p:spPr>
          <a:xfrm>
            <a:off x="9269730" y="1847088"/>
            <a:ext cx="2132838" cy="274320"/>
          </a:xfrm>
          <a:prstGeom prst="rect">
            <a:avLst/>
          </a:prstGeom>
          <a:noFill/>
          <a:ln/>
        </p:spPr>
        <p:txBody>
          <a:bodyPr wrap="square" lIns="0" tIns="0" rIns="0" bIns="0" rtlCol="0" anchor="ctr"/>
          <a:lstStyle/>
          <a:p>
            <a:pPr indent="0" marL="0">
              <a:buNone/>
            </a:pPr>
            <a:r>
              <a:rPr lang="en-US" sz="1050" spc="100" kern="0" dirty="0">
                <a:solidFill>
                  <a:srgbClr val="93A49D"/>
                </a:solidFill>
                <a:latin typeface="Calibri" pitchFamily="34" charset="0"/>
                <a:ea typeface="Calibri" pitchFamily="34" charset="-122"/>
                <a:cs typeface="Calibri" pitchFamily="34" charset="-120"/>
              </a:rPr>
              <a:t>PROJECTED CORPUS</a:t>
            </a:r>
            <a:endParaRPr lang="en-US" sz="1050" dirty="0"/>
          </a:p>
        </p:txBody>
      </p:sp>
      <p:sp>
        <p:nvSpPr>
          <p:cNvPr id="20" name="Text 17"/>
          <p:cNvSpPr txBox="1"/>
          <p:nvPr/>
        </p:nvSpPr>
        <p:spPr>
          <a:xfrm>
            <a:off x="9269730" y="2176272"/>
            <a:ext cx="2132838" cy="603504"/>
          </a:xfrm>
          <a:prstGeom prst="rect">
            <a:avLst/>
          </a:prstGeom>
          <a:noFill/>
          <a:ln/>
        </p:spPr>
        <p:txBody>
          <a:bodyPr wrap="square" lIns="0" tIns="0" rIns="0" bIns="0" rtlCol="0" anchor="ctr"/>
          <a:lstStyle/>
          <a:p>
            <a:pPr indent="0" marL="0">
              <a:buNone/>
            </a:pPr>
            <a:r>
              <a:rPr lang="en-US" sz="2600" b="1" dirty="0">
                <a:solidFill>
                  <a:srgbClr val="FF5C7A"/>
                </a:solidFill>
                <a:latin typeface="Arial" pitchFamily="34" charset="0"/>
                <a:ea typeface="Arial" pitchFamily="34" charset="-122"/>
                <a:cs typeface="Arial" pitchFamily="34" charset="-120"/>
              </a:rPr>
              <a:t>₹6.60 Cr</a:t>
            </a:r>
            <a:endParaRPr lang="en-US" sz="2600" dirty="0"/>
          </a:p>
        </p:txBody>
      </p:sp>
      <p:sp>
        <p:nvSpPr>
          <p:cNvPr id="21" name="Text 18"/>
          <p:cNvSpPr txBox="1"/>
          <p:nvPr/>
        </p:nvSpPr>
        <p:spPr>
          <a:xfrm>
            <a:off x="9269730" y="2816352"/>
            <a:ext cx="2132838" cy="6858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on current behaviour — 41% funded</a:t>
            </a:r>
            <a:endParaRPr lang="en-US" sz="1150" dirty="0"/>
          </a:p>
        </p:txBody>
      </p:sp>
      <p:sp>
        <p:nvSpPr>
          <p:cNvPr id="22" name="Text 19"/>
          <p:cNvSpPr txBox="1"/>
          <p:nvPr/>
        </p:nvSpPr>
        <p:spPr>
          <a:xfrm>
            <a:off x="566928" y="3886200"/>
            <a:ext cx="11055096" cy="9144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The chain is fully visible: today’s expenses, inflated for 34 years, divided by a safe withdrawal rate, gives the target. Current savings, compounded at the allocation’s expected return, gives the projection.</a:t>
            </a:r>
            <a:endParaRPr lang="en-US" sz="1500" dirty="0"/>
          </a:p>
        </p:txBody>
      </p:sp>
      <p:sp>
        <p:nvSpPr>
          <p:cNvPr id="23" name="Text 20"/>
          <p:cNvSpPr txBox="1"/>
          <p:nvPr/>
        </p:nvSpPr>
        <p:spPr>
          <a:xfrm>
            <a:off x="566928" y="4892040"/>
            <a:ext cx="11055096" cy="640080"/>
          </a:xfrm>
          <a:prstGeom prst="rect">
            <a:avLst/>
          </a:prstGeom>
          <a:noFill/>
          <a:ln/>
        </p:spPr>
        <p:txBody>
          <a:bodyPr wrap="square" lIns="0" tIns="0" rIns="0" bIns="0" rtlCol="0" anchor="t"/>
          <a:lstStyle/>
          <a:p>
            <a:pPr indent="0" marL="0">
              <a:lnSpc>
                <a:spcPct val="120000"/>
              </a:lnSpc>
              <a:buNone/>
            </a:pPr>
            <a:r>
              <a:rPr lang="en-US" sz="1400" dirty="0">
                <a:solidFill>
                  <a:srgbClr val="2FD8A0"/>
                </a:solidFill>
                <a:latin typeface="Calibri" pitchFamily="34" charset="0"/>
                <a:ea typeface="Calibri" pitchFamily="34" charset="-122"/>
                <a:cs typeface="Calibri" pitchFamily="34" charset="-120"/>
              </a:rPr>
              <a:t>A "How this was calculated (6)" panel expands to list all six assumptions used. Nothing is asserted without them.</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4 — GOALS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Every goal projected at its own return</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22</a:t>
            </a:r>
            <a:endParaRPr lang="en-US" sz="1000" dirty="0"/>
          </a:p>
        </p:txBody>
      </p:sp>
      <p:pic>
        <p:nvPicPr>
          <p:cNvPr id="6" name="Image 0" descr="C:\Users\deepa\AppData\Local\Temp\claude\C--Users-deepa-OneDrive-Desktop-BroadBridge\76219d84-4fcb-4f71-a8fc-a638015e9df8\scratchpad\shots\goals.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GOALS — THE ARITHMETIC</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Two ideas most calculators get wrong</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23</a:t>
            </a:r>
            <a:endParaRPr lang="en-US" sz="1000" dirty="0"/>
          </a:p>
        </p:txBody>
      </p:sp>
      <p:sp>
        <p:nvSpPr>
          <p:cNvPr id="6" name="Shape 3"/>
          <p:cNvSpPr/>
          <p:nvPr/>
        </p:nvSpPr>
        <p:spPr>
          <a:xfrm>
            <a:off x="566928" y="1645920"/>
            <a:ext cx="5298948" cy="2651760"/>
          </a:xfrm>
          <a:prstGeom prst="roundRect">
            <a:avLst>
              <a:gd name="adj" fmla="val 3448"/>
            </a:avLst>
          </a:prstGeom>
          <a:solidFill>
            <a:srgbClr val="161F1C"/>
          </a:solidFill>
          <a:ln w="12700">
            <a:solidFill>
              <a:srgbClr val="1D2926"/>
            </a:solidFill>
            <a:prstDash val="solid"/>
          </a:ln>
        </p:spPr>
      </p:sp>
      <p:sp>
        <p:nvSpPr>
          <p:cNvPr id="7" name="Text 4"/>
          <p:cNvSpPr txBox="1"/>
          <p:nvPr/>
        </p:nvSpPr>
        <p:spPr>
          <a:xfrm>
            <a:off x="822960" y="1874520"/>
            <a:ext cx="4786884" cy="45720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1. Targets are stated in today’s money</a:t>
            </a:r>
            <a:endParaRPr lang="en-US" sz="1700" dirty="0"/>
          </a:p>
        </p:txBody>
      </p:sp>
      <p:sp>
        <p:nvSpPr>
          <p:cNvPr id="8" name="Text 5"/>
          <p:cNvSpPr txBox="1"/>
          <p:nvPr/>
        </p:nvSpPr>
        <p:spPr>
          <a:xfrm>
            <a:off x="822960" y="2395728"/>
            <a:ext cx="4786884" cy="1188720"/>
          </a:xfrm>
          <a:prstGeom prst="rect">
            <a:avLst/>
          </a:prstGeom>
          <a:noFill/>
          <a:ln/>
        </p:spPr>
        <p:txBody>
          <a:bodyPr wrap="square" lIns="0" tIns="0" rIns="0" bIns="0" rtlCol="0" anchor="t"/>
          <a:lstStyle/>
          <a:p>
            <a:pPr indent="0" marL="0">
              <a:lnSpc>
                <a:spcPct val="112000"/>
              </a:lnSpc>
              <a:buNone/>
            </a:pPr>
            <a:r>
              <a:rPr lang="en-US" sz="1350" dirty="0">
                <a:solidFill>
                  <a:srgbClr val="E9EFEC"/>
                </a:solidFill>
                <a:latin typeface="Calibri" pitchFamily="34" charset="0"/>
                <a:ea typeface="Calibri" pitchFamily="34" charset="-122"/>
                <a:cs typeface="Calibri" pitchFamily="34" charset="-120"/>
              </a:rPr>
              <a:t>You say "I want 3.9 lakh". The engine inflates that to the year you need it — 4.20 lakh in 1.3 years — and measures you against the inflated figure.</a:t>
            </a:r>
            <a:endParaRPr lang="en-US" sz="1350" dirty="0"/>
          </a:p>
        </p:txBody>
      </p:sp>
      <p:sp>
        <p:nvSpPr>
          <p:cNvPr id="9" name="Text 6"/>
          <p:cNvSpPr txBox="1"/>
          <p:nvPr/>
        </p:nvSpPr>
        <p:spPr>
          <a:xfrm>
            <a:off x="822960" y="3611880"/>
            <a:ext cx="4786884" cy="548640"/>
          </a:xfrm>
          <a:prstGeom prst="rect">
            <a:avLst/>
          </a:prstGeom>
          <a:noFill/>
          <a:ln/>
        </p:spPr>
        <p:txBody>
          <a:bodyPr wrap="square" lIns="0" tIns="0" rIns="0" bIns="0" rtlCol="0" anchor="t"/>
          <a:lstStyle/>
          <a:p>
            <a:pPr indent="0" marL="0">
              <a:buNone/>
            </a:pPr>
            <a:r>
              <a:rPr lang="en-US" sz="1250" dirty="0">
                <a:solidFill>
                  <a:srgbClr val="93A49D"/>
                </a:solidFill>
                <a:latin typeface="Calibri" pitchFamily="34" charset="0"/>
                <a:ea typeface="Calibri" pitchFamily="34" charset="-122"/>
                <a:cs typeface="Calibri" pitchFamily="34" charset="-120"/>
              </a:rPr>
              <a:t>Goals can carry their own inflation override: education inflates faster than everything else.</a:t>
            </a:r>
            <a:endParaRPr lang="en-US" sz="1250" dirty="0"/>
          </a:p>
        </p:txBody>
      </p:sp>
      <p:sp>
        <p:nvSpPr>
          <p:cNvPr id="10" name="Shape 7"/>
          <p:cNvSpPr/>
          <p:nvPr/>
        </p:nvSpPr>
        <p:spPr>
          <a:xfrm>
            <a:off x="6323076" y="1645920"/>
            <a:ext cx="5298948" cy="2651760"/>
          </a:xfrm>
          <a:prstGeom prst="roundRect">
            <a:avLst>
              <a:gd name="adj" fmla="val 3448"/>
            </a:avLst>
          </a:prstGeom>
          <a:solidFill>
            <a:srgbClr val="161F1C"/>
          </a:solidFill>
          <a:ln w="12700">
            <a:solidFill>
              <a:srgbClr val="1D2926"/>
            </a:solidFill>
            <a:prstDash val="solid"/>
          </a:ln>
        </p:spPr>
      </p:sp>
      <p:sp>
        <p:nvSpPr>
          <p:cNvPr id="11" name="Text 8"/>
          <p:cNvSpPr txBox="1"/>
          <p:nvPr/>
        </p:nvSpPr>
        <p:spPr>
          <a:xfrm>
            <a:off x="6579108" y="1874520"/>
            <a:ext cx="4786884" cy="45720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2. Each goal gets its own return</a:t>
            </a:r>
            <a:endParaRPr lang="en-US" sz="1700" dirty="0"/>
          </a:p>
        </p:txBody>
      </p:sp>
      <p:sp>
        <p:nvSpPr>
          <p:cNvPr id="12" name="Text 9"/>
          <p:cNvSpPr txBox="1"/>
          <p:nvPr/>
        </p:nvSpPr>
        <p:spPr>
          <a:xfrm>
            <a:off x="6579108" y="2395728"/>
            <a:ext cx="4786884" cy="1188720"/>
          </a:xfrm>
          <a:prstGeom prst="rect">
            <a:avLst/>
          </a:prstGeom>
          <a:noFill/>
          <a:ln/>
        </p:spPr>
        <p:txBody>
          <a:bodyPr wrap="square" lIns="0" tIns="0" rIns="0" bIns="0" rtlCol="0" anchor="t"/>
          <a:lstStyle/>
          <a:p>
            <a:pPr indent="0" marL="0">
              <a:lnSpc>
                <a:spcPct val="112000"/>
              </a:lnSpc>
              <a:buNone/>
            </a:pPr>
            <a:r>
              <a:rPr lang="en-US" sz="1350" dirty="0">
                <a:solidFill>
                  <a:srgbClr val="E9EFEC"/>
                </a:solidFill>
                <a:latin typeface="Calibri" pitchFamily="34" charset="0"/>
                <a:ea typeface="Calibri" pitchFamily="34" charset="-122"/>
                <a:cs typeface="Calibri" pitchFamily="34" charset="-120"/>
              </a:rPr>
              <a:t>A goal 1.3 years out is projected at 4.9%; one 33 years out at close to the full equity figure. A single blended rate across every goal is the standard shortcut, and it is wrong in both directions.</a:t>
            </a:r>
            <a:endParaRPr lang="en-US" sz="1350" dirty="0"/>
          </a:p>
        </p:txBody>
      </p:sp>
      <p:sp>
        <p:nvSpPr>
          <p:cNvPr id="13" name="Text 10"/>
          <p:cNvSpPr txBox="1"/>
          <p:nvPr/>
        </p:nvSpPr>
        <p:spPr>
          <a:xfrm>
            <a:off x="6579108" y="3611880"/>
            <a:ext cx="4786884" cy="548640"/>
          </a:xfrm>
          <a:prstGeom prst="rect">
            <a:avLst/>
          </a:prstGeom>
          <a:noFill/>
          <a:ln/>
        </p:spPr>
        <p:txBody>
          <a:bodyPr wrap="square" lIns="0" tIns="0" rIns="0" bIns="0" rtlCol="0" anchor="t"/>
          <a:lstStyle/>
          <a:p>
            <a:pPr indent="0" marL="0">
              <a:buNone/>
            </a:pPr>
            <a:r>
              <a:rPr lang="en-US" sz="1250" dirty="0">
                <a:solidFill>
                  <a:srgbClr val="93A49D"/>
                </a:solidFill>
                <a:latin typeface="Calibri" pitchFamily="34" charset="0"/>
                <a:ea typeface="Calibri" pitchFamily="34" charset="-122"/>
                <a:cs typeface="Calibri" pitchFamily="34" charset="-120"/>
              </a:rPr>
              <a:t>Short goals get overstated, long goals understated.</a:t>
            </a:r>
            <a:endParaRPr lang="en-US" sz="1250" dirty="0"/>
          </a:p>
        </p:txBody>
      </p:sp>
      <p:sp>
        <p:nvSpPr>
          <p:cNvPr id="14" name="Text 11"/>
          <p:cNvSpPr txBox="1"/>
          <p:nvPr/>
        </p:nvSpPr>
        <p:spPr>
          <a:xfrm>
            <a:off x="566928" y="4526280"/>
            <a:ext cx="11055096" cy="914400"/>
          </a:xfrm>
          <a:prstGeom prst="rect">
            <a:avLst/>
          </a:prstGeom>
          <a:noFill/>
          <a:ln/>
        </p:spPr>
        <p:txBody>
          <a:bodyPr wrap="square" lIns="0" tIns="0" rIns="0" bIns="0" rtlCol="0" anchor="t"/>
          <a:lstStyle/>
          <a:p>
            <a:pPr indent="0" marL="0">
              <a:lnSpc>
                <a:spcPct val="120000"/>
              </a:lnSpc>
              <a:buNone/>
            </a:pPr>
            <a:r>
              <a:rPr lang="en-US" sz="1400" dirty="0">
                <a:solidFill>
                  <a:srgbClr val="E8A33D"/>
                </a:solidFill>
                <a:latin typeface="Calibri" pitchFamily="34" charset="0"/>
                <a:ea typeface="Calibri" pitchFamily="34" charset="-122"/>
                <a:cs typeface="Calibri" pitchFamily="34" charset="-120"/>
              </a:rPr>
              <a:t>When no realistic return closes a gap, the app says so outright rather than quietly raising the assumed return: "No realistic return closes this gap — it needs a bigger contribution, more time, or a smaller target."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GOALS — THE OPTIMISER</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Where your surplus should go</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24</a:t>
            </a:r>
            <a:endParaRPr lang="en-US" sz="1000" dirty="0"/>
          </a:p>
        </p:txBody>
      </p:sp>
      <p:sp>
        <p:nvSpPr>
          <p:cNvPr id="6" name="Text 3"/>
          <p:cNvSpPr txBox="1"/>
          <p:nvPr/>
        </p:nvSpPr>
        <p:spPr>
          <a:xfrm>
            <a:off x="566928" y="1645920"/>
            <a:ext cx="5298948" cy="13716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Goals compete for one pool of money. The optimiser allocates it by priority first, then urgency: must-have before important before aspirational, and within a tier, whatever falls inside the near-term window first.</a:t>
            </a:r>
            <a:endParaRPr lang="en-US" sz="1500" dirty="0"/>
          </a:p>
        </p:txBody>
      </p:sp>
      <p:sp>
        <p:nvSpPr>
          <p:cNvPr id="7" name="Text 4"/>
          <p:cNvSpPr txBox="1"/>
          <p:nvPr/>
        </p:nvSpPr>
        <p:spPr>
          <a:xfrm>
            <a:off x="566928" y="3108960"/>
            <a:ext cx="5298948" cy="155448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The pool is the free surplus plus what the goals already receive — because the interesting question is rarely "where does the spare money go" (most plans have none) but "is the money already committed pointed at the right goals".</a:t>
            </a:r>
            <a:endParaRPr lang="en-US" sz="1400" dirty="0"/>
          </a:p>
        </p:txBody>
      </p:sp>
      <p:sp>
        <p:nvSpPr>
          <p:cNvPr id="8" name="Shape 5"/>
          <p:cNvSpPr/>
          <p:nvPr/>
        </p:nvSpPr>
        <p:spPr>
          <a:xfrm>
            <a:off x="6323076" y="1645920"/>
            <a:ext cx="5298948" cy="731520"/>
          </a:xfrm>
          <a:prstGeom prst="roundRect">
            <a:avLst>
              <a:gd name="adj" fmla="val 8750"/>
            </a:avLst>
          </a:prstGeom>
          <a:solidFill>
            <a:srgbClr val="161F1C"/>
          </a:solidFill>
          <a:ln w="12700">
            <a:solidFill>
              <a:srgbClr val="1D2926"/>
            </a:solidFill>
            <a:prstDash val="solid"/>
          </a:ln>
        </p:spPr>
      </p:sp>
      <p:sp>
        <p:nvSpPr>
          <p:cNvPr id="9" name="Text 6"/>
          <p:cNvSpPr txBox="1"/>
          <p:nvPr/>
        </p:nvSpPr>
        <p:spPr>
          <a:xfrm>
            <a:off x="6524244" y="1737360"/>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Emergency Fund  ·  must have, 1.3y</a:t>
            </a:r>
            <a:endParaRPr lang="en-US" sz="1300" dirty="0"/>
          </a:p>
        </p:txBody>
      </p:sp>
      <p:sp>
        <p:nvSpPr>
          <p:cNvPr id="10" name="Text 7"/>
          <p:cNvSpPr txBox="1"/>
          <p:nvPr/>
        </p:nvSpPr>
        <p:spPr>
          <a:xfrm>
            <a:off x="9237497" y="1737360"/>
            <a:ext cx="2183359" cy="548640"/>
          </a:xfrm>
          <a:prstGeom prst="rect">
            <a:avLst/>
          </a:prstGeom>
          <a:noFill/>
          <a:ln/>
        </p:spPr>
        <p:txBody>
          <a:bodyPr wrap="square" lIns="0" tIns="0" rIns="0" bIns="0" rtlCol="0" anchor="ctr"/>
          <a:lstStyle/>
          <a:p>
            <a:pPr algn="r" indent="0" marL="0">
              <a:buNone/>
            </a:pPr>
            <a:r>
              <a:rPr lang="en-US" sz="1300" dirty="0">
                <a:solidFill>
                  <a:srgbClr val="2FD8A0"/>
                </a:solidFill>
                <a:latin typeface="Calibri" pitchFamily="34" charset="0"/>
                <a:ea typeface="Calibri" pitchFamily="34" charset="-122"/>
                <a:cs typeface="Calibri" pitchFamily="34" charset="-120"/>
              </a:rPr>
              <a:t>₹12.8k</a:t>
            </a:r>
            <a:endParaRPr lang="en-US" sz="1300" dirty="0"/>
          </a:p>
        </p:txBody>
      </p:sp>
      <p:sp>
        <p:nvSpPr>
          <p:cNvPr id="11" name="Shape 8"/>
          <p:cNvSpPr/>
          <p:nvPr/>
        </p:nvSpPr>
        <p:spPr>
          <a:xfrm>
            <a:off x="6323076" y="2505456"/>
            <a:ext cx="5298948" cy="731520"/>
          </a:xfrm>
          <a:prstGeom prst="roundRect">
            <a:avLst>
              <a:gd name="adj" fmla="val 8750"/>
            </a:avLst>
          </a:prstGeom>
          <a:solidFill>
            <a:srgbClr val="161F1C"/>
          </a:solidFill>
          <a:ln w="12700">
            <a:solidFill>
              <a:srgbClr val="1D2926"/>
            </a:solidFill>
            <a:prstDash val="solid"/>
          </a:ln>
        </p:spPr>
      </p:sp>
      <p:sp>
        <p:nvSpPr>
          <p:cNvPr id="12" name="Text 9"/>
          <p:cNvSpPr txBox="1"/>
          <p:nvPr/>
        </p:nvSpPr>
        <p:spPr>
          <a:xfrm>
            <a:off x="6524244" y="2596896"/>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Japan Trip  ·  aspirational</a:t>
            </a:r>
            <a:endParaRPr lang="en-US" sz="1300" dirty="0"/>
          </a:p>
        </p:txBody>
      </p:sp>
      <p:sp>
        <p:nvSpPr>
          <p:cNvPr id="13" name="Text 10"/>
          <p:cNvSpPr txBox="1"/>
          <p:nvPr/>
        </p:nvSpPr>
        <p:spPr>
          <a:xfrm>
            <a:off x="9237497" y="2596896"/>
            <a:ext cx="2183359" cy="548640"/>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₹0</a:t>
            </a:r>
            <a:endParaRPr lang="en-US" sz="1300" dirty="0"/>
          </a:p>
        </p:txBody>
      </p:sp>
      <p:sp>
        <p:nvSpPr>
          <p:cNvPr id="14" name="Shape 11"/>
          <p:cNvSpPr/>
          <p:nvPr/>
        </p:nvSpPr>
        <p:spPr>
          <a:xfrm>
            <a:off x="6323076" y="3364992"/>
            <a:ext cx="5298948" cy="731520"/>
          </a:xfrm>
          <a:prstGeom prst="roundRect">
            <a:avLst>
              <a:gd name="adj" fmla="val 8750"/>
            </a:avLst>
          </a:prstGeom>
          <a:solidFill>
            <a:srgbClr val="161F1C"/>
          </a:solidFill>
          <a:ln w="12700">
            <a:solidFill>
              <a:srgbClr val="1D2926"/>
            </a:solidFill>
            <a:prstDash val="solid"/>
          </a:ln>
        </p:spPr>
      </p:sp>
      <p:sp>
        <p:nvSpPr>
          <p:cNvPr id="15" name="Text 12"/>
          <p:cNvSpPr txBox="1"/>
          <p:nvPr/>
        </p:nvSpPr>
        <p:spPr>
          <a:xfrm>
            <a:off x="6524244" y="3456432"/>
            <a:ext cx="2914421" cy="548640"/>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Retirement  ·  must have, 33y</a:t>
            </a:r>
            <a:endParaRPr lang="en-US" sz="1300" dirty="0"/>
          </a:p>
        </p:txBody>
      </p:sp>
      <p:sp>
        <p:nvSpPr>
          <p:cNvPr id="16" name="Text 13"/>
          <p:cNvSpPr txBox="1"/>
          <p:nvPr/>
        </p:nvSpPr>
        <p:spPr>
          <a:xfrm>
            <a:off x="9237497" y="3456432"/>
            <a:ext cx="2183359" cy="548640"/>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₹0</a:t>
            </a:r>
            <a:endParaRPr lang="en-US" sz="1300" dirty="0"/>
          </a:p>
        </p:txBody>
      </p:sp>
      <p:sp>
        <p:nvSpPr>
          <p:cNvPr id="17" name="Text 14"/>
          <p:cNvSpPr txBox="1"/>
          <p:nvPr/>
        </p:nvSpPr>
        <p:spPr>
          <a:xfrm>
            <a:off x="6323076" y="4114800"/>
            <a:ext cx="5298948" cy="914400"/>
          </a:xfrm>
          <a:prstGeom prst="rect">
            <a:avLst/>
          </a:prstGeom>
          <a:noFill/>
          <a:ln/>
        </p:spPr>
        <p:txBody>
          <a:bodyPr wrap="square" lIns="0" tIns="0" rIns="0" bIns="0" rtlCol="0" anchor="t"/>
          <a:lstStyle/>
          <a:p>
            <a:pPr indent="0" marL="0">
              <a:lnSpc>
                <a:spcPct val="120000"/>
              </a:lnSpc>
              <a:buNone/>
            </a:pPr>
            <a:r>
              <a:rPr lang="en-US" sz="1300" dirty="0">
                <a:solidFill>
                  <a:srgbClr val="93A49D"/>
                </a:solidFill>
                <a:latin typeface="Calibri" pitchFamily="34" charset="0"/>
                <a:ea typeface="Calibri" pitchFamily="34" charset="-122"/>
                <a:cs typeface="Calibri" pitchFamily="34" charset="-120"/>
              </a:rPr>
              <a:t>The whole surplus goes to the emergency fund: it is must-have and inside the near-term window, so it funds ahead of longer-horizon goals of the same priority.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5 — SCENARIO LAB</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Change something, watch the consequence</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25</a:t>
            </a:r>
            <a:endParaRPr lang="en-US" sz="1000" dirty="0"/>
          </a:p>
        </p:txBody>
      </p:sp>
      <p:pic>
        <p:nvPicPr>
          <p:cNvPr id="6" name="Image 0" descr="C:\Users\deepa\AppData\Local\Temp\claude\C--Users-deepa-OneDrive-Desktop-BroadBridge\76219d84-4fcb-4f71-a8fc-a638015e9df8\scratchpad\shots\scenarios.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SCENARIO LAB — INPUTS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Seven levers, and what each one does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26</a:t>
            </a:r>
            <a:endParaRPr lang="en-US" sz="1000" dirty="0"/>
          </a:p>
        </p:txBody>
      </p:sp>
      <p:sp>
        <p:nvSpPr>
          <p:cNvPr id="6" name="Shape 3"/>
          <p:cNvSpPr/>
          <p:nvPr/>
        </p:nvSpPr>
        <p:spPr>
          <a:xfrm>
            <a:off x="566928" y="1645920"/>
            <a:ext cx="5390388" cy="566928"/>
          </a:xfrm>
          <a:prstGeom prst="roundRect">
            <a:avLst>
              <a:gd name="adj" fmla="val 11290"/>
            </a:avLst>
          </a:prstGeom>
          <a:solidFill>
            <a:srgbClr val="161F1C"/>
          </a:solidFill>
          <a:ln w="12700">
            <a:solidFill>
              <a:srgbClr val="1D2926"/>
            </a:solidFill>
            <a:prstDash val="solid"/>
          </a:ln>
        </p:spPr>
      </p:sp>
      <p:sp>
        <p:nvSpPr>
          <p:cNvPr id="7" name="Text 4"/>
          <p:cNvSpPr txBox="1"/>
          <p:nvPr/>
        </p:nvSpPr>
        <p:spPr>
          <a:xfrm>
            <a:off x="768096" y="1700784"/>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Save more each month</a:t>
            </a:r>
            <a:endParaRPr lang="en-US" sz="1300" dirty="0"/>
          </a:p>
        </p:txBody>
      </p:sp>
      <p:sp>
        <p:nvSpPr>
          <p:cNvPr id="8" name="Text 5"/>
          <p:cNvSpPr txBox="1"/>
          <p:nvPr/>
        </p:nvSpPr>
        <p:spPr>
          <a:xfrm>
            <a:off x="768096" y="1920240"/>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Adds to the monthly contribution from month one</a:t>
            </a:r>
            <a:endParaRPr lang="en-US" sz="1150" dirty="0"/>
          </a:p>
        </p:txBody>
      </p:sp>
      <p:sp>
        <p:nvSpPr>
          <p:cNvPr id="9" name="Shape 6"/>
          <p:cNvSpPr/>
          <p:nvPr/>
        </p:nvSpPr>
        <p:spPr>
          <a:xfrm>
            <a:off x="6231636" y="1645920"/>
            <a:ext cx="5390388" cy="566928"/>
          </a:xfrm>
          <a:prstGeom prst="roundRect">
            <a:avLst>
              <a:gd name="adj" fmla="val 11290"/>
            </a:avLst>
          </a:prstGeom>
          <a:solidFill>
            <a:srgbClr val="161F1C"/>
          </a:solidFill>
          <a:ln w="12700">
            <a:solidFill>
              <a:srgbClr val="1D2926"/>
            </a:solidFill>
            <a:prstDash val="solid"/>
          </a:ln>
        </p:spPr>
      </p:sp>
      <p:sp>
        <p:nvSpPr>
          <p:cNvPr id="10" name="Text 7"/>
          <p:cNvSpPr txBox="1"/>
          <p:nvPr/>
        </p:nvSpPr>
        <p:spPr>
          <a:xfrm>
            <a:off x="6432804" y="1700784"/>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Change your spending</a:t>
            </a:r>
            <a:endParaRPr lang="en-US" sz="1300" dirty="0"/>
          </a:p>
        </p:txBody>
      </p:sp>
      <p:sp>
        <p:nvSpPr>
          <p:cNvPr id="11" name="Text 8"/>
          <p:cNvSpPr txBox="1"/>
          <p:nvPr/>
        </p:nvSpPr>
        <p:spPr>
          <a:xfrm>
            <a:off x="6432804" y="1920240"/>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Money freed by spending less is assumed invested, not respent</a:t>
            </a:r>
            <a:endParaRPr lang="en-US" sz="1150" dirty="0"/>
          </a:p>
        </p:txBody>
      </p:sp>
      <p:sp>
        <p:nvSpPr>
          <p:cNvPr id="12" name="Shape 9"/>
          <p:cNvSpPr/>
          <p:nvPr/>
        </p:nvSpPr>
        <p:spPr>
          <a:xfrm>
            <a:off x="566928" y="2359152"/>
            <a:ext cx="5390388" cy="566928"/>
          </a:xfrm>
          <a:prstGeom prst="roundRect">
            <a:avLst>
              <a:gd name="adj" fmla="val 11290"/>
            </a:avLst>
          </a:prstGeom>
          <a:solidFill>
            <a:srgbClr val="161F1C"/>
          </a:solidFill>
          <a:ln w="12700">
            <a:solidFill>
              <a:srgbClr val="1D2926"/>
            </a:solidFill>
            <a:prstDash val="solid"/>
          </a:ln>
        </p:spPr>
      </p:sp>
      <p:sp>
        <p:nvSpPr>
          <p:cNvPr id="13" name="Text 10"/>
          <p:cNvSpPr txBox="1"/>
          <p:nvPr/>
        </p:nvSpPr>
        <p:spPr>
          <a:xfrm>
            <a:off x="768096" y="2414016"/>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Retire earlier or later</a:t>
            </a:r>
            <a:endParaRPr lang="en-US" sz="1300" dirty="0"/>
          </a:p>
        </p:txBody>
      </p:sp>
      <p:sp>
        <p:nvSpPr>
          <p:cNvPr id="14" name="Text 11"/>
          <p:cNvSpPr txBox="1"/>
          <p:nvPr/>
        </p:nvSpPr>
        <p:spPr>
          <a:xfrm>
            <a:off x="768096" y="2633472"/>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Moves the horizon, changing both the target and the compounding time</a:t>
            </a:r>
            <a:endParaRPr lang="en-US" sz="1150" dirty="0"/>
          </a:p>
        </p:txBody>
      </p:sp>
      <p:sp>
        <p:nvSpPr>
          <p:cNvPr id="15" name="Shape 12"/>
          <p:cNvSpPr/>
          <p:nvPr/>
        </p:nvSpPr>
        <p:spPr>
          <a:xfrm>
            <a:off x="6231636" y="2359152"/>
            <a:ext cx="5390388" cy="566928"/>
          </a:xfrm>
          <a:prstGeom prst="roundRect">
            <a:avLst>
              <a:gd name="adj" fmla="val 11290"/>
            </a:avLst>
          </a:prstGeom>
          <a:solidFill>
            <a:srgbClr val="161F1C"/>
          </a:solidFill>
          <a:ln w="12700">
            <a:solidFill>
              <a:srgbClr val="1D2926"/>
            </a:solidFill>
            <a:prstDash val="solid"/>
          </a:ln>
        </p:spPr>
      </p:sp>
      <p:sp>
        <p:nvSpPr>
          <p:cNvPr id="16" name="Text 13"/>
          <p:cNvSpPr txBox="1"/>
          <p:nvPr/>
        </p:nvSpPr>
        <p:spPr>
          <a:xfrm>
            <a:off x="6432804" y="2414016"/>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Market crash</a:t>
            </a:r>
            <a:endParaRPr lang="en-US" sz="1300" dirty="0"/>
          </a:p>
        </p:txBody>
      </p:sp>
      <p:sp>
        <p:nvSpPr>
          <p:cNvPr id="17" name="Text 14"/>
          <p:cNvSpPr txBox="1"/>
          <p:nvPr/>
        </p:nvSpPr>
        <p:spPr>
          <a:xfrm>
            <a:off x="6432804" y="2633472"/>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A one-off proportional shock applied at a chosen year, default year one</a:t>
            </a:r>
            <a:endParaRPr lang="en-US" sz="1150" dirty="0"/>
          </a:p>
        </p:txBody>
      </p:sp>
      <p:sp>
        <p:nvSpPr>
          <p:cNvPr id="18" name="Shape 15"/>
          <p:cNvSpPr/>
          <p:nvPr/>
        </p:nvSpPr>
        <p:spPr>
          <a:xfrm>
            <a:off x="566928" y="3072384"/>
            <a:ext cx="5390388" cy="566928"/>
          </a:xfrm>
          <a:prstGeom prst="roundRect">
            <a:avLst>
              <a:gd name="adj" fmla="val 11290"/>
            </a:avLst>
          </a:prstGeom>
          <a:solidFill>
            <a:srgbClr val="161F1C"/>
          </a:solidFill>
          <a:ln w="12700">
            <a:solidFill>
              <a:srgbClr val="1D2926"/>
            </a:solidFill>
            <a:prstDash val="solid"/>
          </a:ln>
        </p:spPr>
      </p:sp>
      <p:sp>
        <p:nvSpPr>
          <p:cNvPr id="19" name="Text 16"/>
          <p:cNvSpPr txBox="1"/>
          <p:nvPr/>
        </p:nvSpPr>
        <p:spPr>
          <a:xfrm>
            <a:off x="768096" y="3127248"/>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Career break</a:t>
            </a:r>
            <a:endParaRPr lang="en-US" sz="1300" dirty="0"/>
          </a:p>
        </p:txBody>
      </p:sp>
      <p:sp>
        <p:nvSpPr>
          <p:cNvPr id="20" name="Text 17"/>
          <p:cNvSpPr txBox="1"/>
          <p:nvPr/>
        </p:nvSpPr>
        <p:spPr>
          <a:xfrm>
            <a:off x="768096" y="3346704"/>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Months at the start with no contribution — compounding continues</a:t>
            </a:r>
            <a:endParaRPr lang="en-US" sz="1150" dirty="0"/>
          </a:p>
        </p:txBody>
      </p:sp>
      <p:sp>
        <p:nvSpPr>
          <p:cNvPr id="21" name="Shape 18"/>
          <p:cNvSpPr/>
          <p:nvPr/>
        </p:nvSpPr>
        <p:spPr>
          <a:xfrm>
            <a:off x="6231636" y="3072384"/>
            <a:ext cx="5390388" cy="566928"/>
          </a:xfrm>
          <a:prstGeom prst="roundRect">
            <a:avLst>
              <a:gd name="adj" fmla="val 11290"/>
            </a:avLst>
          </a:prstGeom>
          <a:solidFill>
            <a:srgbClr val="161F1C"/>
          </a:solidFill>
          <a:ln w="12700">
            <a:solidFill>
              <a:srgbClr val="1D2926"/>
            </a:solidFill>
            <a:prstDash val="solid"/>
          </a:ln>
        </p:spPr>
      </p:sp>
      <p:sp>
        <p:nvSpPr>
          <p:cNvPr id="22" name="Text 19"/>
          <p:cNvSpPr txBox="1"/>
          <p:nvPr/>
        </p:nvSpPr>
        <p:spPr>
          <a:xfrm>
            <a:off x="6432804" y="3127248"/>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Inflation</a:t>
            </a:r>
            <a:endParaRPr lang="en-US" sz="1300" dirty="0"/>
          </a:p>
        </p:txBody>
      </p:sp>
      <p:sp>
        <p:nvSpPr>
          <p:cNvPr id="23" name="Text 20"/>
          <p:cNvSpPr txBox="1"/>
          <p:nvPr/>
        </p:nvSpPr>
        <p:spPr>
          <a:xfrm>
            <a:off x="6432804" y="3346704"/>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Overrides the house view for this scenario only</a:t>
            </a:r>
            <a:endParaRPr lang="en-US" sz="1150" dirty="0"/>
          </a:p>
        </p:txBody>
      </p:sp>
      <p:sp>
        <p:nvSpPr>
          <p:cNvPr id="24" name="Shape 21"/>
          <p:cNvSpPr/>
          <p:nvPr/>
        </p:nvSpPr>
        <p:spPr>
          <a:xfrm>
            <a:off x="566928" y="3785616"/>
            <a:ext cx="5390388" cy="566928"/>
          </a:xfrm>
          <a:prstGeom prst="roundRect">
            <a:avLst>
              <a:gd name="adj" fmla="val 11290"/>
            </a:avLst>
          </a:prstGeom>
          <a:solidFill>
            <a:srgbClr val="161F1C"/>
          </a:solidFill>
          <a:ln w="12700">
            <a:solidFill>
              <a:srgbClr val="1D2926"/>
            </a:solidFill>
            <a:prstDash val="solid"/>
          </a:ln>
        </p:spPr>
      </p:sp>
      <p:sp>
        <p:nvSpPr>
          <p:cNvPr id="25" name="Text 22"/>
          <p:cNvSpPr txBox="1"/>
          <p:nvPr/>
        </p:nvSpPr>
        <p:spPr>
          <a:xfrm>
            <a:off x="768096" y="3840480"/>
            <a:ext cx="4988052" cy="237744"/>
          </a:xfrm>
          <a:prstGeom prst="rect">
            <a:avLst/>
          </a:prstGeom>
          <a:noFill/>
          <a:ln/>
        </p:spPr>
        <p:txBody>
          <a:bodyPr wrap="square" lIns="0" tIns="0" rIns="0" bIns="0" rtlCol="0" anchor="ctr"/>
          <a:lstStyle/>
          <a:p>
            <a:pPr indent="0" marL="0">
              <a:buNone/>
            </a:pPr>
            <a:r>
              <a:rPr lang="en-US" sz="1300" b="1" dirty="0">
                <a:solidFill>
                  <a:srgbClr val="2FD8A0"/>
                </a:solidFill>
                <a:latin typeface="Calibri" pitchFamily="34" charset="0"/>
                <a:ea typeface="Calibri" pitchFamily="34" charset="-122"/>
                <a:cs typeface="Calibri" pitchFamily="34" charset="-120"/>
              </a:rPr>
              <a:t>Annual pay rise</a:t>
            </a:r>
            <a:endParaRPr lang="en-US" sz="1300" dirty="0"/>
          </a:p>
        </p:txBody>
      </p:sp>
      <p:sp>
        <p:nvSpPr>
          <p:cNvPr id="26" name="Text 23"/>
          <p:cNvSpPr txBox="1"/>
          <p:nvPr/>
        </p:nvSpPr>
        <p:spPr>
          <a:xfrm>
            <a:off x="768096" y="4059936"/>
            <a:ext cx="4988052"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Steps the contribution up each year</a:t>
            </a:r>
            <a:endParaRPr lang="en-US" sz="1150" dirty="0"/>
          </a:p>
        </p:txBody>
      </p:sp>
      <p:sp>
        <p:nvSpPr>
          <p:cNvPr id="27" name="Text 24"/>
          <p:cNvSpPr txBox="1"/>
          <p:nvPr/>
        </p:nvSpPr>
        <p:spPr>
          <a:xfrm>
            <a:off x="566928" y="5029200"/>
            <a:ext cx="11055096" cy="822960"/>
          </a:xfrm>
          <a:prstGeom prst="rect">
            <a:avLst/>
          </a:prstGeom>
          <a:noFill/>
          <a:ln/>
        </p:spPr>
        <p:txBody>
          <a:bodyPr wrap="square" lIns="0" tIns="0" rIns="0" bIns="0" rtlCol="0" anchor="t"/>
          <a:lstStyle/>
          <a:p>
            <a:pPr indent="0" marL="0">
              <a:lnSpc>
                <a:spcPct val="120000"/>
              </a:lnSpc>
              <a:buNone/>
            </a:pPr>
            <a:r>
              <a:rPr lang="en-US" sz="1350" dirty="0">
                <a:solidFill>
                  <a:srgbClr val="93A49D"/>
                </a:solidFill>
                <a:latin typeface="Calibri" pitchFamily="34" charset="0"/>
                <a:ea typeface="Calibri" pitchFamily="34" charset="-122"/>
                <a:cs typeface="Calibri" pitchFamily="34" charset="-120"/>
              </a:rPr>
              <a:t>Seven presets set the levers for you — "Survive a 35% crash", "Take a 12-month career break", "Inflation runs at 8%" — and you can then adjust them by hand. Anything you do not touch stays as it is today.</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THE CORE ALGORITHM</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What a Monte Carlo simulation is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27</a:t>
            </a:r>
            <a:endParaRPr lang="en-US" sz="1000" dirty="0"/>
          </a:p>
        </p:txBody>
      </p:sp>
      <p:sp>
        <p:nvSpPr>
          <p:cNvPr id="6" name="Text 3"/>
          <p:cNvSpPr txBox="1"/>
          <p:nvPr/>
        </p:nvSpPr>
        <p:spPr>
          <a:xfrm>
            <a:off x="566928" y="1645920"/>
            <a:ext cx="5298948" cy="164592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A normal calculator assumes markets return exactly 9.5% every year. They never do. Monte Carlo runs the plan thousands of times, each with a different randomly drawn sequence of returns, and reports the distribution of outcomes.</a:t>
            </a:r>
            <a:endParaRPr lang="en-US" sz="1500" dirty="0"/>
          </a:p>
        </p:txBody>
      </p:sp>
      <p:sp>
        <p:nvSpPr>
          <p:cNvPr id="7" name="Text 4"/>
          <p:cNvSpPr txBox="1"/>
          <p:nvPr/>
        </p:nvSpPr>
        <p:spPr>
          <a:xfrm>
            <a:off x="566928" y="3383280"/>
            <a:ext cx="5298948" cy="128016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So instead of "you will have 85 lakh", you get "in a bad run 56 lakh, typically 85 lakh, in a good run 1.35 crore" — and a probability of clearing your target.</a:t>
            </a:r>
            <a:endParaRPr lang="en-US" sz="1400" dirty="0"/>
          </a:p>
        </p:txBody>
      </p:sp>
      <p:sp>
        <p:nvSpPr>
          <p:cNvPr id="8" name="Shape 5"/>
          <p:cNvSpPr/>
          <p:nvPr/>
        </p:nvSpPr>
        <p:spPr>
          <a:xfrm>
            <a:off x="6323076" y="1645920"/>
            <a:ext cx="5298948" cy="731520"/>
          </a:xfrm>
          <a:prstGeom prst="roundRect">
            <a:avLst>
              <a:gd name="adj" fmla="val 10000"/>
            </a:avLst>
          </a:prstGeom>
          <a:solidFill>
            <a:srgbClr val="161F1C"/>
          </a:solidFill>
          <a:ln w="12700">
            <a:solidFill>
              <a:srgbClr val="1D2926"/>
            </a:solidFill>
            <a:prstDash val="solid"/>
          </a:ln>
        </p:spPr>
      </p:sp>
      <p:sp>
        <p:nvSpPr>
          <p:cNvPr id="9" name="Shape 6"/>
          <p:cNvSpPr/>
          <p:nvPr/>
        </p:nvSpPr>
        <p:spPr>
          <a:xfrm>
            <a:off x="6323076" y="1737360"/>
            <a:ext cx="45720" cy="548640"/>
          </a:xfrm>
          <a:prstGeom prst="rect">
            <a:avLst/>
          </a:prstGeom>
          <a:solidFill>
            <a:srgbClr val="FF5C7A"/>
          </a:solidFill>
          <a:ln w="12700">
            <a:solidFill>
              <a:srgbClr val="FF5C7A"/>
            </a:solidFill>
            <a:prstDash val="solid"/>
          </a:ln>
        </p:spPr>
      </p:sp>
      <p:sp>
        <p:nvSpPr>
          <p:cNvPr id="10" name="Text 7"/>
          <p:cNvSpPr txBox="1"/>
          <p:nvPr/>
        </p:nvSpPr>
        <p:spPr>
          <a:xfrm>
            <a:off x="6560820" y="1645920"/>
            <a:ext cx="3179369" cy="731520"/>
          </a:xfrm>
          <a:prstGeom prst="rect">
            <a:avLst/>
          </a:prstGeom>
          <a:noFill/>
          <a:ln/>
        </p:spPr>
        <p:txBody>
          <a:bodyPr wrap="square" lIns="0" tIns="0" rIns="0" bIns="0" rtlCol="0" anchor="ctr"/>
          <a:lstStyle/>
          <a:p>
            <a:pPr indent="0" marL="0">
              <a:buNone/>
            </a:pPr>
            <a:r>
              <a:rPr lang="en-US" sz="1300" dirty="0">
                <a:solidFill>
                  <a:srgbClr val="93A49D"/>
                </a:solidFill>
                <a:latin typeface="Calibri" pitchFamily="34" charset="0"/>
                <a:ea typeface="Calibri" pitchFamily="34" charset="-122"/>
                <a:cs typeface="Calibri" pitchFamily="34" charset="-120"/>
              </a:rPr>
              <a:t>Bad run (10th percentile)</a:t>
            </a:r>
            <a:endParaRPr lang="en-US" sz="1300" dirty="0"/>
          </a:p>
        </p:txBody>
      </p:sp>
      <p:sp>
        <p:nvSpPr>
          <p:cNvPr id="11" name="Text 8"/>
          <p:cNvSpPr txBox="1"/>
          <p:nvPr/>
        </p:nvSpPr>
        <p:spPr>
          <a:xfrm>
            <a:off x="9502445" y="1645920"/>
            <a:ext cx="1881835" cy="731520"/>
          </a:xfrm>
          <a:prstGeom prst="rect">
            <a:avLst/>
          </a:prstGeom>
          <a:noFill/>
          <a:ln/>
        </p:spPr>
        <p:txBody>
          <a:bodyPr wrap="square" lIns="0" tIns="0" rIns="0" bIns="0" rtlCol="0" anchor="ctr"/>
          <a:lstStyle/>
          <a:p>
            <a:pPr algn="r" indent="0" marL="0">
              <a:buNone/>
            </a:pPr>
            <a:r>
              <a:rPr lang="en-US" sz="1900" b="1" dirty="0">
                <a:solidFill>
                  <a:srgbClr val="FF5C7A"/>
                </a:solidFill>
                <a:latin typeface="Arial" pitchFamily="34" charset="0"/>
                <a:ea typeface="Arial" pitchFamily="34" charset="-122"/>
                <a:cs typeface="Arial" pitchFamily="34" charset="-120"/>
              </a:rPr>
              <a:t>₹56.58 L</a:t>
            </a:r>
            <a:endParaRPr lang="en-US" sz="1900" dirty="0"/>
          </a:p>
        </p:txBody>
      </p:sp>
      <p:sp>
        <p:nvSpPr>
          <p:cNvPr id="12" name="Shape 9"/>
          <p:cNvSpPr/>
          <p:nvPr/>
        </p:nvSpPr>
        <p:spPr>
          <a:xfrm>
            <a:off x="6323076" y="2514600"/>
            <a:ext cx="5298948" cy="731520"/>
          </a:xfrm>
          <a:prstGeom prst="roundRect">
            <a:avLst>
              <a:gd name="adj" fmla="val 10000"/>
            </a:avLst>
          </a:prstGeom>
          <a:solidFill>
            <a:srgbClr val="161F1C"/>
          </a:solidFill>
          <a:ln w="12700">
            <a:solidFill>
              <a:srgbClr val="1D2926"/>
            </a:solidFill>
            <a:prstDash val="solid"/>
          </a:ln>
        </p:spPr>
      </p:sp>
      <p:sp>
        <p:nvSpPr>
          <p:cNvPr id="13" name="Shape 10"/>
          <p:cNvSpPr/>
          <p:nvPr/>
        </p:nvSpPr>
        <p:spPr>
          <a:xfrm>
            <a:off x="6323076" y="2606040"/>
            <a:ext cx="45720" cy="548640"/>
          </a:xfrm>
          <a:prstGeom prst="rect">
            <a:avLst/>
          </a:prstGeom>
          <a:solidFill>
            <a:srgbClr val="E9EFEC"/>
          </a:solidFill>
          <a:ln w="12700">
            <a:solidFill>
              <a:srgbClr val="E9EFEC"/>
            </a:solidFill>
            <a:prstDash val="solid"/>
          </a:ln>
        </p:spPr>
      </p:sp>
      <p:sp>
        <p:nvSpPr>
          <p:cNvPr id="14" name="Text 11"/>
          <p:cNvSpPr txBox="1"/>
          <p:nvPr/>
        </p:nvSpPr>
        <p:spPr>
          <a:xfrm>
            <a:off x="6560820" y="2514600"/>
            <a:ext cx="3179369" cy="731520"/>
          </a:xfrm>
          <a:prstGeom prst="rect">
            <a:avLst/>
          </a:prstGeom>
          <a:noFill/>
          <a:ln/>
        </p:spPr>
        <p:txBody>
          <a:bodyPr wrap="square" lIns="0" tIns="0" rIns="0" bIns="0" rtlCol="0" anchor="ctr"/>
          <a:lstStyle/>
          <a:p>
            <a:pPr indent="0" marL="0">
              <a:buNone/>
            </a:pPr>
            <a:r>
              <a:rPr lang="en-US" sz="1300" dirty="0">
                <a:solidFill>
                  <a:srgbClr val="93A49D"/>
                </a:solidFill>
                <a:latin typeface="Calibri" pitchFamily="34" charset="0"/>
                <a:ea typeface="Calibri" pitchFamily="34" charset="-122"/>
                <a:cs typeface="Calibri" pitchFamily="34" charset="-120"/>
              </a:rPr>
              <a:t>Median (50th)</a:t>
            </a:r>
            <a:endParaRPr lang="en-US" sz="1300" dirty="0"/>
          </a:p>
        </p:txBody>
      </p:sp>
      <p:sp>
        <p:nvSpPr>
          <p:cNvPr id="15" name="Text 12"/>
          <p:cNvSpPr txBox="1"/>
          <p:nvPr/>
        </p:nvSpPr>
        <p:spPr>
          <a:xfrm>
            <a:off x="9502445" y="2514600"/>
            <a:ext cx="1881835" cy="731520"/>
          </a:xfrm>
          <a:prstGeom prst="rect">
            <a:avLst/>
          </a:prstGeom>
          <a:noFill/>
          <a:ln/>
        </p:spPr>
        <p:txBody>
          <a:bodyPr wrap="square" lIns="0" tIns="0" rIns="0" bIns="0" rtlCol="0" anchor="ctr"/>
          <a:lstStyle/>
          <a:p>
            <a:pPr algn="r" indent="0" marL="0">
              <a:buNone/>
            </a:pPr>
            <a:r>
              <a:rPr lang="en-US" sz="1900" b="1" dirty="0">
                <a:solidFill>
                  <a:srgbClr val="E9EFEC"/>
                </a:solidFill>
                <a:latin typeface="Arial" pitchFamily="34" charset="0"/>
                <a:ea typeface="Arial" pitchFamily="34" charset="-122"/>
                <a:cs typeface="Arial" pitchFamily="34" charset="-120"/>
              </a:rPr>
              <a:t>₹85.20 L</a:t>
            </a:r>
            <a:endParaRPr lang="en-US" sz="1900" dirty="0"/>
          </a:p>
        </p:txBody>
      </p:sp>
      <p:sp>
        <p:nvSpPr>
          <p:cNvPr id="16" name="Shape 13"/>
          <p:cNvSpPr/>
          <p:nvPr/>
        </p:nvSpPr>
        <p:spPr>
          <a:xfrm>
            <a:off x="6323076" y="3383280"/>
            <a:ext cx="5298948" cy="731520"/>
          </a:xfrm>
          <a:prstGeom prst="roundRect">
            <a:avLst>
              <a:gd name="adj" fmla="val 10000"/>
            </a:avLst>
          </a:prstGeom>
          <a:solidFill>
            <a:srgbClr val="161F1C"/>
          </a:solidFill>
          <a:ln w="12700">
            <a:solidFill>
              <a:srgbClr val="1D2926"/>
            </a:solidFill>
            <a:prstDash val="solid"/>
          </a:ln>
        </p:spPr>
      </p:sp>
      <p:sp>
        <p:nvSpPr>
          <p:cNvPr id="17" name="Shape 14"/>
          <p:cNvSpPr/>
          <p:nvPr/>
        </p:nvSpPr>
        <p:spPr>
          <a:xfrm>
            <a:off x="6323076" y="3474720"/>
            <a:ext cx="45720" cy="548640"/>
          </a:xfrm>
          <a:prstGeom prst="rect">
            <a:avLst/>
          </a:prstGeom>
          <a:solidFill>
            <a:srgbClr val="2FD8A0"/>
          </a:solidFill>
          <a:ln w="12700">
            <a:solidFill>
              <a:srgbClr val="2FD8A0"/>
            </a:solidFill>
            <a:prstDash val="solid"/>
          </a:ln>
        </p:spPr>
      </p:sp>
      <p:sp>
        <p:nvSpPr>
          <p:cNvPr id="18" name="Text 15"/>
          <p:cNvSpPr txBox="1"/>
          <p:nvPr/>
        </p:nvSpPr>
        <p:spPr>
          <a:xfrm>
            <a:off x="6560820" y="3383280"/>
            <a:ext cx="3179369" cy="731520"/>
          </a:xfrm>
          <a:prstGeom prst="rect">
            <a:avLst/>
          </a:prstGeom>
          <a:noFill/>
          <a:ln/>
        </p:spPr>
        <p:txBody>
          <a:bodyPr wrap="square" lIns="0" tIns="0" rIns="0" bIns="0" rtlCol="0" anchor="ctr"/>
          <a:lstStyle/>
          <a:p>
            <a:pPr indent="0" marL="0">
              <a:buNone/>
            </a:pPr>
            <a:r>
              <a:rPr lang="en-US" sz="1300" dirty="0">
                <a:solidFill>
                  <a:srgbClr val="93A49D"/>
                </a:solidFill>
                <a:latin typeface="Calibri" pitchFamily="34" charset="0"/>
                <a:ea typeface="Calibri" pitchFamily="34" charset="-122"/>
                <a:cs typeface="Calibri" pitchFamily="34" charset="-120"/>
              </a:rPr>
              <a:t>Good run (90th)</a:t>
            </a:r>
            <a:endParaRPr lang="en-US" sz="1300" dirty="0"/>
          </a:p>
        </p:txBody>
      </p:sp>
      <p:sp>
        <p:nvSpPr>
          <p:cNvPr id="19" name="Text 16"/>
          <p:cNvSpPr txBox="1"/>
          <p:nvPr/>
        </p:nvSpPr>
        <p:spPr>
          <a:xfrm>
            <a:off x="9502445" y="3383280"/>
            <a:ext cx="1881835" cy="731520"/>
          </a:xfrm>
          <a:prstGeom prst="rect">
            <a:avLst/>
          </a:prstGeom>
          <a:noFill/>
          <a:ln/>
        </p:spPr>
        <p:txBody>
          <a:bodyPr wrap="square" lIns="0" tIns="0" rIns="0" bIns="0" rtlCol="0" anchor="ctr"/>
          <a:lstStyle/>
          <a:p>
            <a:pPr algn="r" indent="0" marL="0">
              <a:buNone/>
            </a:pPr>
            <a:r>
              <a:rPr lang="en-US" sz="1900" b="1" dirty="0">
                <a:solidFill>
                  <a:srgbClr val="2FD8A0"/>
                </a:solidFill>
                <a:latin typeface="Arial" pitchFamily="34" charset="0"/>
                <a:ea typeface="Arial" pitchFamily="34" charset="-122"/>
                <a:cs typeface="Arial" pitchFamily="34" charset="-120"/>
              </a:rPr>
              <a:t>₹1.35 Cr</a:t>
            </a:r>
            <a:endParaRPr lang="en-US" sz="1900" dirty="0"/>
          </a:p>
        </p:txBody>
      </p:sp>
      <p:sp>
        <p:nvSpPr>
          <p:cNvPr id="20" name="Text 17"/>
          <p:cNvSpPr txBox="1"/>
          <p:nvPr/>
        </p:nvSpPr>
        <p:spPr>
          <a:xfrm>
            <a:off x="6323076" y="4343400"/>
            <a:ext cx="5298948" cy="731520"/>
          </a:xfrm>
          <a:prstGeom prst="rect">
            <a:avLst/>
          </a:prstGeom>
          <a:noFill/>
          <a:ln/>
        </p:spPr>
        <p:txBody>
          <a:bodyPr wrap="square" lIns="0" tIns="0" rIns="0" bIns="0" rtlCol="0" anchor="t"/>
          <a:lstStyle/>
          <a:p>
            <a:pPr indent="0" marL="0">
              <a:lnSpc>
                <a:spcPct val="120000"/>
              </a:lnSpc>
              <a:buNone/>
            </a:pPr>
            <a:r>
              <a:rPr lang="en-US" sz="1250" dirty="0">
                <a:solidFill>
                  <a:srgbClr val="93A49D"/>
                </a:solidFill>
                <a:latin typeface="Calibri" pitchFamily="34" charset="0"/>
                <a:ea typeface="Calibri" pitchFamily="34" charset="-122"/>
                <a:cs typeface="Calibri" pitchFamily="34" charset="-120"/>
              </a:rPr>
              <a:t>All three are quoted in today’s money — results are deflated by inflation, so the figures are comparable to what you earn now.</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THE CORE ALGORITHM</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Geometric Brownian Motion, done carefully</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28</a:t>
            </a:r>
            <a:endParaRPr lang="en-US" sz="1000" dirty="0"/>
          </a:p>
        </p:txBody>
      </p:sp>
      <p:sp>
        <p:nvSpPr>
          <p:cNvPr id="6" name="Shape 3"/>
          <p:cNvSpPr/>
          <p:nvPr/>
        </p:nvSpPr>
        <p:spPr>
          <a:xfrm>
            <a:off x="566928" y="1600200"/>
            <a:ext cx="3514344" cy="2148840"/>
          </a:xfrm>
          <a:prstGeom prst="roundRect">
            <a:avLst>
              <a:gd name="adj" fmla="val 4255"/>
            </a:avLst>
          </a:prstGeom>
          <a:solidFill>
            <a:srgbClr val="161F1C"/>
          </a:solidFill>
          <a:ln w="12700">
            <a:solidFill>
              <a:srgbClr val="1D2926"/>
            </a:solidFill>
            <a:prstDash val="solid"/>
          </a:ln>
        </p:spPr>
      </p:sp>
      <p:sp>
        <p:nvSpPr>
          <p:cNvPr id="7" name="Text 4"/>
          <p:cNvSpPr txBox="1"/>
          <p:nvPr/>
        </p:nvSpPr>
        <p:spPr>
          <a:xfrm>
            <a:off x="804672" y="18013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Log-returns</a:t>
            </a:r>
            <a:endParaRPr lang="en-US" sz="1500" dirty="0"/>
          </a:p>
        </p:txBody>
      </p:sp>
      <p:sp>
        <p:nvSpPr>
          <p:cNvPr id="8" name="Text 5"/>
          <p:cNvSpPr txBox="1"/>
          <p:nvPr/>
        </p:nvSpPr>
        <p:spPr>
          <a:xfrm>
            <a:off x="804672" y="2404872"/>
            <a:ext cx="3038856" cy="11430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We sample log-returns on monthly steps, so a corpus can fall but never go negative. Sampling raw percentage returns lets a bad draw produce impossible values.</a:t>
            </a:r>
            <a:endParaRPr lang="en-US" sz="1300" dirty="0"/>
          </a:p>
        </p:txBody>
      </p:sp>
      <p:sp>
        <p:nvSpPr>
          <p:cNvPr id="9" name="Shape 6"/>
          <p:cNvSpPr/>
          <p:nvPr/>
        </p:nvSpPr>
        <p:spPr>
          <a:xfrm>
            <a:off x="4337304" y="1600200"/>
            <a:ext cx="3514344" cy="2148840"/>
          </a:xfrm>
          <a:prstGeom prst="roundRect">
            <a:avLst>
              <a:gd name="adj" fmla="val 4255"/>
            </a:avLst>
          </a:prstGeom>
          <a:solidFill>
            <a:srgbClr val="161F1C"/>
          </a:solidFill>
          <a:ln w="12700">
            <a:solidFill>
              <a:srgbClr val="1D2926"/>
            </a:solidFill>
            <a:prstDash val="solid"/>
          </a:ln>
        </p:spPr>
      </p:sp>
      <p:sp>
        <p:nvSpPr>
          <p:cNvPr id="10" name="Text 7"/>
          <p:cNvSpPr txBox="1"/>
          <p:nvPr/>
        </p:nvSpPr>
        <p:spPr>
          <a:xfrm>
            <a:off x="4575048" y="18013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Variance drag</a:t>
            </a:r>
            <a:endParaRPr lang="en-US" sz="1500" dirty="0"/>
          </a:p>
        </p:txBody>
      </p:sp>
      <p:sp>
        <p:nvSpPr>
          <p:cNvPr id="11" name="Text 8"/>
          <p:cNvSpPr txBox="1"/>
          <p:nvPr/>
        </p:nvSpPr>
        <p:spPr>
          <a:xfrm>
            <a:off x="4575048" y="2404872"/>
            <a:ext cx="3038856" cy="11430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We subtract half the variance from the drift so the arithmetic mean of simulated returns matches the expected return the user was shown.</a:t>
            </a:r>
            <a:endParaRPr lang="en-US" sz="1300" dirty="0"/>
          </a:p>
        </p:txBody>
      </p:sp>
      <p:sp>
        <p:nvSpPr>
          <p:cNvPr id="12" name="Shape 9"/>
          <p:cNvSpPr/>
          <p:nvPr/>
        </p:nvSpPr>
        <p:spPr>
          <a:xfrm>
            <a:off x="8107680" y="1600200"/>
            <a:ext cx="3514344" cy="2148840"/>
          </a:xfrm>
          <a:prstGeom prst="roundRect">
            <a:avLst>
              <a:gd name="adj" fmla="val 4255"/>
            </a:avLst>
          </a:prstGeom>
          <a:solidFill>
            <a:srgbClr val="161F1C"/>
          </a:solidFill>
          <a:ln w="12700">
            <a:solidFill>
              <a:srgbClr val="1D2926"/>
            </a:solidFill>
            <a:prstDash val="solid"/>
          </a:ln>
        </p:spPr>
      </p:sp>
      <p:sp>
        <p:nvSpPr>
          <p:cNvPr id="13" name="Text 10"/>
          <p:cNvSpPr txBox="1"/>
          <p:nvPr/>
        </p:nvSpPr>
        <p:spPr>
          <a:xfrm>
            <a:off x="8345424" y="18013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Seeded</a:t>
            </a:r>
            <a:endParaRPr lang="en-US" sz="1500" dirty="0"/>
          </a:p>
        </p:txBody>
      </p:sp>
      <p:sp>
        <p:nvSpPr>
          <p:cNvPr id="14" name="Text 11"/>
          <p:cNvSpPr txBox="1"/>
          <p:nvPr/>
        </p:nvSpPr>
        <p:spPr>
          <a:xfrm>
            <a:off x="8345424" y="2404872"/>
            <a:ext cx="3038856" cy="11430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Every run uses a fixed seed, so identical inputs always draw the identical fan chart. A cited probability can be reproduced.</a:t>
            </a:r>
            <a:endParaRPr lang="en-US" sz="1300" dirty="0"/>
          </a:p>
        </p:txBody>
      </p:sp>
      <p:sp>
        <p:nvSpPr>
          <p:cNvPr id="15" name="Shape 12"/>
          <p:cNvSpPr/>
          <p:nvPr/>
        </p:nvSpPr>
        <p:spPr>
          <a:xfrm>
            <a:off x="566928" y="3913632"/>
            <a:ext cx="11055096" cy="1234440"/>
          </a:xfrm>
          <a:prstGeom prst="roundRect">
            <a:avLst>
              <a:gd name="adj" fmla="val 7407"/>
            </a:avLst>
          </a:prstGeom>
          <a:solidFill>
            <a:srgbClr val="161F1C"/>
          </a:solidFill>
          <a:ln w="12700">
            <a:solidFill>
              <a:srgbClr val="1D2926"/>
            </a:solidFill>
            <a:prstDash val="solid"/>
          </a:ln>
        </p:spPr>
      </p:sp>
      <p:sp>
        <p:nvSpPr>
          <p:cNvPr id="16" name="Text 13"/>
          <p:cNvSpPr txBox="1"/>
          <p:nvPr/>
        </p:nvSpPr>
        <p:spPr>
          <a:xfrm>
            <a:off x="822960" y="4078224"/>
            <a:ext cx="10543032" cy="310896"/>
          </a:xfrm>
          <a:prstGeom prst="rect">
            <a:avLst/>
          </a:prstGeom>
          <a:noFill/>
          <a:ln/>
        </p:spPr>
        <p:txBody>
          <a:bodyPr wrap="square" lIns="0" tIns="0" rIns="0" bIns="0" rtlCol="0" anchor="ctr"/>
          <a:lstStyle/>
          <a:p>
            <a:pPr indent="0" marL="0">
              <a:buNone/>
            </a:pPr>
            <a:r>
              <a:rPr lang="en-US" sz="1600" b="1" dirty="0">
                <a:solidFill>
                  <a:srgbClr val="2FD8A0"/>
                </a:solidFill>
                <a:latin typeface="Arial" pitchFamily="34" charset="0"/>
                <a:ea typeface="Arial" pitchFamily="34" charset="-122"/>
                <a:cs typeface="Arial" pitchFamily="34" charset="-120"/>
              </a:rPr>
              <a:t>The bug we deliberately avoided</a:t>
            </a:r>
            <a:endParaRPr lang="en-US" sz="1600" dirty="0"/>
          </a:p>
        </p:txBody>
      </p:sp>
      <p:sp>
        <p:nvSpPr>
          <p:cNvPr id="17" name="Text 14"/>
          <p:cNvSpPr txBox="1"/>
          <p:nvPr/>
        </p:nvSpPr>
        <p:spPr>
          <a:xfrm>
            <a:off x="822960" y="4425696"/>
            <a:ext cx="10543032" cy="640080"/>
          </a:xfrm>
          <a:prstGeom prst="rect">
            <a:avLst/>
          </a:prstGeom>
          <a:noFill/>
          <a:ln/>
        </p:spPr>
        <p:txBody>
          <a:bodyPr wrap="square" lIns="0" tIns="0" rIns="0" bIns="0" rtlCol="0" anchor="t"/>
          <a:lstStyle/>
          <a:p>
            <a:pPr indent="0" marL="0">
              <a:lnSpc>
                <a:spcPct val="110000"/>
              </a:lnSpc>
              <a:buNone/>
            </a:pPr>
            <a:r>
              <a:rPr lang="en-US" sz="1350" dirty="0">
                <a:solidFill>
                  <a:srgbClr val="E9EFEC"/>
                </a:solidFill>
                <a:latin typeface="Calibri" pitchFamily="34" charset="0"/>
                <a:ea typeface="Calibri" pitchFamily="34" charset="-122"/>
                <a:cs typeface="Calibri" pitchFamily="34" charset="-120"/>
              </a:rPr>
              <a:t>Skipping the variance-drag correction is the single most common defect in retirement simulators. It silently inflates the median outcome by several percent a year — which compounds into a wildly optimistic answer over a 34-year horizon.</a:t>
            </a:r>
            <a:endParaRPr lang="en-US" sz="1350" dirty="0"/>
          </a:p>
        </p:txBody>
      </p:sp>
      <p:sp>
        <p:nvSpPr>
          <p:cNvPr id="18" name="Text 15"/>
          <p:cNvSpPr txBox="1"/>
          <p:nvPr/>
        </p:nvSpPr>
        <p:spPr>
          <a:xfrm>
            <a:off x="566928" y="5285232"/>
            <a:ext cx="11055096" cy="640080"/>
          </a:xfrm>
          <a:prstGeom prst="rect">
            <a:avLst/>
          </a:prstGeom>
          <a:noFill/>
          <a:ln/>
        </p:spPr>
        <p:txBody>
          <a:bodyPr wrap="square" lIns="0" tIns="0" rIns="0" bIns="0" rtlCol="0" anchor="t"/>
          <a:lstStyle/>
          <a:p>
            <a:pPr indent="0" marL="0">
              <a:lnSpc>
                <a:spcPct val="120000"/>
              </a:lnSpc>
              <a:buNone/>
            </a:pPr>
            <a:r>
              <a:rPr lang="en-US" sz="1250" dirty="0">
                <a:solidFill>
                  <a:srgbClr val="93A49D"/>
                </a:solidFill>
                <a:latin typeface="Calibri" pitchFamily="34" charset="0"/>
                <a:ea typeface="Calibri" pitchFamily="34" charset="-122"/>
                <a:cs typeface="Calibri" pitchFamily="34" charset="-120"/>
              </a:rPr>
              <a:t>The horizon is simulated in whole months, not rounded up to years — rounding up ran a goal due in 1.3 years for two full years of growth, overstating exactly the near-term goals that matter most.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fan chart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29</a:t>
            </a:r>
            <a:endParaRPr lang="en-US" sz="1000" dirty="0"/>
          </a:p>
        </p:txBody>
      </p:sp>
      <p:sp>
        <p:nvSpPr>
          <p:cNvPr id="6" name="Shape 3"/>
          <p:cNvSpPr/>
          <p:nvPr/>
        </p:nvSpPr>
        <p:spPr>
          <a:xfrm>
            <a:off x="566928" y="1645920"/>
            <a:ext cx="5298948" cy="731520"/>
          </a:xfrm>
          <a:prstGeom prst="roundRect">
            <a:avLst>
              <a:gd name="adj" fmla="val 10000"/>
            </a:avLst>
          </a:prstGeom>
          <a:solidFill>
            <a:srgbClr val="161F1C"/>
          </a:solidFill>
          <a:ln w="12700">
            <a:solidFill>
              <a:srgbClr val="1D2926"/>
            </a:solidFill>
            <a:prstDash val="solid"/>
          </a:ln>
        </p:spPr>
      </p:sp>
      <p:sp>
        <p:nvSpPr>
          <p:cNvPr id="7" name="Shape 4"/>
          <p:cNvSpPr/>
          <p:nvPr/>
        </p:nvSpPr>
        <p:spPr>
          <a:xfrm>
            <a:off x="566928" y="1737360"/>
            <a:ext cx="45720" cy="548640"/>
          </a:xfrm>
          <a:prstGeom prst="rect">
            <a:avLst/>
          </a:prstGeom>
          <a:solidFill>
            <a:srgbClr val="E9EFEC"/>
          </a:solidFill>
          <a:ln w="12700">
            <a:solidFill>
              <a:srgbClr val="E9EFEC"/>
            </a:solidFill>
            <a:prstDash val="solid"/>
          </a:ln>
        </p:spPr>
      </p:sp>
      <p:sp>
        <p:nvSpPr>
          <p:cNvPr id="8" name="Text 5"/>
          <p:cNvSpPr txBox="1"/>
          <p:nvPr/>
        </p:nvSpPr>
        <p:spPr>
          <a:xfrm>
            <a:off x="804672" y="1719072"/>
            <a:ext cx="4841748" cy="256032"/>
          </a:xfrm>
          <a:prstGeom prst="rect">
            <a:avLst/>
          </a:prstGeom>
          <a:noFill/>
          <a:ln/>
        </p:spPr>
        <p:txBody>
          <a:bodyPr wrap="square" lIns="0" tIns="0" rIns="0" bIns="0" rtlCol="0" anchor="ctr"/>
          <a:lstStyle/>
          <a:p>
            <a:pPr indent="0" marL="0">
              <a:buNone/>
            </a:pPr>
            <a:r>
              <a:rPr lang="en-US" sz="1300" b="1" dirty="0">
                <a:solidFill>
                  <a:srgbClr val="E9EFEC"/>
                </a:solidFill>
                <a:latin typeface="Calibri" pitchFamily="34" charset="0"/>
                <a:ea typeface="Calibri" pitchFamily="34" charset="-122"/>
                <a:cs typeface="Calibri" pitchFamily="34" charset="-120"/>
              </a:rPr>
              <a:t>The dark line</a:t>
            </a:r>
            <a:endParaRPr lang="en-US" sz="1300" dirty="0"/>
          </a:p>
        </p:txBody>
      </p:sp>
      <p:sp>
        <p:nvSpPr>
          <p:cNvPr id="9" name="Text 6"/>
          <p:cNvSpPr txBox="1"/>
          <p:nvPr/>
        </p:nvSpPr>
        <p:spPr>
          <a:xfrm>
            <a:off x="804672" y="1975104"/>
            <a:ext cx="4841748" cy="32918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The median path — half of all simulations finish above it, half below</a:t>
            </a:r>
            <a:endParaRPr lang="en-US" sz="1150" dirty="0"/>
          </a:p>
        </p:txBody>
      </p:sp>
      <p:sp>
        <p:nvSpPr>
          <p:cNvPr id="10" name="Shape 7"/>
          <p:cNvSpPr/>
          <p:nvPr/>
        </p:nvSpPr>
        <p:spPr>
          <a:xfrm>
            <a:off x="566928" y="2514600"/>
            <a:ext cx="5298948" cy="731520"/>
          </a:xfrm>
          <a:prstGeom prst="roundRect">
            <a:avLst>
              <a:gd name="adj" fmla="val 10000"/>
            </a:avLst>
          </a:prstGeom>
          <a:solidFill>
            <a:srgbClr val="161F1C"/>
          </a:solidFill>
          <a:ln w="12700">
            <a:solidFill>
              <a:srgbClr val="1D2926"/>
            </a:solidFill>
            <a:prstDash val="solid"/>
          </a:ln>
        </p:spPr>
      </p:sp>
      <p:sp>
        <p:nvSpPr>
          <p:cNvPr id="11" name="Shape 8"/>
          <p:cNvSpPr/>
          <p:nvPr/>
        </p:nvSpPr>
        <p:spPr>
          <a:xfrm>
            <a:off x="566928" y="2606040"/>
            <a:ext cx="45720" cy="548640"/>
          </a:xfrm>
          <a:prstGeom prst="rect">
            <a:avLst/>
          </a:prstGeom>
          <a:solidFill>
            <a:srgbClr val="6BB6EC"/>
          </a:solidFill>
          <a:ln w="12700">
            <a:solidFill>
              <a:srgbClr val="6BB6EC"/>
            </a:solidFill>
            <a:prstDash val="solid"/>
          </a:ln>
        </p:spPr>
      </p:sp>
      <p:sp>
        <p:nvSpPr>
          <p:cNvPr id="12" name="Text 9"/>
          <p:cNvSpPr txBox="1"/>
          <p:nvPr/>
        </p:nvSpPr>
        <p:spPr>
          <a:xfrm>
            <a:off x="804672" y="2587752"/>
            <a:ext cx="4841748" cy="256032"/>
          </a:xfrm>
          <a:prstGeom prst="rect">
            <a:avLst/>
          </a:prstGeom>
          <a:noFill/>
          <a:ln/>
        </p:spPr>
        <p:txBody>
          <a:bodyPr wrap="square" lIns="0" tIns="0" rIns="0" bIns="0" rtlCol="0" anchor="ctr"/>
          <a:lstStyle/>
          <a:p>
            <a:pPr indent="0" marL="0">
              <a:buNone/>
            </a:pPr>
            <a:r>
              <a:rPr lang="en-US" sz="1300" b="1" dirty="0">
                <a:solidFill>
                  <a:srgbClr val="6BB6EC"/>
                </a:solidFill>
                <a:latin typeface="Calibri" pitchFamily="34" charset="0"/>
                <a:ea typeface="Calibri" pitchFamily="34" charset="-122"/>
                <a:cs typeface="Calibri" pitchFamily="34" charset="-120"/>
              </a:rPr>
              <a:t>The inner band</a:t>
            </a:r>
            <a:endParaRPr lang="en-US" sz="1300" dirty="0"/>
          </a:p>
        </p:txBody>
      </p:sp>
      <p:sp>
        <p:nvSpPr>
          <p:cNvPr id="13" name="Text 10"/>
          <p:cNvSpPr txBox="1"/>
          <p:nvPr/>
        </p:nvSpPr>
        <p:spPr>
          <a:xfrm>
            <a:off x="804672" y="2843784"/>
            <a:ext cx="4841748" cy="32918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The middle 50% of outcomes, the 25th to 75th percentile</a:t>
            </a:r>
            <a:endParaRPr lang="en-US" sz="1150" dirty="0"/>
          </a:p>
        </p:txBody>
      </p:sp>
      <p:sp>
        <p:nvSpPr>
          <p:cNvPr id="14" name="Shape 11"/>
          <p:cNvSpPr/>
          <p:nvPr/>
        </p:nvSpPr>
        <p:spPr>
          <a:xfrm>
            <a:off x="566928" y="3383280"/>
            <a:ext cx="5298948" cy="731520"/>
          </a:xfrm>
          <a:prstGeom prst="roundRect">
            <a:avLst>
              <a:gd name="adj" fmla="val 10000"/>
            </a:avLst>
          </a:prstGeom>
          <a:solidFill>
            <a:srgbClr val="161F1C"/>
          </a:solidFill>
          <a:ln w="12700">
            <a:solidFill>
              <a:srgbClr val="1D2926"/>
            </a:solidFill>
            <a:prstDash val="solid"/>
          </a:ln>
        </p:spPr>
      </p:sp>
      <p:sp>
        <p:nvSpPr>
          <p:cNvPr id="15" name="Shape 12"/>
          <p:cNvSpPr/>
          <p:nvPr/>
        </p:nvSpPr>
        <p:spPr>
          <a:xfrm>
            <a:off x="566928" y="3474720"/>
            <a:ext cx="45720" cy="548640"/>
          </a:xfrm>
          <a:prstGeom prst="rect">
            <a:avLst/>
          </a:prstGeom>
          <a:solidFill>
            <a:srgbClr val="3E7E9B"/>
          </a:solidFill>
          <a:ln w="12700">
            <a:solidFill>
              <a:srgbClr val="3E7E9B"/>
            </a:solidFill>
            <a:prstDash val="solid"/>
          </a:ln>
        </p:spPr>
      </p:sp>
      <p:sp>
        <p:nvSpPr>
          <p:cNvPr id="16" name="Text 13"/>
          <p:cNvSpPr txBox="1"/>
          <p:nvPr/>
        </p:nvSpPr>
        <p:spPr>
          <a:xfrm>
            <a:off x="804672" y="3456432"/>
            <a:ext cx="4841748" cy="256032"/>
          </a:xfrm>
          <a:prstGeom prst="rect">
            <a:avLst/>
          </a:prstGeom>
          <a:noFill/>
          <a:ln/>
        </p:spPr>
        <p:txBody>
          <a:bodyPr wrap="square" lIns="0" tIns="0" rIns="0" bIns="0" rtlCol="0" anchor="ctr"/>
          <a:lstStyle/>
          <a:p>
            <a:pPr indent="0" marL="0">
              <a:buNone/>
            </a:pPr>
            <a:r>
              <a:rPr lang="en-US" sz="1300" b="1" dirty="0">
                <a:solidFill>
                  <a:srgbClr val="3E7E9B"/>
                </a:solidFill>
                <a:latin typeface="Calibri" pitchFamily="34" charset="0"/>
                <a:ea typeface="Calibri" pitchFamily="34" charset="-122"/>
                <a:cs typeface="Calibri" pitchFamily="34" charset="-120"/>
              </a:rPr>
              <a:t>The outer band</a:t>
            </a:r>
            <a:endParaRPr lang="en-US" sz="1300" dirty="0"/>
          </a:p>
        </p:txBody>
      </p:sp>
      <p:sp>
        <p:nvSpPr>
          <p:cNvPr id="17" name="Text 14"/>
          <p:cNvSpPr txBox="1"/>
          <p:nvPr/>
        </p:nvSpPr>
        <p:spPr>
          <a:xfrm>
            <a:off x="804672" y="3712464"/>
            <a:ext cx="4841748" cy="32918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The 10th to 90th percentile — the plausible range</a:t>
            </a:r>
            <a:endParaRPr lang="en-US" sz="1150" dirty="0"/>
          </a:p>
        </p:txBody>
      </p:sp>
      <p:sp>
        <p:nvSpPr>
          <p:cNvPr id="18" name="Shape 15"/>
          <p:cNvSpPr/>
          <p:nvPr/>
        </p:nvSpPr>
        <p:spPr>
          <a:xfrm>
            <a:off x="566928" y="4251960"/>
            <a:ext cx="5298948" cy="731520"/>
          </a:xfrm>
          <a:prstGeom prst="roundRect">
            <a:avLst>
              <a:gd name="adj" fmla="val 10000"/>
            </a:avLst>
          </a:prstGeom>
          <a:solidFill>
            <a:srgbClr val="161F1C"/>
          </a:solidFill>
          <a:ln w="12700">
            <a:solidFill>
              <a:srgbClr val="1D2926"/>
            </a:solidFill>
            <a:prstDash val="solid"/>
          </a:ln>
        </p:spPr>
      </p:sp>
      <p:sp>
        <p:nvSpPr>
          <p:cNvPr id="19" name="Shape 16"/>
          <p:cNvSpPr/>
          <p:nvPr/>
        </p:nvSpPr>
        <p:spPr>
          <a:xfrm>
            <a:off x="566928" y="4343400"/>
            <a:ext cx="45720" cy="548640"/>
          </a:xfrm>
          <a:prstGeom prst="rect">
            <a:avLst/>
          </a:prstGeom>
          <a:solidFill>
            <a:srgbClr val="E8A33D"/>
          </a:solidFill>
          <a:ln w="12700">
            <a:solidFill>
              <a:srgbClr val="E8A33D"/>
            </a:solidFill>
            <a:prstDash val="solid"/>
          </a:ln>
        </p:spPr>
      </p:sp>
      <p:sp>
        <p:nvSpPr>
          <p:cNvPr id="20" name="Text 17"/>
          <p:cNvSpPr txBox="1"/>
          <p:nvPr/>
        </p:nvSpPr>
        <p:spPr>
          <a:xfrm>
            <a:off x="804672" y="4325112"/>
            <a:ext cx="4841748" cy="256032"/>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The amber dot</a:t>
            </a:r>
            <a:endParaRPr lang="en-US" sz="1300" dirty="0"/>
          </a:p>
        </p:txBody>
      </p:sp>
      <p:sp>
        <p:nvSpPr>
          <p:cNvPr id="21" name="Text 18"/>
          <p:cNvSpPr txBox="1"/>
          <p:nvPr/>
        </p:nvSpPr>
        <p:spPr>
          <a:xfrm>
            <a:off x="804672" y="4581144"/>
            <a:ext cx="4841748" cy="32918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Your target: the corpus you actually need</a:t>
            </a:r>
            <a:endParaRPr lang="en-US" sz="1150" dirty="0"/>
          </a:p>
        </p:txBody>
      </p:sp>
      <p:sp>
        <p:nvSpPr>
          <p:cNvPr id="22" name="Text 19"/>
          <p:cNvSpPr txBox="1"/>
          <p:nvPr/>
        </p:nvSpPr>
        <p:spPr>
          <a:xfrm>
            <a:off x="6323076" y="1645920"/>
            <a:ext cx="5298948" cy="54864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The x-axis is years from now; the y-axis is corpus in today’s money.</a:t>
            </a:r>
            <a:endParaRPr lang="en-US" sz="1500" dirty="0"/>
          </a:p>
        </p:txBody>
      </p:sp>
      <p:sp>
        <p:nvSpPr>
          <p:cNvPr id="23" name="Text 20"/>
          <p:cNvSpPr txBox="1"/>
          <p:nvPr/>
        </p:nvSpPr>
        <p:spPr>
          <a:xfrm>
            <a:off x="6323076" y="2286000"/>
            <a:ext cx="5298948" cy="173736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The fan widens with time because uncertainty compounds. That widening is the whole point of the chart: it is a picture of how little anyone can promise about year 30, and why a single-line projection is a lie told confidently.</a:t>
            </a:r>
            <a:endParaRPr lang="en-US" sz="1400" dirty="0"/>
          </a:p>
        </p:txBody>
      </p:sp>
      <p:sp>
        <p:nvSpPr>
          <p:cNvPr id="24" name="Text 21"/>
          <p:cNvSpPr txBox="1"/>
          <p:nvPr/>
        </p:nvSpPr>
        <p:spPr>
          <a:xfrm>
            <a:off x="6323076" y="4114800"/>
            <a:ext cx="5298948" cy="914400"/>
          </a:xfrm>
          <a:prstGeom prst="rect">
            <a:avLst/>
          </a:prstGeom>
          <a:noFill/>
          <a:ln/>
        </p:spPr>
        <p:txBody>
          <a:bodyPr wrap="square" lIns="0" tIns="0" rIns="0" bIns="0" rtlCol="0" anchor="t"/>
          <a:lstStyle/>
          <a:p>
            <a:pPr indent="0" marL="0">
              <a:lnSpc>
                <a:spcPct val="120000"/>
              </a:lnSpc>
              <a:buNone/>
            </a:pPr>
            <a:r>
              <a:rPr lang="en-US" sz="1400" dirty="0">
                <a:solidFill>
                  <a:srgbClr val="2FD8A0"/>
                </a:solidFill>
                <a:latin typeface="Calibri" pitchFamily="34" charset="0"/>
                <a:ea typeface="Calibri" pitchFamily="34" charset="-122"/>
                <a:cs typeface="Calibri" pitchFamily="34" charset="-120"/>
              </a:rPr>
              <a:t>If the target dot sits above the top of the fan, no market outcome saves the plan — the inputs have to change.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outcome histogram</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30</a:t>
            </a:r>
            <a:endParaRPr lang="en-US" sz="1000" dirty="0"/>
          </a:p>
        </p:txBody>
      </p:sp>
      <p:sp>
        <p:nvSpPr>
          <p:cNvPr id="6" name="Shape 3"/>
          <p:cNvSpPr/>
          <p:nvPr/>
        </p:nvSpPr>
        <p:spPr>
          <a:xfrm>
            <a:off x="566928" y="1600200"/>
            <a:ext cx="3514344" cy="2651760"/>
          </a:xfrm>
          <a:prstGeom prst="roundRect">
            <a:avLst>
              <a:gd name="adj" fmla="val 3448"/>
            </a:avLst>
          </a:prstGeom>
          <a:solidFill>
            <a:srgbClr val="161F1C"/>
          </a:solidFill>
          <a:ln w="12700">
            <a:solidFill>
              <a:srgbClr val="1D2926"/>
            </a:solidFill>
            <a:prstDash val="solid"/>
          </a:ln>
        </p:spPr>
      </p:sp>
      <p:sp>
        <p:nvSpPr>
          <p:cNvPr id="7" name="Text 4"/>
          <p:cNvSpPr txBox="1"/>
          <p:nvPr/>
        </p:nvSpPr>
        <p:spPr>
          <a:xfrm>
            <a:off x="804672" y="18013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What each bar is</a:t>
            </a:r>
            <a:endParaRPr lang="en-US" sz="1500" dirty="0"/>
          </a:p>
        </p:txBody>
      </p:sp>
      <p:sp>
        <p:nvSpPr>
          <p:cNvPr id="8" name="Text 5"/>
          <p:cNvSpPr txBox="1"/>
          <p:nvPr/>
        </p:nvSpPr>
        <p:spPr>
          <a:xfrm>
            <a:off x="804672"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A band of final corpus values; the bar’s height is how many of the 2,500 simulations ended inside that band.</a:t>
            </a:r>
            <a:endParaRPr lang="en-US" sz="1300" dirty="0"/>
          </a:p>
        </p:txBody>
      </p:sp>
      <p:sp>
        <p:nvSpPr>
          <p:cNvPr id="9" name="Shape 6"/>
          <p:cNvSpPr/>
          <p:nvPr/>
        </p:nvSpPr>
        <p:spPr>
          <a:xfrm>
            <a:off x="4337304" y="1600200"/>
            <a:ext cx="3514344" cy="2651760"/>
          </a:xfrm>
          <a:prstGeom prst="roundRect">
            <a:avLst>
              <a:gd name="adj" fmla="val 3448"/>
            </a:avLst>
          </a:prstGeom>
          <a:solidFill>
            <a:srgbClr val="161F1C"/>
          </a:solidFill>
          <a:ln w="12700">
            <a:solidFill>
              <a:srgbClr val="1D2926"/>
            </a:solidFill>
            <a:prstDash val="solid"/>
          </a:ln>
        </p:spPr>
      </p:sp>
      <p:sp>
        <p:nvSpPr>
          <p:cNvPr id="10" name="Text 7"/>
          <p:cNvSpPr txBox="1"/>
          <p:nvPr/>
        </p:nvSpPr>
        <p:spPr>
          <a:xfrm>
            <a:off x="4575048" y="18013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The shape</a:t>
            </a:r>
            <a:endParaRPr lang="en-US" sz="1500" dirty="0"/>
          </a:p>
        </p:txBody>
      </p:sp>
      <p:sp>
        <p:nvSpPr>
          <p:cNvPr id="11" name="Text 8"/>
          <p:cNvSpPr txBox="1"/>
          <p:nvPr/>
        </p:nvSpPr>
        <p:spPr>
          <a:xfrm>
            <a:off x="4575048"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Right-skewed, not a bell curve. Compounding makes large upside outcomes possible but rare, while the downside is bounded at zero.</a:t>
            </a:r>
            <a:endParaRPr lang="en-US" sz="1300" dirty="0"/>
          </a:p>
        </p:txBody>
      </p:sp>
      <p:sp>
        <p:nvSpPr>
          <p:cNvPr id="12" name="Shape 9"/>
          <p:cNvSpPr/>
          <p:nvPr/>
        </p:nvSpPr>
        <p:spPr>
          <a:xfrm>
            <a:off x="8107680" y="1600200"/>
            <a:ext cx="3514344" cy="2651760"/>
          </a:xfrm>
          <a:prstGeom prst="roundRect">
            <a:avLst>
              <a:gd name="adj" fmla="val 3448"/>
            </a:avLst>
          </a:prstGeom>
          <a:solidFill>
            <a:srgbClr val="161F1C"/>
          </a:solidFill>
          <a:ln w="12700">
            <a:solidFill>
              <a:srgbClr val="1D2926"/>
            </a:solidFill>
            <a:prstDash val="solid"/>
          </a:ln>
        </p:spPr>
      </p:sp>
      <p:sp>
        <p:nvSpPr>
          <p:cNvPr id="13" name="Text 10"/>
          <p:cNvSpPr txBox="1"/>
          <p:nvPr/>
        </p:nvSpPr>
        <p:spPr>
          <a:xfrm>
            <a:off x="8345424" y="18013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Why it matters</a:t>
            </a:r>
            <a:endParaRPr lang="en-US" sz="1500" dirty="0"/>
          </a:p>
        </p:txBody>
      </p:sp>
      <p:sp>
        <p:nvSpPr>
          <p:cNvPr id="14" name="Text 11"/>
          <p:cNvSpPr txBox="1"/>
          <p:nvPr/>
        </p:nvSpPr>
        <p:spPr>
          <a:xfrm>
            <a:off x="8345424" y="2404872"/>
            <a:ext cx="3038856" cy="164592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The median tells you the middle. The histogram tells you the spread — whether the plan usually lands near the median or is a coin flip.</a:t>
            </a:r>
            <a:endParaRPr lang="en-US" sz="1300" dirty="0"/>
          </a:p>
        </p:txBody>
      </p:sp>
      <p:sp>
        <p:nvSpPr>
          <p:cNvPr id="15" name="Text 12"/>
          <p:cNvSpPr txBox="1"/>
          <p:nvPr/>
        </p:nvSpPr>
        <p:spPr>
          <a:xfrm>
            <a:off x="566928" y="4617720"/>
            <a:ext cx="11055096" cy="91440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Success probability is simply the share of bars to the right of the target line: the fraction of simulated paths that finished at or above the inflated corpus you need. For Aarav today, that figure is close to zero — which is the honest answer.</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6 — PORTFOLIO</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What you hold, and where it has drifted</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31</a:t>
            </a:r>
            <a:endParaRPr lang="en-US" sz="1000" dirty="0"/>
          </a:p>
        </p:txBody>
      </p:sp>
      <p:pic>
        <p:nvPicPr>
          <p:cNvPr id="6" name="Image 0" descr="C:\Users\deepa\AppData\Local\Temp\claude\C--Users-deepa-OneDrive-Desktop-BroadBridge\76219d84-4fcb-4f71-a8fc-a638015e9df8\scratchpad\shots\portfolio.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Allocation versus target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32</a:t>
            </a:r>
            <a:endParaRPr lang="en-US" sz="1000" dirty="0"/>
          </a:p>
        </p:txBody>
      </p:sp>
      <p:sp>
        <p:nvSpPr>
          <p:cNvPr id="6" name="Text 3"/>
          <p:cNvSpPr txBox="1"/>
          <p:nvPr/>
        </p:nvSpPr>
        <p:spPr>
          <a:xfrm>
            <a:off x="566928" y="1645920"/>
            <a:ext cx="5298948" cy="9144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Two stacked bars, one above the other, on the same 100% scale: what you hold today and the mix your risk profile supports.</a:t>
            </a:r>
            <a:endParaRPr lang="en-US" sz="1500" dirty="0"/>
          </a:p>
        </p:txBody>
      </p:sp>
      <p:sp>
        <p:nvSpPr>
          <p:cNvPr id="7" name="Text 4"/>
          <p:cNvSpPr txBox="1"/>
          <p:nvPr/>
        </p:nvSpPr>
        <p:spPr>
          <a:xfrm>
            <a:off x="566928" y="2651760"/>
            <a:ext cx="5298948" cy="137160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Aarav holds 65% domestic equity and 35% cash — two asset classes. The recommendation spreads the same money across six: 42% domestic equity, 13% international, 28% debt, 8% gold, plus REITs and cash.</a:t>
            </a:r>
            <a:endParaRPr lang="en-US" sz="1400" dirty="0"/>
          </a:p>
        </p:txBody>
      </p:sp>
      <p:sp>
        <p:nvSpPr>
          <p:cNvPr id="8" name="Text 5"/>
          <p:cNvSpPr txBox="1"/>
          <p:nvPr/>
        </p:nvSpPr>
        <p:spPr>
          <a:xfrm>
            <a:off x="566928" y="4023360"/>
            <a:ext cx="5298948" cy="100584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Stacking beats two pie charts: the eye compares segment widths along a shared axis instead of comparing angles across two circles.</a:t>
            </a:r>
            <a:endParaRPr lang="en-US" sz="1400" dirty="0"/>
          </a:p>
        </p:txBody>
      </p:sp>
      <p:sp>
        <p:nvSpPr>
          <p:cNvPr id="9" name="Shape 6"/>
          <p:cNvSpPr/>
          <p:nvPr/>
        </p:nvSpPr>
        <p:spPr>
          <a:xfrm>
            <a:off x="6323076" y="1645920"/>
            <a:ext cx="5298948" cy="1234440"/>
          </a:xfrm>
          <a:prstGeom prst="roundRect">
            <a:avLst>
              <a:gd name="adj" fmla="val 7407"/>
            </a:avLst>
          </a:prstGeom>
          <a:solidFill>
            <a:srgbClr val="161F1C"/>
          </a:solidFill>
          <a:ln w="12700">
            <a:solidFill>
              <a:srgbClr val="1D2926"/>
            </a:solidFill>
            <a:prstDash val="solid"/>
          </a:ln>
        </p:spPr>
      </p:sp>
      <p:sp>
        <p:nvSpPr>
          <p:cNvPr id="10" name="Text 7"/>
          <p:cNvSpPr txBox="1"/>
          <p:nvPr/>
        </p:nvSpPr>
        <p:spPr>
          <a:xfrm>
            <a:off x="6542532" y="1792224"/>
            <a:ext cx="4860036" cy="274320"/>
          </a:xfrm>
          <a:prstGeom prst="rect">
            <a:avLst/>
          </a:prstGeom>
          <a:noFill/>
          <a:ln/>
        </p:spPr>
        <p:txBody>
          <a:bodyPr wrap="square" lIns="0" tIns="0" rIns="0" bIns="0" rtlCol="0" anchor="ctr"/>
          <a:lstStyle/>
          <a:p>
            <a:pPr indent="0" marL="0">
              <a:buNone/>
            </a:pPr>
            <a:r>
              <a:rPr lang="en-US" sz="1350" b="1" dirty="0">
                <a:solidFill>
                  <a:srgbClr val="2FD8A0"/>
                </a:solidFill>
                <a:latin typeface="Arial" pitchFamily="34" charset="0"/>
                <a:ea typeface="Arial" pitchFamily="34" charset="-122"/>
                <a:cs typeface="Arial" pitchFamily="34" charset="-120"/>
              </a:rPr>
              <a:t>Target depends on horizon too</a:t>
            </a:r>
            <a:endParaRPr lang="en-US" sz="1350" dirty="0"/>
          </a:p>
        </p:txBody>
      </p:sp>
      <p:sp>
        <p:nvSpPr>
          <p:cNvPr id="11" name="Text 8"/>
          <p:cNvSpPr txBox="1"/>
          <p:nvPr/>
        </p:nvSpPr>
        <p:spPr>
          <a:xfrm>
            <a:off x="6542532" y="2103120"/>
            <a:ext cx="4860036" cy="685800"/>
          </a:xfrm>
          <a:prstGeom prst="rect">
            <a:avLst/>
          </a:prstGeom>
          <a:noFill/>
          <a:ln/>
        </p:spPr>
        <p:txBody>
          <a:bodyPr wrap="square" lIns="0" tIns="0" rIns="0" bIns="0" rtlCol="0" anchor="t"/>
          <a:lstStyle/>
          <a:p>
            <a:pPr indent="0" marL="0">
              <a:lnSpc>
                <a:spcPct val="108000"/>
              </a:lnSpc>
              <a:buNone/>
            </a:pPr>
            <a:r>
              <a:rPr lang="en-US" sz="1200" dirty="0">
                <a:solidFill>
                  <a:srgbClr val="93A49D"/>
                </a:solidFill>
                <a:latin typeface="Calibri" pitchFamily="34" charset="0"/>
                <a:ea typeface="Calibri" pitchFamily="34" charset="-122"/>
                <a:cs typeface="Calibri" pitchFamily="34" charset="-120"/>
              </a:rPr>
              <a:t>The same risk bucket gives a different mix at 34 years than at 5. A glide path pulls equity down as the goal approaches.</a:t>
            </a:r>
            <a:endParaRPr lang="en-US" sz="1200" dirty="0"/>
          </a:p>
        </p:txBody>
      </p:sp>
      <p:sp>
        <p:nvSpPr>
          <p:cNvPr id="12" name="Shape 9"/>
          <p:cNvSpPr/>
          <p:nvPr/>
        </p:nvSpPr>
        <p:spPr>
          <a:xfrm>
            <a:off x="6323076" y="3035808"/>
            <a:ext cx="5298948" cy="1234440"/>
          </a:xfrm>
          <a:prstGeom prst="roundRect">
            <a:avLst>
              <a:gd name="adj" fmla="val 7407"/>
            </a:avLst>
          </a:prstGeom>
          <a:solidFill>
            <a:srgbClr val="161F1C"/>
          </a:solidFill>
          <a:ln w="12700">
            <a:solidFill>
              <a:srgbClr val="1D2926"/>
            </a:solidFill>
            <a:prstDash val="solid"/>
          </a:ln>
        </p:spPr>
      </p:sp>
      <p:sp>
        <p:nvSpPr>
          <p:cNvPr id="13" name="Text 10"/>
          <p:cNvSpPr txBox="1"/>
          <p:nvPr/>
        </p:nvSpPr>
        <p:spPr>
          <a:xfrm>
            <a:off x="6542532" y="3182112"/>
            <a:ext cx="4860036" cy="274320"/>
          </a:xfrm>
          <a:prstGeom prst="rect">
            <a:avLst/>
          </a:prstGeom>
          <a:noFill/>
          <a:ln/>
        </p:spPr>
        <p:txBody>
          <a:bodyPr wrap="square" lIns="0" tIns="0" rIns="0" bIns="0" rtlCol="0" anchor="ctr"/>
          <a:lstStyle/>
          <a:p>
            <a:pPr indent="0" marL="0">
              <a:buNone/>
            </a:pPr>
            <a:r>
              <a:rPr lang="en-US" sz="1350" b="1" dirty="0">
                <a:solidFill>
                  <a:srgbClr val="E8A33D"/>
                </a:solidFill>
                <a:latin typeface="Arial" pitchFamily="34" charset="0"/>
                <a:ea typeface="Arial" pitchFamily="34" charset="-122"/>
                <a:cs typeface="Arial" pitchFamily="34" charset="-120"/>
              </a:rPr>
              <a:t>Drift is halved on purpose</a:t>
            </a:r>
            <a:endParaRPr lang="en-US" sz="1350" dirty="0"/>
          </a:p>
        </p:txBody>
      </p:sp>
      <p:sp>
        <p:nvSpPr>
          <p:cNvPr id="14" name="Text 11"/>
          <p:cNvSpPr txBox="1"/>
          <p:nvPr/>
        </p:nvSpPr>
        <p:spPr>
          <a:xfrm>
            <a:off x="6542532" y="3493008"/>
            <a:ext cx="4860036" cy="685800"/>
          </a:xfrm>
          <a:prstGeom prst="rect">
            <a:avLst/>
          </a:prstGeom>
          <a:noFill/>
          <a:ln/>
        </p:spPr>
        <p:txBody>
          <a:bodyPr wrap="square" lIns="0" tIns="0" rIns="0" bIns="0" rtlCol="0" anchor="t"/>
          <a:lstStyle/>
          <a:p>
            <a:pPr indent="0" marL="0">
              <a:lnSpc>
                <a:spcPct val="108000"/>
              </a:lnSpc>
              <a:buNone/>
            </a:pPr>
            <a:r>
              <a:rPr lang="en-US" sz="1200" dirty="0">
                <a:solidFill>
                  <a:srgbClr val="93A49D"/>
                </a:solidFill>
                <a:latin typeface="Calibri" pitchFamily="34" charset="0"/>
                <a:ea typeface="Calibri" pitchFamily="34" charset="-122"/>
                <a:cs typeface="Calibri" pitchFamily="34" charset="-120"/>
              </a:rPr>
              <a:t>Every rupee overweight in one class is underweight in another, so we halve the sum of absolute deltas. The raw sum once reported "you have drifted 192%".</a:t>
            </a:r>
            <a:endParaRPr lang="en-US" sz="1200" dirty="0"/>
          </a:p>
        </p:txBody>
      </p:sp>
      <p:sp>
        <p:nvSpPr>
          <p:cNvPr id="15" name="Shape 12"/>
          <p:cNvSpPr/>
          <p:nvPr/>
        </p:nvSpPr>
        <p:spPr>
          <a:xfrm>
            <a:off x="6323076" y="4425696"/>
            <a:ext cx="5298948" cy="1234440"/>
          </a:xfrm>
          <a:prstGeom prst="roundRect">
            <a:avLst>
              <a:gd name="adj" fmla="val 7407"/>
            </a:avLst>
          </a:prstGeom>
          <a:solidFill>
            <a:srgbClr val="161F1C"/>
          </a:solidFill>
          <a:ln w="12700">
            <a:solidFill>
              <a:srgbClr val="1D2926"/>
            </a:solidFill>
            <a:prstDash val="solid"/>
          </a:ln>
        </p:spPr>
      </p:sp>
      <p:sp>
        <p:nvSpPr>
          <p:cNvPr id="16" name="Text 13"/>
          <p:cNvSpPr txBox="1"/>
          <p:nvPr/>
        </p:nvSpPr>
        <p:spPr>
          <a:xfrm>
            <a:off x="6542532" y="4572000"/>
            <a:ext cx="4860036" cy="274320"/>
          </a:xfrm>
          <a:prstGeom prst="rect">
            <a:avLst/>
          </a:prstGeom>
          <a:noFill/>
          <a:ln/>
        </p:spPr>
        <p:txBody>
          <a:bodyPr wrap="square" lIns="0" tIns="0" rIns="0" bIns="0" rtlCol="0" anchor="ctr"/>
          <a:lstStyle/>
          <a:p>
            <a:pPr indent="0" marL="0">
              <a:buNone/>
            </a:pPr>
            <a:r>
              <a:rPr lang="en-US" sz="1350" b="1" dirty="0">
                <a:solidFill>
                  <a:srgbClr val="6BB6EC"/>
                </a:solidFill>
                <a:latin typeface="Arial" pitchFamily="34" charset="0"/>
                <a:ea typeface="Arial" pitchFamily="34" charset="-122"/>
                <a:cs typeface="Arial" pitchFamily="34" charset="-120"/>
              </a:rPr>
              <a:t>It outputs trades</a:t>
            </a:r>
            <a:endParaRPr lang="en-US" sz="1350" dirty="0"/>
          </a:p>
        </p:txBody>
      </p:sp>
      <p:sp>
        <p:nvSpPr>
          <p:cNvPr id="17" name="Text 14"/>
          <p:cNvSpPr txBox="1"/>
          <p:nvPr/>
        </p:nvSpPr>
        <p:spPr>
          <a:xfrm>
            <a:off x="6542532" y="4882896"/>
            <a:ext cx="4860036" cy="685800"/>
          </a:xfrm>
          <a:prstGeom prst="rect">
            <a:avLst/>
          </a:prstGeom>
          <a:noFill/>
          <a:ln/>
        </p:spPr>
        <p:txBody>
          <a:bodyPr wrap="square" lIns="0" tIns="0" rIns="0" bIns="0" rtlCol="0" anchor="t"/>
          <a:lstStyle/>
          <a:p>
            <a:pPr indent="0" marL="0">
              <a:lnSpc>
                <a:spcPct val="108000"/>
              </a:lnSpc>
              <a:buNone/>
            </a:pPr>
            <a:r>
              <a:rPr lang="en-US" sz="1200" dirty="0">
                <a:solidFill>
                  <a:srgbClr val="93A49D"/>
                </a:solidFill>
                <a:latin typeface="Calibri" pitchFamily="34" charset="0"/>
                <a:ea typeface="Calibri" pitchFamily="34" charset="-122"/>
                <a:cs typeface="Calibri" pitchFamily="34" charset="-120"/>
              </a:rPr>
              <a:t>Not just a diagnosis — the engine computes the rupee amount to move in each class.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CHART EXPLAINED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Diversification, measured three ways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33</a:t>
            </a:r>
            <a:endParaRPr lang="en-US" sz="1000" dirty="0"/>
          </a:p>
        </p:txBody>
      </p:sp>
      <p:sp>
        <p:nvSpPr>
          <p:cNvPr id="6" name="Shape 3"/>
          <p:cNvSpPr/>
          <p:nvPr/>
        </p:nvSpPr>
        <p:spPr>
          <a:xfrm>
            <a:off x="566928" y="1645920"/>
            <a:ext cx="3514344" cy="1920240"/>
          </a:xfrm>
          <a:prstGeom prst="roundRect">
            <a:avLst>
              <a:gd name="adj" fmla="val 4762"/>
            </a:avLst>
          </a:prstGeom>
          <a:solidFill>
            <a:srgbClr val="161F1C"/>
          </a:solidFill>
          <a:ln w="12700">
            <a:solidFill>
              <a:srgbClr val="1D2926"/>
            </a:solidFill>
            <a:prstDash val="solid"/>
          </a:ln>
        </p:spPr>
      </p:sp>
      <p:sp>
        <p:nvSpPr>
          <p:cNvPr id="7" name="Text 4"/>
          <p:cNvSpPr txBox="1"/>
          <p:nvPr/>
        </p:nvSpPr>
        <p:spPr>
          <a:xfrm>
            <a:off x="804672" y="1828800"/>
            <a:ext cx="3038856" cy="566928"/>
          </a:xfrm>
          <a:prstGeom prst="rect">
            <a:avLst/>
          </a:prstGeom>
          <a:noFill/>
          <a:ln/>
        </p:spPr>
        <p:txBody>
          <a:bodyPr wrap="square" lIns="0" tIns="0" rIns="0" bIns="0" rtlCol="0" anchor="ctr"/>
          <a:lstStyle/>
          <a:p>
            <a:pPr indent="0" marL="0">
              <a:buNone/>
            </a:pPr>
            <a:r>
              <a:rPr lang="en-US" sz="3000" b="1" dirty="0">
                <a:solidFill>
                  <a:srgbClr val="2FD8A0"/>
                </a:solidFill>
                <a:latin typeface="Arial" pitchFamily="34" charset="0"/>
                <a:ea typeface="Arial" pitchFamily="34" charset="-122"/>
                <a:cs typeface="Arial" pitchFamily="34" charset="-120"/>
              </a:rPr>
              <a:t>40%</a:t>
            </a:r>
            <a:endParaRPr lang="en-US" sz="3000" dirty="0"/>
          </a:p>
        </p:txBody>
      </p:sp>
      <p:sp>
        <p:nvSpPr>
          <p:cNvPr id="8" name="Text 5"/>
          <p:cNvSpPr txBox="1"/>
          <p:nvPr/>
        </p:nvSpPr>
        <p:spPr>
          <a:xfrm>
            <a:off x="804672" y="2432304"/>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Spread</a:t>
            </a:r>
            <a:endParaRPr lang="en-US" sz="1500" dirty="0"/>
          </a:p>
        </p:txBody>
      </p:sp>
      <p:sp>
        <p:nvSpPr>
          <p:cNvPr id="9" name="Text 6"/>
          <p:cNvSpPr txBox="1"/>
          <p:nvPr/>
        </p:nvSpPr>
        <p:spPr>
          <a:xfrm>
            <a:off x="804672" y="2779776"/>
            <a:ext cx="3038856" cy="68580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How evenly value sits across asset classes — equity, debt, gold, REITs, cash</a:t>
            </a:r>
            <a:endParaRPr lang="en-US" sz="1200" dirty="0"/>
          </a:p>
        </p:txBody>
      </p:sp>
      <p:sp>
        <p:nvSpPr>
          <p:cNvPr id="10" name="Shape 7"/>
          <p:cNvSpPr/>
          <p:nvPr/>
        </p:nvSpPr>
        <p:spPr>
          <a:xfrm>
            <a:off x="4337304" y="1645920"/>
            <a:ext cx="3514344" cy="1920240"/>
          </a:xfrm>
          <a:prstGeom prst="roundRect">
            <a:avLst>
              <a:gd name="adj" fmla="val 4762"/>
            </a:avLst>
          </a:prstGeom>
          <a:solidFill>
            <a:srgbClr val="161F1C"/>
          </a:solidFill>
          <a:ln w="12700">
            <a:solidFill>
              <a:srgbClr val="1D2926"/>
            </a:solidFill>
            <a:prstDash val="solid"/>
          </a:ln>
        </p:spPr>
      </p:sp>
      <p:sp>
        <p:nvSpPr>
          <p:cNvPr id="11" name="Text 8"/>
          <p:cNvSpPr txBox="1"/>
          <p:nvPr/>
        </p:nvSpPr>
        <p:spPr>
          <a:xfrm>
            <a:off x="4575048" y="1828800"/>
            <a:ext cx="3038856" cy="566928"/>
          </a:xfrm>
          <a:prstGeom prst="rect">
            <a:avLst/>
          </a:prstGeom>
          <a:noFill/>
          <a:ln/>
        </p:spPr>
        <p:txBody>
          <a:bodyPr wrap="square" lIns="0" tIns="0" rIns="0" bIns="0" rtlCol="0" anchor="ctr"/>
          <a:lstStyle/>
          <a:p>
            <a:pPr indent="0" marL="0">
              <a:buNone/>
            </a:pPr>
            <a:r>
              <a:rPr lang="en-US" sz="3000" b="1" dirty="0">
                <a:solidFill>
                  <a:srgbClr val="2FD8A0"/>
                </a:solidFill>
                <a:latin typeface="Arial" pitchFamily="34" charset="0"/>
                <a:ea typeface="Arial" pitchFamily="34" charset="-122"/>
                <a:cs typeface="Arial" pitchFamily="34" charset="-120"/>
              </a:rPr>
              <a:t>30%</a:t>
            </a:r>
            <a:endParaRPr lang="en-US" sz="3000" dirty="0"/>
          </a:p>
        </p:txBody>
      </p:sp>
      <p:sp>
        <p:nvSpPr>
          <p:cNvPr id="12" name="Text 9"/>
          <p:cNvSpPr txBox="1"/>
          <p:nvPr/>
        </p:nvSpPr>
        <p:spPr>
          <a:xfrm>
            <a:off x="4575048" y="2432304"/>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Breadth</a:t>
            </a:r>
            <a:endParaRPr lang="en-US" sz="1500" dirty="0"/>
          </a:p>
        </p:txBody>
      </p:sp>
      <p:sp>
        <p:nvSpPr>
          <p:cNvPr id="13" name="Text 10"/>
          <p:cNvSpPr txBox="1"/>
          <p:nvPr/>
        </p:nvSpPr>
        <p:spPr>
          <a:xfrm>
            <a:off x="4575048" y="2779776"/>
            <a:ext cx="3038856" cy="68580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How many distinct holdings there are at all</a:t>
            </a:r>
            <a:endParaRPr lang="en-US" sz="1200" dirty="0"/>
          </a:p>
        </p:txBody>
      </p:sp>
      <p:sp>
        <p:nvSpPr>
          <p:cNvPr id="14" name="Shape 11"/>
          <p:cNvSpPr/>
          <p:nvPr/>
        </p:nvSpPr>
        <p:spPr>
          <a:xfrm>
            <a:off x="8107680" y="1645920"/>
            <a:ext cx="3514344" cy="1920240"/>
          </a:xfrm>
          <a:prstGeom prst="roundRect">
            <a:avLst>
              <a:gd name="adj" fmla="val 4762"/>
            </a:avLst>
          </a:prstGeom>
          <a:solidFill>
            <a:srgbClr val="161F1C"/>
          </a:solidFill>
          <a:ln w="12700">
            <a:solidFill>
              <a:srgbClr val="1D2926"/>
            </a:solidFill>
            <a:prstDash val="solid"/>
          </a:ln>
        </p:spPr>
      </p:sp>
      <p:sp>
        <p:nvSpPr>
          <p:cNvPr id="15" name="Text 12"/>
          <p:cNvSpPr txBox="1"/>
          <p:nvPr/>
        </p:nvSpPr>
        <p:spPr>
          <a:xfrm>
            <a:off x="8345424" y="1828800"/>
            <a:ext cx="3038856" cy="566928"/>
          </a:xfrm>
          <a:prstGeom prst="rect">
            <a:avLst/>
          </a:prstGeom>
          <a:noFill/>
          <a:ln/>
        </p:spPr>
        <p:txBody>
          <a:bodyPr wrap="square" lIns="0" tIns="0" rIns="0" bIns="0" rtlCol="0" anchor="ctr"/>
          <a:lstStyle/>
          <a:p>
            <a:pPr indent="0" marL="0">
              <a:buNone/>
            </a:pPr>
            <a:r>
              <a:rPr lang="en-US" sz="3000" b="1" dirty="0">
                <a:solidFill>
                  <a:srgbClr val="2FD8A0"/>
                </a:solidFill>
                <a:latin typeface="Arial" pitchFamily="34" charset="0"/>
                <a:ea typeface="Arial" pitchFamily="34" charset="-122"/>
                <a:cs typeface="Arial" pitchFamily="34" charset="-120"/>
              </a:rPr>
              <a:t>30%</a:t>
            </a:r>
            <a:endParaRPr lang="en-US" sz="3000" dirty="0"/>
          </a:p>
        </p:txBody>
      </p:sp>
      <p:sp>
        <p:nvSpPr>
          <p:cNvPr id="16" name="Text 13"/>
          <p:cNvSpPr txBox="1"/>
          <p:nvPr/>
        </p:nvSpPr>
        <p:spPr>
          <a:xfrm>
            <a:off x="8345424" y="2432304"/>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Concentration</a:t>
            </a:r>
            <a:endParaRPr lang="en-US" sz="1500" dirty="0"/>
          </a:p>
        </p:txBody>
      </p:sp>
      <p:sp>
        <p:nvSpPr>
          <p:cNvPr id="17" name="Text 14"/>
          <p:cNvSpPr txBox="1"/>
          <p:nvPr/>
        </p:nvSpPr>
        <p:spPr>
          <a:xfrm>
            <a:off x="8345424" y="2779776"/>
            <a:ext cx="3038856" cy="68580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How large the biggest single name is</a:t>
            </a:r>
            <a:endParaRPr lang="en-US" sz="1200" dirty="0"/>
          </a:p>
        </p:txBody>
      </p:sp>
      <p:sp>
        <p:nvSpPr>
          <p:cNvPr id="18" name="Shape 15"/>
          <p:cNvSpPr/>
          <p:nvPr/>
        </p:nvSpPr>
        <p:spPr>
          <a:xfrm>
            <a:off x="566928" y="3840480"/>
            <a:ext cx="5344668" cy="1188720"/>
          </a:xfrm>
          <a:prstGeom prst="roundRect">
            <a:avLst>
              <a:gd name="adj" fmla="val 7692"/>
            </a:avLst>
          </a:prstGeom>
          <a:solidFill>
            <a:srgbClr val="161F1C"/>
          </a:solidFill>
          <a:ln w="12700">
            <a:solidFill>
              <a:srgbClr val="1D2926"/>
            </a:solidFill>
            <a:prstDash val="solid"/>
          </a:ln>
        </p:spPr>
      </p:sp>
      <p:sp>
        <p:nvSpPr>
          <p:cNvPr id="19" name="Text 16"/>
          <p:cNvSpPr txBox="1"/>
          <p:nvPr/>
        </p:nvSpPr>
        <p:spPr>
          <a:xfrm>
            <a:off x="804672" y="4023360"/>
            <a:ext cx="4869180" cy="86868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"Effective positions: 2.57" — Aarav nominally holds three things, but weighted by size he is really holding about two and a half.</a:t>
            </a:r>
            <a:endParaRPr lang="en-US" sz="1300" dirty="0"/>
          </a:p>
        </p:txBody>
      </p:sp>
      <p:sp>
        <p:nvSpPr>
          <p:cNvPr id="20" name="Shape 17"/>
          <p:cNvSpPr/>
          <p:nvPr/>
        </p:nvSpPr>
        <p:spPr>
          <a:xfrm>
            <a:off x="6277356" y="3840480"/>
            <a:ext cx="5344668" cy="1188720"/>
          </a:xfrm>
          <a:prstGeom prst="roundRect">
            <a:avLst>
              <a:gd name="adj" fmla="val 7692"/>
            </a:avLst>
          </a:prstGeom>
          <a:solidFill>
            <a:srgbClr val="161F1C"/>
          </a:solidFill>
          <a:ln w="12700">
            <a:solidFill>
              <a:srgbClr val="1D2926"/>
            </a:solidFill>
            <a:prstDash val="solid"/>
          </a:ln>
        </p:spPr>
      </p:sp>
      <p:sp>
        <p:nvSpPr>
          <p:cNvPr id="21" name="Text 18"/>
          <p:cNvSpPr txBox="1"/>
          <p:nvPr/>
        </p:nvSpPr>
        <p:spPr>
          <a:xfrm>
            <a:off x="6515100" y="4023360"/>
            <a:ext cx="4869180" cy="86868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Only individual securities count toward concentration. A large index-fund position is diversified internally — flagging it would be noise.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7 — NEXT BEST ACTIONS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Ten recommendations from twelve rule checks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34</a:t>
            </a:r>
            <a:endParaRPr lang="en-US" sz="1000" dirty="0"/>
          </a:p>
        </p:txBody>
      </p:sp>
      <p:pic>
        <p:nvPicPr>
          <p:cNvPr id="6" name="Image 0" descr="C:\Users\deepa\AppData\Local\Temp\claude\C--Users-deepa-OneDrive-Desktop-BroadBridge\76219d84-4fcb-4f71-a8fc-a638015e9df8\scratchpad\shots\actions.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HOW ACTIONS ARE ORDERED</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planning waterfall, not raw impact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66928" y="1645920"/>
            <a:ext cx="2050085" cy="2057400"/>
          </a:xfrm>
          <a:prstGeom prst="roundRect">
            <a:avLst>
              <a:gd name="adj" fmla="val 4014"/>
            </a:avLst>
          </a:prstGeom>
          <a:solidFill>
            <a:srgbClr val="161F1C"/>
          </a:solidFill>
          <a:ln w="12700">
            <a:solidFill>
              <a:srgbClr val="1D2926"/>
            </a:solidFill>
            <a:prstDash val="solid"/>
          </a:ln>
        </p:spPr>
      </p:sp>
      <p:sp>
        <p:nvSpPr>
          <p:cNvPr id="7" name="Text 4"/>
          <p:cNvSpPr txBox="1"/>
          <p:nvPr/>
        </p:nvSpPr>
        <p:spPr>
          <a:xfrm>
            <a:off x="749808" y="1810512"/>
            <a:ext cx="1684325" cy="237744"/>
          </a:xfrm>
          <a:prstGeom prst="rect">
            <a:avLst/>
          </a:prstGeom>
          <a:noFill/>
          <a:ln/>
        </p:spPr>
        <p:txBody>
          <a:bodyPr wrap="square" lIns="0" tIns="0" rIns="0" bIns="0" rtlCol="0" anchor="ctr"/>
          <a:lstStyle/>
          <a:p>
            <a:pPr indent="0" marL="0">
              <a:buNone/>
            </a:pPr>
            <a:r>
              <a:rPr lang="en-US" sz="1100" dirty="0">
                <a:solidFill>
                  <a:srgbClr val="FF5C7A"/>
                </a:solidFill>
                <a:latin typeface="Calibri" pitchFamily="34" charset="0"/>
                <a:ea typeface="Calibri" pitchFamily="34" charset="-122"/>
                <a:cs typeface="Calibri" pitchFamily="34" charset="-120"/>
              </a:rPr>
              <a:t>Step 1</a:t>
            </a:r>
            <a:endParaRPr lang="en-US" sz="1100" dirty="0"/>
          </a:p>
        </p:txBody>
      </p:sp>
      <p:sp>
        <p:nvSpPr>
          <p:cNvPr id="8" name="Text 5"/>
          <p:cNvSpPr txBox="1"/>
          <p:nvPr/>
        </p:nvSpPr>
        <p:spPr>
          <a:xfrm>
            <a:off x="749808" y="2084832"/>
            <a:ext cx="1684325" cy="566928"/>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Stop the bleeding</a:t>
            </a:r>
            <a:endParaRPr lang="en-US" sz="1400" dirty="0"/>
          </a:p>
        </p:txBody>
      </p:sp>
      <p:sp>
        <p:nvSpPr>
          <p:cNvPr id="9" name="Text 6"/>
          <p:cNvSpPr txBox="1"/>
          <p:nvPr/>
        </p:nvSpPr>
        <p:spPr>
          <a:xfrm>
            <a:off x="749808" y="2688336"/>
            <a:ext cx="1684325" cy="9144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 debt whose payment does not cover its own interest outranks everything</a:t>
            </a:r>
            <a:endParaRPr lang="en-US" sz="1150" dirty="0"/>
          </a:p>
        </p:txBody>
      </p:sp>
      <p:sp>
        <p:nvSpPr>
          <p:cNvPr id="10" name="Shape 7"/>
          <p:cNvSpPr/>
          <p:nvPr/>
        </p:nvSpPr>
        <p:spPr>
          <a:xfrm>
            <a:off x="2818181" y="1645920"/>
            <a:ext cx="2050085" cy="2057400"/>
          </a:xfrm>
          <a:prstGeom prst="roundRect">
            <a:avLst>
              <a:gd name="adj" fmla="val 4014"/>
            </a:avLst>
          </a:prstGeom>
          <a:solidFill>
            <a:srgbClr val="161F1C"/>
          </a:solidFill>
          <a:ln w="12700">
            <a:solidFill>
              <a:srgbClr val="1D2926"/>
            </a:solidFill>
            <a:prstDash val="solid"/>
          </a:ln>
        </p:spPr>
      </p:sp>
      <p:sp>
        <p:nvSpPr>
          <p:cNvPr id="11" name="Text 8"/>
          <p:cNvSpPr txBox="1"/>
          <p:nvPr/>
        </p:nvSpPr>
        <p:spPr>
          <a:xfrm>
            <a:off x="3001061" y="1810512"/>
            <a:ext cx="1684325" cy="237744"/>
          </a:xfrm>
          <a:prstGeom prst="rect">
            <a:avLst/>
          </a:prstGeom>
          <a:noFill/>
          <a:ln/>
        </p:spPr>
        <p:txBody>
          <a:bodyPr wrap="square" lIns="0" tIns="0" rIns="0" bIns="0" rtlCol="0" anchor="ctr"/>
          <a:lstStyle/>
          <a:p>
            <a:pPr indent="0" marL="0">
              <a:buNone/>
            </a:pPr>
            <a:r>
              <a:rPr lang="en-US" sz="1100" dirty="0">
                <a:solidFill>
                  <a:srgbClr val="E8A33D"/>
                </a:solidFill>
                <a:latin typeface="Calibri" pitchFamily="34" charset="0"/>
                <a:ea typeface="Calibri" pitchFamily="34" charset="-122"/>
                <a:cs typeface="Calibri" pitchFamily="34" charset="-120"/>
              </a:rPr>
              <a:t>Step 2</a:t>
            </a:r>
            <a:endParaRPr lang="en-US" sz="1100" dirty="0"/>
          </a:p>
        </p:txBody>
      </p:sp>
      <p:sp>
        <p:nvSpPr>
          <p:cNvPr id="12" name="Text 9"/>
          <p:cNvSpPr txBox="1"/>
          <p:nvPr/>
        </p:nvSpPr>
        <p:spPr>
          <a:xfrm>
            <a:off x="3001061" y="2084832"/>
            <a:ext cx="1684325" cy="566928"/>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Protect</a:t>
            </a:r>
            <a:endParaRPr lang="en-US" sz="1400" dirty="0"/>
          </a:p>
        </p:txBody>
      </p:sp>
      <p:sp>
        <p:nvSpPr>
          <p:cNvPr id="13" name="Text 10"/>
          <p:cNvSpPr txBox="1"/>
          <p:nvPr/>
        </p:nvSpPr>
        <p:spPr>
          <a:xfrm>
            <a:off x="3001061" y="2688336"/>
            <a:ext cx="1684325" cy="9144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Emergency fund, life cover, health cover at the age-banded target</a:t>
            </a:r>
            <a:endParaRPr lang="en-US" sz="1150" dirty="0"/>
          </a:p>
        </p:txBody>
      </p:sp>
      <p:sp>
        <p:nvSpPr>
          <p:cNvPr id="14" name="Shape 11"/>
          <p:cNvSpPr/>
          <p:nvPr/>
        </p:nvSpPr>
        <p:spPr>
          <a:xfrm>
            <a:off x="5069434" y="1645920"/>
            <a:ext cx="2050085" cy="2057400"/>
          </a:xfrm>
          <a:prstGeom prst="roundRect">
            <a:avLst>
              <a:gd name="adj" fmla="val 4014"/>
            </a:avLst>
          </a:prstGeom>
          <a:solidFill>
            <a:srgbClr val="161F1C"/>
          </a:solidFill>
          <a:ln w="12700">
            <a:solidFill>
              <a:srgbClr val="1D2926"/>
            </a:solidFill>
            <a:prstDash val="solid"/>
          </a:ln>
        </p:spPr>
      </p:sp>
      <p:sp>
        <p:nvSpPr>
          <p:cNvPr id="15" name="Text 12"/>
          <p:cNvSpPr txBox="1"/>
          <p:nvPr/>
        </p:nvSpPr>
        <p:spPr>
          <a:xfrm>
            <a:off x="5252314" y="1810512"/>
            <a:ext cx="1684325" cy="237744"/>
          </a:xfrm>
          <a:prstGeom prst="rect">
            <a:avLst/>
          </a:prstGeom>
          <a:noFill/>
          <a:ln/>
        </p:spPr>
        <p:txBody>
          <a:bodyPr wrap="square" lIns="0" tIns="0" rIns="0" bIns="0" rtlCol="0" anchor="ctr"/>
          <a:lstStyle/>
          <a:p>
            <a:pPr indent="0" marL="0">
              <a:buNone/>
            </a:pPr>
            <a:r>
              <a:rPr lang="en-US" sz="1100" dirty="0">
                <a:solidFill>
                  <a:srgbClr val="E8A33D"/>
                </a:solidFill>
                <a:latin typeface="Calibri" pitchFamily="34" charset="0"/>
                <a:ea typeface="Calibri" pitchFamily="34" charset="-122"/>
                <a:cs typeface="Calibri" pitchFamily="34" charset="-120"/>
              </a:rPr>
              <a:t>Step 3</a:t>
            </a:r>
            <a:endParaRPr lang="en-US" sz="1100" dirty="0"/>
          </a:p>
        </p:txBody>
      </p:sp>
      <p:sp>
        <p:nvSpPr>
          <p:cNvPr id="16" name="Text 13"/>
          <p:cNvSpPr txBox="1"/>
          <p:nvPr/>
        </p:nvSpPr>
        <p:spPr>
          <a:xfrm>
            <a:off x="5252314" y="2084832"/>
            <a:ext cx="1684325" cy="566928"/>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Clear expensive debt</a:t>
            </a:r>
            <a:endParaRPr lang="en-US" sz="1400" dirty="0"/>
          </a:p>
        </p:txBody>
      </p:sp>
      <p:sp>
        <p:nvSpPr>
          <p:cNvPr id="17" name="Text 14"/>
          <p:cNvSpPr txBox="1"/>
          <p:nvPr/>
        </p:nvSpPr>
        <p:spPr>
          <a:xfrm>
            <a:off x="5252314" y="2688336"/>
            <a:ext cx="1684325" cy="9144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Anything above 15% APR beats any expected investment return</a:t>
            </a:r>
            <a:endParaRPr lang="en-US" sz="1150" dirty="0"/>
          </a:p>
        </p:txBody>
      </p:sp>
      <p:sp>
        <p:nvSpPr>
          <p:cNvPr id="18" name="Shape 15"/>
          <p:cNvSpPr/>
          <p:nvPr/>
        </p:nvSpPr>
        <p:spPr>
          <a:xfrm>
            <a:off x="7320686" y="1645920"/>
            <a:ext cx="2050085" cy="2057400"/>
          </a:xfrm>
          <a:prstGeom prst="roundRect">
            <a:avLst>
              <a:gd name="adj" fmla="val 4014"/>
            </a:avLst>
          </a:prstGeom>
          <a:solidFill>
            <a:srgbClr val="161F1C"/>
          </a:solidFill>
          <a:ln w="12700">
            <a:solidFill>
              <a:srgbClr val="1D2926"/>
            </a:solidFill>
            <a:prstDash val="solid"/>
          </a:ln>
        </p:spPr>
      </p:sp>
      <p:sp>
        <p:nvSpPr>
          <p:cNvPr id="19" name="Text 16"/>
          <p:cNvSpPr txBox="1"/>
          <p:nvPr/>
        </p:nvSpPr>
        <p:spPr>
          <a:xfrm>
            <a:off x="7503566" y="1810512"/>
            <a:ext cx="1684325" cy="237744"/>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Step 4</a:t>
            </a:r>
            <a:endParaRPr lang="en-US" sz="1100" dirty="0"/>
          </a:p>
        </p:txBody>
      </p:sp>
      <p:sp>
        <p:nvSpPr>
          <p:cNvPr id="20" name="Text 17"/>
          <p:cNvSpPr txBox="1"/>
          <p:nvPr/>
        </p:nvSpPr>
        <p:spPr>
          <a:xfrm>
            <a:off x="7503566" y="2084832"/>
            <a:ext cx="1684325" cy="566928"/>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Fund goals</a:t>
            </a:r>
            <a:endParaRPr lang="en-US" sz="1400" dirty="0"/>
          </a:p>
        </p:txBody>
      </p:sp>
      <p:sp>
        <p:nvSpPr>
          <p:cNvPr id="21" name="Text 18"/>
          <p:cNvSpPr txBox="1"/>
          <p:nvPr/>
        </p:nvSpPr>
        <p:spPr>
          <a:xfrm>
            <a:off x="7503566" y="2688336"/>
            <a:ext cx="1684325" cy="9144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Contributions, by priority then urgency</a:t>
            </a:r>
            <a:endParaRPr lang="en-US" sz="1150" dirty="0"/>
          </a:p>
        </p:txBody>
      </p:sp>
      <p:sp>
        <p:nvSpPr>
          <p:cNvPr id="22" name="Shape 19"/>
          <p:cNvSpPr/>
          <p:nvPr/>
        </p:nvSpPr>
        <p:spPr>
          <a:xfrm>
            <a:off x="9571939" y="1645920"/>
            <a:ext cx="2050085" cy="2057400"/>
          </a:xfrm>
          <a:prstGeom prst="roundRect">
            <a:avLst>
              <a:gd name="adj" fmla="val 4014"/>
            </a:avLst>
          </a:prstGeom>
          <a:solidFill>
            <a:srgbClr val="161F1C"/>
          </a:solidFill>
          <a:ln w="12700">
            <a:solidFill>
              <a:srgbClr val="1D2926"/>
            </a:solidFill>
            <a:prstDash val="solid"/>
          </a:ln>
        </p:spPr>
      </p:sp>
      <p:sp>
        <p:nvSpPr>
          <p:cNvPr id="23" name="Text 20"/>
          <p:cNvSpPr txBox="1"/>
          <p:nvPr/>
        </p:nvSpPr>
        <p:spPr>
          <a:xfrm>
            <a:off x="9754819" y="1810512"/>
            <a:ext cx="1684325" cy="237744"/>
          </a:xfrm>
          <a:prstGeom prst="rect">
            <a:avLst/>
          </a:prstGeom>
          <a:noFill/>
          <a:ln/>
        </p:spPr>
        <p:txBody>
          <a:bodyPr wrap="square" lIns="0" tIns="0" rIns="0" bIns="0" rtlCol="0" anchor="ctr"/>
          <a:lstStyle/>
          <a:p>
            <a:pPr indent="0" marL="0">
              <a:buNone/>
            </a:pPr>
            <a:r>
              <a:rPr lang="en-US" sz="1100" dirty="0">
                <a:solidFill>
                  <a:srgbClr val="6BB6EC"/>
                </a:solidFill>
                <a:latin typeface="Calibri" pitchFamily="34" charset="0"/>
                <a:ea typeface="Calibri" pitchFamily="34" charset="-122"/>
                <a:cs typeface="Calibri" pitchFamily="34" charset="-120"/>
              </a:rPr>
              <a:t>Step 5</a:t>
            </a:r>
            <a:endParaRPr lang="en-US" sz="1100" dirty="0"/>
          </a:p>
        </p:txBody>
      </p:sp>
      <p:sp>
        <p:nvSpPr>
          <p:cNvPr id="24" name="Text 21"/>
          <p:cNvSpPr txBox="1"/>
          <p:nvPr/>
        </p:nvSpPr>
        <p:spPr>
          <a:xfrm>
            <a:off x="9754819" y="2084832"/>
            <a:ext cx="1684325" cy="566928"/>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Optimise</a:t>
            </a:r>
            <a:endParaRPr lang="en-US" sz="1400" dirty="0"/>
          </a:p>
        </p:txBody>
      </p:sp>
      <p:sp>
        <p:nvSpPr>
          <p:cNvPr id="25" name="Text 22"/>
          <p:cNvSpPr txBox="1"/>
          <p:nvPr/>
        </p:nvSpPr>
        <p:spPr>
          <a:xfrm>
            <a:off x="9754819" y="2688336"/>
            <a:ext cx="1684325" cy="91440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Rebalance, cut expense ratios, tax efficiency</a:t>
            </a:r>
            <a:endParaRPr lang="en-US" sz="1150" dirty="0"/>
          </a:p>
        </p:txBody>
      </p:sp>
      <p:sp>
        <p:nvSpPr>
          <p:cNvPr id="26" name="Text 23"/>
          <p:cNvSpPr txBox="1"/>
          <p:nvPr/>
        </p:nvSpPr>
        <p:spPr>
          <a:xfrm>
            <a:off x="566928" y="3977640"/>
            <a:ext cx="11055096" cy="82296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Ordering follows the standard financial-planning waterfall rather than raw impact, because a rupee of emergency fund is worth more than a rupee of alpha when there is no buffer at all.</a:t>
            </a:r>
            <a:endParaRPr lang="en-US" sz="1500" dirty="0"/>
          </a:p>
        </p:txBody>
      </p:sp>
      <p:sp>
        <p:nvSpPr>
          <p:cNvPr id="27" name="Text 24"/>
          <p:cNvSpPr txBox="1"/>
          <p:nvPr/>
        </p:nvSpPr>
        <p:spPr>
          <a:xfrm>
            <a:off x="566928" y="4846320"/>
            <a:ext cx="11055096" cy="822960"/>
          </a:xfrm>
          <a:prstGeom prst="rect">
            <a:avLst/>
          </a:prstGeom>
          <a:noFill/>
          <a:ln/>
        </p:spPr>
        <p:txBody>
          <a:bodyPr wrap="square" lIns="0" tIns="0" rIns="0" bIns="0" rtlCol="0" anchor="t"/>
          <a:lstStyle/>
          <a:p>
            <a:pPr indent="0" marL="0">
              <a:lnSpc>
                <a:spcPct val="120000"/>
              </a:lnSpc>
              <a:buNone/>
            </a:pPr>
            <a:r>
              <a:rPr lang="en-US" sz="1300" dirty="0">
                <a:solidFill>
                  <a:srgbClr val="93A49D"/>
                </a:solidFill>
                <a:latin typeface="Calibri" pitchFamily="34" charset="0"/>
                <a:ea typeface="Calibri" pitchFamily="34" charset="-122"/>
                <a:cs typeface="Calibri" pitchFamily="34" charset="-120"/>
              </a:rPr>
              <a:t>Aarav’s top action: "Clear Credit Card before investing anything extra — it costs 42.0% a year while your portfolio is only expected to earn 9.2%. Paying it down is a guaranteed 32.8% return, which no investment can promise."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ACTIONS — STRUCTURE</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What every action carries</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36</a:t>
            </a:r>
            <a:endParaRPr lang="en-US" sz="1000" dirty="0"/>
          </a:p>
        </p:txBody>
      </p:sp>
      <p:sp>
        <p:nvSpPr>
          <p:cNvPr id="6" name="Shape 3"/>
          <p:cNvSpPr/>
          <p:nvPr/>
        </p:nvSpPr>
        <p:spPr>
          <a:xfrm>
            <a:off x="566928" y="1645920"/>
            <a:ext cx="5298948" cy="676656"/>
          </a:xfrm>
          <a:prstGeom prst="roundRect">
            <a:avLst>
              <a:gd name="adj" fmla="val 9459"/>
            </a:avLst>
          </a:prstGeom>
          <a:solidFill>
            <a:srgbClr val="161F1C"/>
          </a:solidFill>
          <a:ln w="12700">
            <a:solidFill>
              <a:srgbClr val="1D2926"/>
            </a:solidFill>
            <a:prstDash val="solid"/>
          </a:ln>
        </p:spPr>
      </p:sp>
      <p:sp>
        <p:nvSpPr>
          <p:cNvPr id="7" name="Text 4"/>
          <p:cNvSpPr txBox="1"/>
          <p:nvPr/>
        </p:nvSpPr>
        <p:spPr>
          <a:xfrm>
            <a:off x="768096" y="1737360"/>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Category</a:t>
            </a:r>
            <a:endParaRPr lang="en-US" sz="1300" dirty="0"/>
          </a:p>
        </p:txBody>
      </p:sp>
      <p:sp>
        <p:nvSpPr>
          <p:cNvPr id="8" name="Text 5"/>
          <p:cNvSpPr txBox="1"/>
          <p:nvPr/>
        </p:nvSpPr>
        <p:spPr>
          <a:xfrm>
            <a:off x="3481349" y="1737360"/>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debt, protection, goals, +4</a:t>
            </a:r>
            <a:endParaRPr lang="en-US" sz="1300" dirty="0"/>
          </a:p>
        </p:txBody>
      </p:sp>
      <p:sp>
        <p:nvSpPr>
          <p:cNvPr id="9" name="Shape 6"/>
          <p:cNvSpPr/>
          <p:nvPr/>
        </p:nvSpPr>
        <p:spPr>
          <a:xfrm>
            <a:off x="566928" y="2450592"/>
            <a:ext cx="5298948" cy="676656"/>
          </a:xfrm>
          <a:prstGeom prst="roundRect">
            <a:avLst>
              <a:gd name="adj" fmla="val 9459"/>
            </a:avLst>
          </a:prstGeom>
          <a:solidFill>
            <a:srgbClr val="161F1C"/>
          </a:solidFill>
          <a:ln w="12700">
            <a:solidFill>
              <a:srgbClr val="1D2926"/>
            </a:solidFill>
            <a:prstDash val="solid"/>
          </a:ln>
        </p:spPr>
      </p:sp>
      <p:sp>
        <p:nvSpPr>
          <p:cNvPr id="10" name="Text 7"/>
          <p:cNvSpPr txBox="1"/>
          <p:nvPr/>
        </p:nvSpPr>
        <p:spPr>
          <a:xfrm>
            <a:off x="768096" y="2542032"/>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Effort</a:t>
            </a:r>
            <a:endParaRPr lang="en-US" sz="1300" dirty="0"/>
          </a:p>
        </p:txBody>
      </p:sp>
      <p:sp>
        <p:nvSpPr>
          <p:cNvPr id="11" name="Text 8"/>
          <p:cNvSpPr txBox="1"/>
          <p:nvPr/>
        </p:nvSpPr>
        <p:spPr>
          <a:xfrm>
            <a:off x="3481349" y="2542032"/>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low, medium or high</a:t>
            </a:r>
            <a:endParaRPr lang="en-US" sz="1300" dirty="0"/>
          </a:p>
        </p:txBody>
      </p:sp>
      <p:sp>
        <p:nvSpPr>
          <p:cNvPr id="12" name="Shape 9"/>
          <p:cNvSpPr/>
          <p:nvPr/>
        </p:nvSpPr>
        <p:spPr>
          <a:xfrm>
            <a:off x="566928" y="3255264"/>
            <a:ext cx="5298948" cy="676656"/>
          </a:xfrm>
          <a:prstGeom prst="roundRect">
            <a:avLst>
              <a:gd name="adj" fmla="val 9459"/>
            </a:avLst>
          </a:prstGeom>
          <a:solidFill>
            <a:srgbClr val="161F1C"/>
          </a:solidFill>
          <a:ln w="12700">
            <a:solidFill>
              <a:srgbClr val="1D2926"/>
            </a:solidFill>
            <a:prstDash val="solid"/>
          </a:ln>
        </p:spPr>
      </p:sp>
      <p:sp>
        <p:nvSpPr>
          <p:cNvPr id="13" name="Text 10"/>
          <p:cNvSpPr txBox="1"/>
          <p:nvPr/>
        </p:nvSpPr>
        <p:spPr>
          <a:xfrm>
            <a:off x="768096" y="3346704"/>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Priority score</a:t>
            </a:r>
            <a:endParaRPr lang="en-US" sz="1300" dirty="0"/>
          </a:p>
        </p:txBody>
      </p:sp>
      <p:sp>
        <p:nvSpPr>
          <p:cNvPr id="14" name="Text 11"/>
          <p:cNvSpPr txBox="1"/>
          <p:nvPr/>
        </p:nvSpPr>
        <p:spPr>
          <a:xfrm>
            <a:off x="3481349" y="3346704"/>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0–100, computed from severity</a:t>
            </a:r>
            <a:endParaRPr lang="en-US" sz="1300" dirty="0"/>
          </a:p>
        </p:txBody>
      </p:sp>
      <p:sp>
        <p:nvSpPr>
          <p:cNvPr id="15" name="Shape 12"/>
          <p:cNvSpPr/>
          <p:nvPr/>
        </p:nvSpPr>
        <p:spPr>
          <a:xfrm>
            <a:off x="566928" y="4059936"/>
            <a:ext cx="5298948" cy="676656"/>
          </a:xfrm>
          <a:prstGeom prst="roundRect">
            <a:avLst>
              <a:gd name="adj" fmla="val 9459"/>
            </a:avLst>
          </a:prstGeom>
          <a:solidFill>
            <a:srgbClr val="161F1C"/>
          </a:solidFill>
          <a:ln w="12700">
            <a:solidFill>
              <a:srgbClr val="1D2926"/>
            </a:solidFill>
            <a:prstDash val="solid"/>
          </a:ln>
        </p:spPr>
      </p:sp>
      <p:sp>
        <p:nvSpPr>
          <p:cNvPr id="16" name="Text 13"/>
          <p:cNvSpPr txBox="1"/>
          <p:nvPr/>
        </p:nvSpPr>
        <p:spPr>
          <a:xfrm>
            <a:off x="768096" y="4151376"/>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Impact figure</a:t>
            </a:r>
            <a:endParaRPr lang="en-US" sz="1300" dirty="0"/>
          </a:p>
        </p:txBody>
      </p:sp>
      <p:sp>
        <p:nvSpPr>
          <p:cNvPr id="17" name="Text 14"/>
          <p:cNvSpPr txBox="1"/>
          <p:nvPr/>
        </p:nvSpPr>
        <p:spPr>
          <a:xfrm>
            <a:off x="3481349" y="4151376"/>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with its unit</a:t>
            </a:r>
            <a:endParaRPr lang="en-US" sz="1300" dirty="0"/>
          </a:p>
        </p:txBody>
      </p:sp>
      <p:sp>
        <p:nvSpPr>
          <p:cNvPr id="18" name="Shape 15"/>
          <p:cNvSpPr/>
          <p:nvPr/>
        </p:nvSpPr>
        <p:spPr>
          <a:xfrm>
            <a:off x="6323076" y="1645920"/>
            <a:ext cx="5298948" cy="676656"/>
          </a:xfrm>
          <a:prstGeom prst="roundRect">
            <a:avLst>
              <a:gd name="adj" fmla="val 9459"/>
            </a:avLst>
          </a:prstGeom>
          <a:solidFill>
            <a:srgbClr val="161F1C"/>
          </a:solidFill>
          <a:ln w="12700">
            <a:solidFill>
              <a:srgbClr val="1D2926"/>
            </a:solidFill>
            <a:prstDash val="solid"/>
          </a:ln>
        </p:spPr>
      </p:sp>
      <p:sp>
        <p:nvSpPr>
          <p:cNvPr id="19" name="Text 16"/>
          <p:cNvSpPr txBox="1"/>
          <p:nvPr/>
        </p:nvSpPr>
        <p:spPr>
          <a:xfrm>
            <a:off x="6524244" y="1737360"/>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Why this is advised</a:t>
            </a:r>
            <a:endParaRPr lang="en-US" sz="1300" dirty="0"/>
          </a:p>
        </p:txBody>
      </p:sp>
      <p:sp>
        <p:nvSpPr>
          <p:cNvPr id="20" name="Text 17"/>
          <p:cNvSpPr txBox="1"/>
          <p:nvPr/>
        </p:nvSpPr>
        <p:spPr>
          <a:xfrm>
            <a:off x="9237497" y="1737360"/>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a paragraph with real numbers</a:t>
            </a:r>
            <a:endParaRPr lang="en-US" sz="1300" dirty="0"/>
          </a:p>
        </p:txBody>
      </p:sp>
      <p:sp>
        <p:nvSpPr>
          <p:cNvPr id="21" name="Shape 18"/>
          <p:cNvSpPr/>
          <p:nvPr/>
        </p:nvSpPr>
        <p:spPr>
          <a:xfrm>
            <a:off x="6323076" y="2450592"/>
            <a:ext cx="5298948" cy="676656"/>
          </a:xfrm>
          <a:prstGeom prst="roundRect">
            <a:avLst>
              <a:gd name="adj" fmla="val 9459"/>
            </a:avLst>
          </a:prstGeom>
          <a:solidFill>
            <a:srgbClr val="161F1C"/>
          </a:solidFill>
          <a:ln w="12700">
            <a:solidFill>
              <a:srgbClr val="1D2926"/>
            </a:solidFill>
            <a:prstDash val="solid"/>
          </a:ln>
        </p:spPr>
      </p:sp>
      <p:sp>
        <p:nvSpPr>
          <p:cNvPr id="22" name="Text 19"/>
          <p:cNvSpPr txBox="1"/>
          <p:nvPr/>
        </p:nvSpPr>
        <p:spPr>
          <a:xfrm>
            <a:off x="6524244" y="2542032"/>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How do I do this?</a:t>
            </a:r>
            <a:endParaRPr lang="en-US" sz="1300" dirty="0"/>
          </a:p>
        </p:txBody>
      </p:sp>
      <p:sp>
        <p:nvSpPr>
          <p:cNvPr id="23" name="Text 20"/>
          <p:cNvSpPr txBox="1"/>
          <p:nvPr/>
        </p:nvSpPr>
        <p:spPr>
          <a:xfrm>
            <a:off x="9237497" y="2542032"/>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expandable concrete steps</a:t>
            </a:r>
            <a:endParaRPr lang="en-US" sz="1300" dirty="0"/>
          </a:p>
        </p:txBody>
      </p:sp>
      <p:sp>
        <p:nvSpPr>
          <p:cNvPr id="24" name="Shape 21"/>
          <p:cNvSpPr/>
          <p:nvPr/>
        </p:nvSpPr>
        <p:spPr>
          <a:xfrm>
            <a:off x="6323076" y="3255264"/>
            <a:ext cx="5298948" cy="676656"/>
          </a:xfrm>
          <a:prstGeom prst="roundRect">
            <a:avLst>
              <a:gd name="adj" fmla="val 9459"/>
            </a:avLst>
          </a:prstGeom>
          <a:solidFill>
            <a:srgbClr val="161F1C"/>
          </a:solidFill>
          <a:ln w="12700">
            <a:solidFill>
              <a:srgbClr val="1D2926"/>
            </a:solidFill>
            <a:prstDash val="solid"/>
          </a:ln>
        </p:spPr>
      </p:sp>
      <p:sp>
        <p:nvSpPr>
          <p:cNvPr id="25" name="Text 22"/>
          <p:cNvSpPr txBox="1"/>
          <p:nvPr/>
        </p:nvSpPr>
        <p:spPr>
          <a:xfrm>
            <a:off x="6524244" y="3346704"/>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Apply to my plan</a:t>
            </a:r>
            <a:endParaRPr lang="en-US" sz="1300" dirty="0"/>
          </a:p>
        </p:txBody>
      </p:sp>
      <p:sp>
        <p:nvSpPr>
          <p:cNvPr id="26" name="Text 23"/>
          <p:cNvSpPr txBox="1"/>
          <p:nvPr/>
        </p:nvSpPr>
        <p:spPr>
          <a:xfrm>
            <a:off x="9237497" y="3346704"/>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5 of the 10 work in one click</a:t>
            </a:r>
            <a:endParaRPr lang="en-US" sz="1300" dirty="0"/>
          </a:p>
        </p:txBody>
      </p:sp>
      <p:sp>
        <p:nvSpPr>
          <p:cNvPr id="27" name="Shape 24"/>
          <p:cNvSpPr/>
          <p:nvPr/>
        </p:nvSpPr>
        <p:spPr>
          <a:xfrm>
            <a:off x="6323076" y="4059936"/>
            <a:ext cx="5298948" cy="676656"/>
          </a:xfrm>
          <a:prstGeom prst="roundRect">
            <a:avLst>
              <a:gd name="adj" fmla="val 9459"/>
            </a:avLst>
          </a:prstGeom>
          <a:solidFill>
            <a:srgbClr val="161F1C"/>
          </a:solidFill>
          <a:ln w="12700">
            <a:solidFill>
              <a:srgbClr val="1D2926"/>
            </a:solidFill>
            <a:prstDash val="solid"/>
          </a:ln>
        </p:spPr>
      </p:sp>
      <p:sp>
        <p:nvSpPr>
          <p:cNvPr id="28" name="Text 25"/>
          <p:cNvSpPr txBox="1"/>
          <p:nvPr/>
        </p:nvSpPr>
        <p:spPr>
          <a:xfrm>
            <a:off x="6524244" y="4151376"/>
            <a:ext cx="2914421" cy="493776"/>
          </a:xfrm>
          <a:prstGeom prst="rect">
            <a:avLst/>
          </a:prstGeom>
          <a:noFill/>
          <a:ln/>
        </p:spPr>
        <p:txBody>
          <a:bodyPr wrap="square" lIns="0" tIns="0" rIns="0" bIns="0" rtlCol="0" anchor="ctr"/>
          <a:lstStyle/>
          <a:p>
            <a:pPr indent="0" marL="0">
              <a:buNone/>
            </a:pPr>
            <a:r>
              <a:rPr lang="en-US" sz="1300" dirty="0">
                <a:solidFill>
                  <a:srgbClr val="2FD8A0"/>
                </a:solidFill>
                <a:latin typeface="Calibri" pitchFamily="34" charset="0"/>
                <a:ea typeface="Calibri" pitchFamily="34" charset="-122"/>
                <a:cs typeface="Calibri" pitchFamily="34" charset="-120"/>
              </a:rPr>
              <a:t>Assumptions used</a:t>
            </a:r>
            <a:endParaRPr lang="en-US" sz="1300" dirty="0"/>
          </a:p>
        </p:txBody>
      </p:sp>
      <p:sp>
        <p:nvSpPr>
          <p:cNvPr id="29" name="Text 26"/>
          <p:cNvSpPr txBox="1"/>
          <p:nvPr/>
        </p:nvSpPr>
        <p:spPr>
          <a:xfrm>
            <a:off x="9237497" y="4151376"/>
            <a:ext cx="2183359" cy="493776"/>
          </a:xfrm>
          <a:prstGeom prst="rect">
            <a:avLst/>
          </a:prstGeom>
          <a:noFill/>
          <a:ln/>
        </p:spPr>
        <p:txBody>
          <a:bodyPr wrap="square" lIns="0" tIns="0" rIns="0" bIns="0" rtlCol="0" anchor="ctr"/>
          <a:lstStyle/>
          <a:p>
            <a:pPr algn="r" indent="0" marL="0">
              <a:buNone/>
            </a:pPr>
            <a:r>
              <a:rPr lang="en-US" sz="1300" dirty="0">
                <a:solidFill>
                  <a:srgbClr val="93A49D"/>
                </a:solidFill>
                <a:latin typeface="Calibri" pitchFamily="34" charset="0"/>
                <a:ea typeface="Calibri" pitchFamily="34" charset="-122"/>
                <a:cs typeface="Calibri" pitchFamily="34" charset="-120"/>
              </a:rPr>
              <a:t>listed, so it can be checked</a:t>
            </a:r>
            <a:endParaRPr lang="en-US" sz="1300" dirty="0"/>
          </a:p>
        </p:txBody>
      </p:sp>
      <p:sp>
        <p:nvSpPr>
          <p:cNvPr id="30" name="Text 27"/>
          <p:cNvSpPr txBox="1"/>
          <p:nvPr/>
        </p:nvSpPr>
        <p:spPr>
          <a:xfrm>
            <a:off x="566928" y="4754880"/>
            <a:ext cx="11055096" cy="822960"/>
          </a:xfrm>
          <a:prstGeom prst="rect">
            <a:avLst/>
          </a:prstGeom>
          <a:noFill/>
          <a:ln/>
        </p:spPr>
        <p:txBody>
          <a:bodyPr wrap="square" lIns="0" tIns="0" rIns="0" bIns="0" rtlCol="0" anchor="t"/>
          <a:lstStyle/>
          <a:p>
            <a:pPr indent="0" marL="0">
              <a:lnSpc>
                <a:spcPct val="120000"/>
              </a:lnSpc>
              <a:buNone/>
            </a:pPr>
            <a:r>
              <a:rPr lang="en-US" sz="1400" dirty="0">
                <a:solidFill>
                  <a:srgbClr val="E8A33D"/>
                </a:solidFill>
                <a:latin typeface="Calibri" pitchFamily="34" charset="0"/>
                <a:ea typeface="Calibri" pitchFamily="34" charset="-122"/>
                <a:cs typeface="Calibri" pitchFamily="34" charset="-120"/>
              </a:rPr>
              <a:t>Actions the platform cannot carry out are kept in a separate notModelled list, so the headline impact figure can never quietly take credit for advice you would have to act on yourself.</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8 — AI ASSISTANT</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Plain language in, real arithmetic out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37</a:t>
            </a:r>
            <a:endParaRPr lang="en-US" sz="1000" dirty="0"/>
          </a:p>
        </p:txBody>
      </p:sp>
      <p:pic>
        <p:nvPicPr>
          <p:cNvPr id="6" name="Image 0" descr="C:\Users\deepa\AppData\Local\Temp\claude\C--Users-deepa-OneDrive-Desktop-BroadBridge\76219d84-4fcb-4f71-a8fc-a638015e9df8\scratchpad\shots\assistant.jpg">    </p:cNvPr>
          <p:cNvPicPr>
            <a:picLocks noChangeAspect="1"/>
          </p:cNvPicPr>
          <p:nvPr/>
        </p:nvPicPr>
        <p:blipFill>
          <a:blip r:embed="rId1"/>
          <a:srcRect l="0" r="0" t="0" b="0"/>
          <a:stretch/>
        </p:blipFill>
        <p:spPr>
          <a:xfrm>
            <a:off x="988878" y="1600200"/>
            <a:ext cx="10211196" cy="44805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HOW THE AGENT WORKS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Plan, call tools, verify, answer</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66928" y="1645920"/>
            <a:ext cx="1690116" cy="1965960"/>
          </a:xfrm>
          <a:prstGeom prst="roundRect">
            <a:avLst>
              <a:gd name="adj" fmla="val 4869"/>
            </a:avLst>
          </a:prstGeom>
          <a:solidFill>
            <a:srgbClr val="161F1C"/>
          </a:solidFill>
          <a:ln w="12700">
            <a:solidFill>
              <a:srgbClr val="1D2926"/>
            </a:solidFill>
            <a:prstDash val="solid"/>
          </a:ln>
        </p:spPr>
      </p:sp>
      <p:sp>
        <p:nvSpPr>
          <p:cNvPr id="7" name="Text 4"/>
          <p:cNvSpPr txBox="1"/>
          <p:nvPr/>
        </p:nvSpPr>
        <p:spPr>
          <a:xfrm>
            <a:off x="731520"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01</a:t>
            </a:r>
            <a:endParaRPr lang="en-US" sz="1100" dirty="0"/>
          </a:p>
        </p:txBody>
      </p:sp>
      <p:sp>
        <p:nvSpPr>
          <p:cNvPr id="8" name="Text 5"/>
          <p:cNvSpPr txBox="1"/>
          <p:nvPr/>
        </p:nvSpPr>
        <p:spPr>
          <a:xfrm>
            <a:off x="731520"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Classify</a:t>
            </a:r>
            <a:endParaRPr lang="en-US" sz="1400" dirty="0"/>
          </a:p>
        </p:txBody>
      </p:sp>
      <p:sp>
        <p:nvSpPr>
          <p:cNvPr id="9" name="Text 6"/>
          <p:cNvSpPr txBox="1"/>
          <p:nvPr/>
        </p:nvSpPr>
        <p:spPr>
          <a:xfrm>
            <a:off x="731520"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An intent router decides what kind of question this is</a:t>
            </a:r>
            <a:endParaRPr lang="en-US" sz="1150" dirty="0"/>
          </a:p>
        </p:txBody>
      </p:sp>
      <p:sp>
        <p:nvSpPr>
          <p:cNvPr id="10" name="Shape 7"/>
          <p:cNvSpPr/>
          <p:nvPr/>
        </p:nvSpPr>
        <p:spPr>
          <a:xfrm>
            <a:off x="2439924" y="1645920"/>
            <a:ext cx="1690116" cy="1965960"/>
          </a:xfrm>
          <a:prstGeom prst="roundRect">
            <a:avLst>
              <a:gd name="adj" fmla="val 4869"/>
            </a:avLst>
          </a:prstGeom>
          <a:solidFill>
            <a:srgbClr val="161F1C"/>
          </a:solidFill>
          <a:ln w="12700">
            <a:solidFill>
              <a:srgbClr val="1D2926"/>
            </a:solidFill>
            <a:prstDash val="solid"/>
          </a:ln>
        </p:spPr>
      </p:sp>
      <p:sp>
        <p:nvSpPr>
          <p:cNvPr id="11" name="Text 8"/>
          <p:cNvSpPr txBox="1"/>
          <p:nvPr/>
        </p:nvSpPr>
        <p:spPr>
          <a:xfrm>
            <a:off x="2604516"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02</a:t>
            </a:r>
            <a:endParaRPr lang="en-US" sz="1100" dirty="0"/>
          </a:p>
        </p:txBody>
      </p:sp>
      <p:sp>
        <p:nvSpPr>
          <p:cNvPr id="12" name="Text 9"/>
          <p:cNvSpPr txBox="1"/>
          <p:nvPr/>
        </p:nvSpPr>
        <p:spPr>
          <a:xfrm>
            <a:off x="2604516"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Plan</a:t>
            </a:r>
            <a:endParaRPr lang="en-US" sz="1400" dirty="0"/>
          </a:p>
        </p:txBody>
      </p:sp>
      <p:sp>
        <p:nvSpPr>
          <p:cNvPr id="13" name="Text 10"/>
          <p:cNvSpPr txBox="1"/>
          <p:nvPr/>
        </p:nvSpPr>
        <p:spPr>
          <a:xfrm>
            <a:off x="2604516"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It chooses a toolchain before calling anything</a:t>
            </a:r>
            <a:endParaRPr lang="en-US" sz="1150" dirty="0"/>
          </a:p>
        </p:txBody>
      </p:sp>
      <p:sp>
        <p:nvSpPr>
          <p:cNvPr id="14" name="Shape 11"/>
          <p:cNvSpPr/>
          <p:nvPr/>
        </p:nvSpPr>
        <p:spPr>
          <a:xfrm>
            <a:off x="4312920" y="1645920"/>
            <a:ext cx="1690116" cy="1965960"/>
          </a:xfrm>
          <a:prstGeom prst="roundRect">
            <a:avLst>
              <a:gd name="adj" fmla="val 4869"/>
            </a:avLst>
          </a:prstGeom>
          <a:solidFill>
            <a:srgbClr val="161F1C"/>
          </a:solidFill>
          <a:ln w="12700">
            <a:solidFill>
              <a:srgbClr val="1D2926"/>
            </a:solidFill>
            <a:prstDash val="solid"/>
          </a:ln>
        </p:spPr>
      </p:sp>
      <p:sp>
        <p:nvSpPr>
          <p:cNvPr id="15" name="Text 12"/>
          <p:cNvSpPr txBox="1"/>
          <p:nvPr/>
        </p:nvSpPr>
        <p:spPr>
          <a:xfrm>
            <a:off x="4477512"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03</a:t>
            </a:r>
            <a:endParaRPr lang="en-US" sz="1100" dirty="0"/>
          </a:p>
        </p:txBody>
      </p:sp>
      <p:sp>
        <p:nvSpPr>
          <p:cNvPr id="16" name="Text 13"/>
          <p:cNvSpPr txBox="1"/>
          <p:nvPr/>
        </p:nvSpPr>
        <p:spPr>
          <a:xfrm>
            <a:off x="4477512"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Call tools</a:t>
            </a:r>
            <a:endParaRPr lang="en-US" sz="1400" dirty="0"/>
          </a:p>
        </p:txBody>
      </p:sp>
      <p:sp>
        <p:nvSpPr>
          <p:cNvPr id="17" name="Text 14"/>
          <p:cNvSpPr txBox="1"/>
          <p:nvPr/>
        </p:nvSpPr>
        <p:spPr>
          <a:xfrm>
            <a:off x="4477512"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Up to 14 tools, each a real function from the shared engine</a:t>
            </a:r>
            <a:endParaRPr lang="en-US" sz="1150" dirty="0"/>
          </a:p>
        </p:txBody>
      </p:sp>
      <p:sp>
        <p:nvSpPr>
          <p:cNvPr id="18" name="Shape 15"/>
          <p:cNvSpPr/>
          <p:nvPr/>
        </p:nvSpPr>
        <p:spPr>
          <a:xfrm>
            <a:off x="6185916" y="1645920"/>
            <a:ext cx="1690116" cy="1965960"/>
          </a:xfrm>
          <a:prstGeom prst="roundRect">
            <a:avLst>
              <a:gd name="adj" fmla="val 4869"/>
            </a:avLst>
          </a:prstGeom>
          <a:solidFill>
            <a:srgbClr val="161F1C"/>
          </a:solidFill>
          <a:ln w="12700">
            <a:solidFill>
              <a:srgbClr val="1D2926"/>
            </a:solidFill>
            <a:prstDash val="solid"/>
          </a:ln>
        </p:spPr>
      </p:sp>
      <p:sp>
        <p:nvSpPr>
          <p:cNvPr id="19" name="Text 16"/>
          <p:cNvSpPr txBox="1"/>
          <p:nvPr/>
        </p:nvSpPr>
        <p:spPr>
          <a:xfrm>
            <a:off x="6350508"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04</a:t>
            </a:r>
            <a:endParaRPr lang="en-US" sz="1100" dirty="0"/>
          </a:p>
        </p:txBody>
      </p:sp>
      <p:sp>
        <p:nvSpPr>
          <p:cNvPr id="20" name="Text 17"/>
          <p:cNvSpPr txBox="1"/>
          <p:nvPr/>
        </p:nvSpPr>
        <p:spPr>
          <a:xfrm>
            <a:off x="6350508"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Retrieve</a:t>
            </a:r>
            <a:endParaRPr lang="en-US" sz="1400" dirty="0"/>
          </a:p>
        </p:txBody>
      </p:sp>
      <p:sp>
        <p:nvSpPr>
          <p:cNvPr id="21" name="Text 18"/>
          <p:cNvSpPr txBox="1"/>
          <p:nvPr/>
        </p:nvSpPr>
        <p:spPr>
          <a:xfrm>
            <a:off x="6350508"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 small knowledge base of reference notes is searched</a:t>
            </a:r>
            <a:endParaRPr lang="en-US" sz="1150" dirty="0"/>
          </a:p>
        </p:txBody>
      </p:sp>
      <p:sp>
        <p:nvSpPr>
          <p:cNvPr id="22" name="Shape 19"/>
          <p:cNvSpPr/>
          <p:nvPr/>
        </p:nvSpPr>
        <p:spPr>
          <a:xfrm>
            <a:off x="8058912" y="1645920"/>
            <a:ext cx="1690116" cy="1965960"/>
          </a:xfrm>
          <a:prstGeom prst="roundRect">
            <a:avLst>
              <a:gd name="adj" fmla="val 4869"/>
            </a:avLst>
          </a:prstGeom>
          <a:solidFill>
            <a:srgbClr val="161F1C"/>
          </a:solidFill>
          <a:ln w="12700">
            <a:solidFill>
              <a:srgbClr val="1D2926"/>
            </a:solidFill>
            <a:prstDash val="solid"/>
          </a:ln>
        </p:spPr>
      </p:sp>
      <p:sp>
        <p:nvSpPr>
          <p:cNvPr id="23" name="Text 20"/>
          <p:cNvSpPr txBox="1"/>
          <p:nvPr/>
        </p:nvSpPr>
        <p:spPr>
          <a:xfrm>
            <a:off x="8223504"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05</a:t>
            </a:r>
            <a:endParaRPr lang="en-US" sz="1100" dirty="0"/>
          </a:p>
        </p:txBody>
      </p:sp>
      <p:sp>
        <p:nvSpPr>
          <p:cNvPr id="24" name="Text 21"/>
          <p:cNvSpPr txBox="1"/>
          <p:nvPr/>
        </p:nvSpPr>
        <p:spPr>
          <a:xfrm>
            <a:off x="8223504"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Verify</a:t>
            </a:r>
            <a:endParaRPr lang="en-US" sz="1400" dirty="0"/>
          </a:p>
        </p:txBody>
      </p:sp>
      <p:sp>
        <p:nvSpPr>
          <p:cNvPr id="25" name="Text 22"/>
          <p:cNvSpPr txBox="1"/>
          <p:nvPr/>
        </p:nvSpPr>
        <p:spPr>
          <a:xfrm>
            <a:off x="8223504"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A grounding check tests every figure in the draft answer</a:t>
            </a:r>
            <a:endParaRPr lang="en-US" sz="1150" dirty="0"/>
          </a:p>
        </p:txBody>
      </p:sp>
      <p:sp>
        <p:nvSpPr>
          <p:cNvPr id="26" name="Shape 23"/>
          <p:cNvSpPr/>
          <p:nvPr/>
        </p:nvSpPr>
        <p:spPr>
          <a:xfrm>
            <a:off x="9931908" y="1645920"/>
            <a:ext cx="1690116" cy="1965960"/>
          </a:xfrm>
          <a:prstGeom prst="roundRect">
            <a:avLst>
              <a:gd name="adj" fmla="val 4869"/>
            </a:avLst>
          </a:prstGeom>
          <a:solidFill>
            <a:srgbClr val="161F1C"/>
          </a:solidFill>
          <a:ln w="12700">
            <a:solidFill>
              <a:srgbClr val="1D2926"/>
            </a:solidFill>
            <a:prstDash val="solid"/>
          </a:ln>
        </p:spPr>
      </p:sp>
      <p:sp>
        <p:nvSpPr>
          <p:cNvPr id="27" name="Text 24"/>
          <p:cNvSpPr txBox="1"/>
          <p:nvPr/>
        </p:nvSpPr>
        <p:spPr>
          <a:xfrm>
            <a:off x="10096500" y="1810512"/>
            <a:ext cx="1360932" cy="219456"/>
          </a:xfrm>
          <a:prstGeom prst="rect">
            <a:avLst/>
          </a:prstGeom>
          <a:noFill/>
          <a:ln/>
        </p:spPr>
        <p:txBody>
          <a:bodyPr wrap="square" lIns="0" tIns="0" rIns="0" bIns="0" rtlCol="0" anchor="ctr"/>
          <a:lstStyle/>
          <a:p>
            <a:pPr indent="0" marL="0">
              <a:buNone/>
            </a:pPr>
            <a:r>
              <a:rPr lang="en-US" sz="1100" dirty="0">
                <a:solidFill>
                  <a:srgbClr val="2FD8A0"/>
                </a:solidFill>
                <a:latin typeface="Calibri" pitchFamily="34" charset="0"/>
                <a:ea typeface="Calibri" pitchFamily="34" charset="-122"/>
                <a:cs typeface="Calibri" pitchFamily="34" charset="-120"/>
              </a:rPr>
              <a:t>06</a:t>
            </a:r>
            <a:endParaRPr lang="en-US" sz="1100" dirty="0"/>
          </a:p>
        </p:txBody>
      </p:sp>
      <p:sp>
        <p:nvSpPr>
          <p:cNvPr id="28" name="Text 25"/>
          <p:cNvSpPr txBox="1"/>
          <p:nvPr/>
        </p:nvSpPr>
        <p:spPr>
          <a:xfrm>
            <a:off x="10096500" y="2066544"/>
            <a:ext cx="1360932" cy="310896"/>
          </a:xfrm>
          <a:prstGeom prst="rect">
            <a:avLst/>
          </a:prstGeom>
          <a:noFill/>
          <a:ln/>
        </p:spPr>
        <p:txBody>
          <a:bodyPr wrap="square" lIns="0" tIns="0" rIns="0" bIns="0" rtlCol="0" anchor="ctr"/>
          <a:lstStyle/>
          <a:p>
            <a:pPr indent="0" marL="0">
              <a:buNone/>
            </a:pPr>
            <a:r>
              <a:rPr lang="en-US" sz="1400" b="1" dirty="0">
                <a:solidFill>
                  <a:srgbClr val="E9EFEC"/>
                </a:solidFill>
                <a:latin typeface="Arial" pitchFamily="34" charset="0"/>
                <a:ea typeface="Arial" pitchFamily="34" charset="-122"/>
                <a:cs typeface="Arial" pitchFamily="34" charset="-120"/>
              </a:rPr>
              <a:t>Answer</a:t>
            </a:r>
            <a:endParaRPr lang="en-US" sz="1400" dirty="0"/>
          </a:p>
        </p:txBody>
      </p:sp>
      <p:sp>
        <p:nvSpPr>
          <p:cNvPr id="29" name="Text 26"/>
          <p:cNvSpPr txBox="1"/>
          <p:nvPr/>
        </p:nvSpPr>
        <p:spPr>
          <a:xfrm>
            <a:off x="10096500" y="2414016"/>
            <a:ext cx="1360932" cy="1051560"/>
          </a:xfrm>
          <a:prstGeom prst="rect">
            <a:avLst/>
          </a:prstGeom>
          <a:noFill/>
          <a:ln/>
        </p:spPr>
        <p:txBody>
          <a:bodyPr wrap="square" lIns="0" tIns="0" rIns="0" bIns="0" rtlCol="0" anchor="t"/>
          <a:lstStyle/>
          <a:p>
            <a:pPr indent="0" marL="0">
              <a:buNone/>
            </a:pPr>
            <a:r>
              <a:rPr lang="en-US" sz="1150" dirty="0">
                <a:solidFill>
                  <a:srgbClr val="93A49D"/>
                </a:solidFill>
                <a:latin typeface="Calibri" pitchFamily="34" charset="0"/>
                <a:ea typeface="Calibri" pitchFamily="34" charset="-122"/>
                <a:cs typeface="Calibri" pitchFamily="34" charset="-120"/>
              </a:rPr>
              <a:t>Streamed token by token over Server-Sent Events</a:t>
            </a:r>
            <a:endParaRPr lang="en-US" sz="1150" dirty="0"/>
          </a:p>
        </p:txBody>
      </p:sp>
      <p:sp>
        <p:nvSpPr>
          <p:cNvPr id="30" name="Text 27"/>
          <p:cNvSpPr txBox="1"/>
          <p:nvPr/>
        </p:nvSpPr>
        <p:spPr>
          <a:xfrm>
            <a:off x="566928" y="3886200"/>
            <a:ext cx="11055096" cy="91440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The tools are not descriptions of capabilities — they are the same functions the screens call. When the assistant says your retirement is 41% funded, it called buildSnapshot, exactly as the dashboard did.</a:t>
            </a:r>
            <a:endParaRPr lang="en-US" sz="1500" dirty="0"/>
          </a:p>
        </p:txBody>
      </p:sp>
      <p:sp>
        <p:nvSpPr>
          <p:cNvPr id="31" name="Text 28"/>
          <p:cNvSpPr txBox="1"/>
          <p:nvPr/>
        </p:nvSpPr>
        <p:spPr>
          <a:xfrm>
            <a:off x="566928" y="4892040"/>
            <a:ext cx="11055096" cy="731520"/>
          </a:xfrm>
          <a:prstGeom prst="rect">
            <a:avLst/>
          </a:prstGeom>
          <a:noFill/>
          <a:ln/>
        </p:spPr>
        <p:txBody>
          <a:bodyPr wrap="square" lIns="0" tIns="0" rIns="0" bIns="0" rtlCol="0" anchor="t"/>
          <a:lstStyle/>
          <a:p>
            <a:pPr indent="0" marL="0">
              <a:lnSpc>
                <a:spcPct val="120000"/>
              </a:lnSpc>
              <a:buNone/>
            </a:pPr>
            <a:r>
              <a:rPr lang="en-US" sz="1300" dirty="0">
                <a:solidFill>
                  <a:srgbClr val="93A49D"/>
                </a:solidFill>
                <a:latin typeface="Calibri" pitchFamily="34" charset="0"/>
                <a:ea typeface="Calibri" pitchFamily="34" charset="-122"/>
                <a:cs typeface="Calibri" pitchFamily="34" charset="-120"/>
              </a:rPr>
              <a:t>Every step appears live in the Reasoning Trace panel: the plan, each tool call and its timing, the documents retrieved, and the grounding result. Nothing happens off-screen.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THE SAFETY NET</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The grounding verifier</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39</a:t>
            </a:r>
            <a:endParaRPr lang="en-US" sz="1000" dirty="0"/>
          </a:p>
        </p:txBody>
      </p:sp>
      <p:sp>
        <p:nvSpPr>
          <p:cNvPr id="6" name="Text 3"/>
          <p:cNvSpPr txBox="1"/>
          <p:nvPr/>
        </p:nvSpPr>
        <p:spPr>
          <a:xfrm>
            <a:off x="566928" y="1645920"/>
            <a:ext cx="5298948" cy="1463040"/>
          </a:xfrm>
          <a:prstGeom prst="rect">
            <a:avLst/>
          </a:prstGeom>
          <a:noFill/>
          <a:ln/>
        </p:spPr>
        <p:txBody>
          <a:bodyPr wrap="square" lIns="0" tIns="0" rIns="0" bIns="0" rtlCol="0" anchor="t"/>
          <a:lstStyle/>
          <a:p>
            <a:pPr indent="0" marL="0">
              <a:lnSpc>
                <a:spcPct val="120000"/>
              </a:lnSpc>
              <a:buNone/>
            </a:pPr>
            <a:r>
              <a:rPr lang="en-US" sz="1500" dirty="0">
                <a:solidFill>
                  <a:srgbClr val="E9EFEC"/>
                </a:solidFill>
                <a:latin typeface="Calibri" pitchFamily="34" charset="0"/>
                <a:ea typeface="Calibri" pitchFamily="34" charset="-122"/>
                <a:cs typeface="Calibri" pitchFamily="34" charset="-120"/>
              </a:rPr>
              <a:t>Language models invent numbers. So after the model writes its answer, a verifier extracts every figure in the text and checks each one against the tool results that were actually returned.</a:t>
            </a:r>
            <a:endParaRPr lang="en-US" sz="1500" dirty="0"/>
          </a:p>
        </p:txBody>
      </p:sp>
      <p:sp>
        <p:nvSpPr>
          <p:cNvPr id="7" name="Text 4"/>
          <p:cNvSpPr txBox="1"/>
          <p:nvPr/>
        </p:nvSpPr>
        <p:spPr>
          <a:xfrm>
            <a:off x="566928" y="3200400"/>
            <a:ext cx="5298948" cy="1097280"/>
          </a:xfrm>
          <a:prstGeom prst="rect">
            <a:avLst/>
          </a:prstGeom>
          <a:noFill/>
          <a:ln/>
        </p:spPr>
        <p:txBody>
          <a:bodyPr wrap="square" lIns="0" tIns="0" rIns="0" bIns="0" rtlCol="0" anchor="t"/>
          <a:lstStyle/>
          <a:p>
            <a:pPr indent="0" marL="0">
              <a:lnSpc>
                <a:spcPct val="120000"/>
              </a:lnSpc>
              <a:buNone/>
            </a:pPr>
            <a:r>
              <a:rPr lang="en-US" sz="1400" dirty="0">
                <a:solidFill>
                  <a:srgbClr val="93A49D"/>
                </a:solidFill>
                <a:latin typeface="Calibri" pitchFamily="34" charset="0"/>
                <a:ea typeface="Calibri" pitchFamily="34" charset="-122"/>
                <a:cs typeface="Calibri" pitchFamily="34" charset="-120"/>
              </a:rPr>
              <a:t>A figure with no supporting tool output is flagged. The check and its evidence are shown to the user in the trace, not hidden in a log.</a:t>
            </a:r>
            <a:endParaRPr lang="en-US" sz="1400" dirty="0"/>
          </a:p>
        </p:txBody>
      </p:sp>
      <p:sp>
        <p:nvSpPr>
          <p:cNvPr id="8" name="Shape 5"/>
          <p:cNvSpPr/>
          <p:nvPr/>
        </p:nvSpPr>
        <p:spPr>
          <a:xfrm>
            <a:off x="6323076" y="1645920"/>
            <a:ext cx="5298948" cy="1463040"/>
          </a:xfrm>
          <a:prstGeom prst="roundRect">
            <a:avLst>
              <a:gd name="adj" fmla="val 6250"/>
            </a:avLst>
          </a:prstGeom>
          <a:solidFill>
            <a:srgbClr val="161F1C"/>
          </a:solidFill>
          <a:ln w="12700">
            <a:solidFill>
              <a:srgbClr val="1D2926"/>
            </a:solidFill>
            <a:prstDash val="solid"/>
          </a:ln>
        </p:spPr>
      </p:sp>
      <p:sp>
        <p:nvSpPr>
          <p:cNvPr id="9" name="Text 6"/>
          <p:cNvSpPr txBox="1"/>
          <p:nvPr/>
        </p:nvSpPr>
        <p:spPr>
          <a:xfrm>
            <a:off x="6542532" y="1810512"/>
            <a:ext cx="4860036" cy="274320"/>
          </a:xfrm>
          <a:prstGeom prst="rect">
            <a:avLst/>
          </a:prstGeom>
          <a:noFill/>
          <a:ln/>
        </p:spPr>
        <p:txBody>
          <a:bodyPr wrap="square" lIns="0" tIns="0" rIns="0" bIns="0" rtlCol="0" anchor="ctr"/>
          <a:lstStyle/>
          <a:p>
            <a:pPr indent="0" marL="0">
              <a:buNone/>
            </a:pPr>
            <a:r>
              <a:rPr lang="en-US" sz="1400" b="1" dirty="0">
                <a:solidFill>
                  <a:srgbClr val="2FD8A0"/>
                </a:solidFill>
                <a:latin typeface="Arial" pitchFamily="34" charset="0"/>
                <a:ea typeface="Arial" pitchFamily="34" charset="-122"/>
                <a:cs typeface="Arial" pitchFamily="34" charset="-120"/>
              </a:rPr>
              <a:t>Three providers, one interface</a:t>
            </a:r>
            <a:endParaRPr lang="en-US" sz="1400" dirty="0"/>
          </a:p>
        </p:txBody>
      </p:sp>
      <p:sp>
        <p:nvSpPr>
          <p:cNvPr id="10" name="Text 7"/>
          <p:cNvSpPr txBox="1"/>
          <p:nvPr/>
        </p:nvSpPr>
        <p:spPr>
          <a:xfrm>
            <a:off x="6542532" y="2139696"/>
            <a:ext cx="4860036" cy="86868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Claude via the Anthropic API, open-weights models on Groq, or a fully deterministic rule-based engine. The tools, the maths and the verifier are identical on all three.</a:t>
            </a:r>
            <a:endParaRPr lang="en-US" sz="1250" dirty="0"/>
          </a:p>
        </p:txBody>
      </p:sp>
      <p:sp>
        <p:nvSpPr>
          <p:cNvPr id="11" name="Shape 8"/>
          <p:cNvSpPr/>
          <p:nvPr/>
        </p:nvSpPr>
        <p:spPr>
          <a:xfrm>
            <a:off x="6323076" y="3291840"/>
            <a:ext cx="5298948" cy="1463040"/>
          </a:xfrm>
          <a:prstGeom prst="roundRect">
            <a:avLst>
              <a:gd name="adj" fmla="val 6250"/>
            </a:avLst>
          </a:prstGeom>
          <a:solidFill>
            <a:srgbClr val="161F1C"/>
          </a:solidFill>
          <a:ln w="12700">
            <a:solidFill>
              <a:srgbClr val="1D2926"/>
            </a:solidFill>
            <a:prstDash val="solid"/>
          </a:ln>
        </p:spPr>
      </p:sp>
      <p:sp>
        <p:nvSpPr>
          <p:cNvPr id="12" name="Text 9"/>
          <p:cNvSpPr txBox="1"/>
          <p:nvPr/>
        </p:nvSpPr>
        <p:spPr>
          <a:xfrm>
            <a:off x="6542532" y="3456432"/>
            <a:ext cx="4860036"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It works with no credentials at all</a:t>
            </a:r>
            <a:endParaRPr lang="en-US" sz="1400" dirty="0"/>
          </a:p>
        </p:txBody>
      </p:sp>
      <p:sp>
        <p:nvSpPr>
          <p:cNvPr id="13" name="Text 10"/>
          <p:cNvSpPr txBox="1"/>
          <p:nvPr/>
        </p:nvSpPr>
        <p:spPr>
          <a:xfrm>
            <a:off x="6542532" y="3785616"/>
            <a:ext cx="4860036" cy="86868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With no key configured the platform still plans, calls the same tools and grounds every figure — it just narrates from templates. The repo is clonable and demoable by anyone.</a:t>
            </a:r>
            <a:endParaRPr lang="en-US" sz="1250" dirty="0"/>
          </a:p>
        </p:txBody>
      </p:sp>
      <p:sp>
        <p:nvSpPr>
          <p:cNvPr id="14" name="Text 11"/>
          <p:cNvSpPr txBox="1"/>
          <p:nvPr/>
        </p:nvSpPr>
        <p:spPr>
          <a:xfrm>
            <a:off x="566928" y="4937760"/>
            <a:ext cx="11055096" cy="731520"/>
          </a:xfrm>
          <a:prstGeom prst="rect">
            <a:avLst/>
          </a:prstGeom>
          <a:noFill/>
          <a:ln/>
        </p:spPr>
        <p:txBody>
          <a:bodyPr wrap="square" lIns="0" tIns="0" rIns="0" bIns="0" rtlCol="0" anchor="t"/>
          <a:lstStyle/>
          <a:p>
            <a:pPr indent="0" marL="0">
              <a:lnSpc>
                <a:spcPct val="120000"/>
              </a:lnSpc>
              <a:buNone/>
            </a:pPr>
            <a:r>
              <a:rPr lang="en-US" sz="1400" dirty="0">
                <a:solidFill>
                  <a:srgbClr val="2FD8A0"/>
                </a:solidFill>
                <a:latin typeface="Calibri" pitchFamily="34" charset="0"/>
                <a:ea typeface="Calibri" pitchFamily="34" charset="-122"/>
                <a:cs typeface="Calibri" pitchFamily="34" charset="-120"/>
              </a:rPr>
              <a:t>This is the architectural payoff of the design rule from the start: because the model never computes, every number it says can be mechanically checked against something that did.</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8 — ASSUMPTIONS</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Every figure the platform believes, in one editable place</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40</a:t>
            </a:r>
            <a:endParaRPr lang="en-US" sz="1000" dirty="0"/>
          </a:p>
        </p:txBody>
      </p:sp>
      <p:pic>
        <p:nvPicPr>
          <p:cNvPr id="6" name="Image 0" descr="C:\Users\deepa\AppData\Local\Temp\claude\C--Users-deepa-OneDrive-Desktop-BroadBridge\76219d84-4fcb-4f71-a8fc-a638015e9df8\scratchpad\shots\assumptions.jpg">    </p:cNvPr>
          <p:cNvPicPr>
            <a:picLocks noChangeAspect="1"/>
          </p:cNvPicPr>
          <p:nvPr/>
        </p:nvPicPr>
        <p:blipFill>
          <a:blip r:embed="rId1"/>
          <a:srcRect l="0" r="0" t="0" b="0"/>
          <a:stretch/>
        </p:blipFill>
        <p:spPr>
          <a:xfrm>
            <a:off x="2864404" y="1572768"/>
            <a:ext cx="6460145" cy="2834640"/>
          </a:xfrm>
          <a:prstGeom prst="rect">
            <a:avLst/>
          </a:prstGeom>
        </p:spPr>
      </p:pic>
      <p:sp>
        <p:nvSpPr>
          <p:cNvPr id="7" name="Shape 3"/>
          <p:cNvSpPr/>
          <p:nvPr/>
        </p:nvSpPr>
        <p:spPr>
          <a:xfrm>
            <a:off x="566928" y="4572000"/>
            <a:ext cx="3514344" cy="1691640"/>
          </a:xfrm>
          <a:prstGeom prst="roundRect">
            <a:avLst>
              <a:gd name="adj" fmla="val 5405"/>
            </a:avLst>
          </a:prstGeom>
          <a:solidFill>
            <a:srgbClr val="161F1C"/>
          </a:solidFill>
          <a:ln w="12700">
            <a:solidFill>
              <a:srgbClr val="1D2926"/>
            </a:solidFill>
            <a:prstDash val="solid"/>
          </a:ln>
        </p:spPr>
      </p:sp>
      <p:sp>
        <p:nvSpPr>
          <p:cNvPr id="8" name="Text 4"/>
          <p:cNvSpPr txBox="1"/>
          <p:nvPr/>
        </p:nvSpPr>
        <p:spPr>
          <a:xfrm>
            <a:off x="804672" y="4773168"/>
            <a:ext cx="3038856" cy="566928"/>
          </a:xfrm>
          <a:prstGeom prst="rect">
            <a:avLst/>
          </a:prstGeom>
          <a:noFill/>
          <a:ln/>
        </p:spPr>
        <p:txBody>
          <a:bodyPr wrap="square" lIns="0" tIns="0" rIns="0" bIns="0" rtlCol="0" anchor="ctr"/>
          <a:lstStyle/>
          <a:p>
            <a:pPr indent="0" marL="0">
              <a:buNone/>
            </a:pPr>
            <a:r>
              <a:rPr lang="en-US" sz="1500" b="1" dirty="0">
                <a:solidFill>
                  <a:srgbClr val="2FD8A0"/>
                </a:solidFill>
                <a:latin typeface="Arial" pitchFamily="34" charset="0"/>
                <a:ea typeface="Arial" pitchFamily="34" charset="-122"/>
                <a:cs typeface="Arial" pitchFamily="34" charset="-120"/>
              </a:rPr>
              <a:t>They are yours to change</a:t>
            </a:r>
            <a:endParaRPr lang="en-US" sz="1500" dirty="0"/>
          </a:p>
        </p:txBody>
      </p:sp>
      <p:sp>
        <p:nvSpPr>
          <p:cNvPr id="9" name="Text 5"/>
          <p:cNvSpPr txBox="1"/>
          <p:nvPr/>
        </p:nvSpPr>
        <p:spPr>
          <a:xfrm>
            <a:off x="804672"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Move inflation from 6% to 8% and the whole plan re-scores immediately — every goal target, every projection, every action.</a:t>
            </a:r>
            <a:endParaRPr lang="en-US" sz="1300" dirty="0"/>
          </a:p>
        </p:txBody>
      </p:sp>
      <p:sp>
        <p:nvSpPr>
          <p:cNvPr id="10" name="Shape 6"/>
          <p:cNvSpPr/>
          <p:nvPr/>
        </p:nvSpPr>
        <p:spPr>
          <a:xfrm>
            <a:off x="4337304" y="4572000"/>
            <a:ext cx="3514344" cy="1691640"/>
          </a:xfrm>
          <a:prstGeom prst="roundRect">
            <a:avLst>
              <a:gd name="adj" fmla="val 5405"/>
            </a:avLst>
          </a:prstGeom>
          <a:solidFill>
            <a:srgbClr val="161F1C"/>
          </a:solidFill>
          <a:ln w="12700">
            <a:solidFill>
              <a:srgbClr val="1D2926"/>
            </a:solidFill>
            <a:prstDash val="solid"/>
          </a:ln>
        </p:spPr>
      </p:sp>
      <p:sp>
        <p:nvSpPr>
          <p:cNvPr id="11" name="Text 7"/>
          <p:cNvSpPr txBox="1"/>
          <p:nvPr/>
        </p:nvSpPr>
        <p:spPr>
          <a:xfrm>
            <a:off x="4575048" y="4773168"/>
            <a:ext cx="3038856" cy="566928"/>
          </a:xfrm>
          <a:prstGeom prst="rect">
            <a:avLst/>
          </a:prstGeom>
          <a:noFill/>
          <a:ln/>
        </p:spPr>
        <p:txBody>
          <a:bodyPr wrap="square" lIns="0" tIns="0" rIns="0" bIns="0" rtlCol="0" anchor="ctr"/>
          <a:lstStyle/>
          <a:p>
            <a:pPr indent="0" marL="0">
              <a:buNone/>
            </a:pPr>
            <a:r>
              <a:rPr lang="en-US" sz="1500" b="1" dirty="0">
                <a:solidFill>
                  <a:srgbClr val="E8A33D"/>
                </a:solidFill>
                <a:latin typeface="Arial" pitchFamily="34" charset="0"/>
                <a:ea typeface="Arial" pitchFamily="34" charset="-122"/>
                <a:cs typeface="Arial" pitchFamily="34" charset="-120"/>
              </a:rPr>
              <a:t>Bounded, not free-form</a:t>
            </a:r>
            <a:endParaRPr lang="en-US" sz="1500" dirty="0"/>
          </a:p>
        </p:txBody>
      </p:sp>
      <p:sp>
        <p:nvSpPr>
          <p:cNvPr id="12" name="Text 8"/>
          <p:cNvSpPr txBox="1"/>
          <p:nvPr/>
        </p:nvSpPr>
        <p:spPr>
          <a:xfrm>
            <a:off x="4575048"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Each field is range-checked. An out-of-range value cannot be stored, because one bad number used to make every later projection return null.</a:t>
            </a:r>
            <a:endParaRPr lang="en-US" sz="1300" dirty="0"/>
          </a:p>
        </p:txBody>
      </p:sp>
      <p:sp>
        <p:nvSpPr>
          <p:cNvPr id="13" name="Shape 9"/>
          <p:cNvSpPr/>
          <p:nvPr/>
        </p:nvSpPr>
        <p:spPr>
          <a:xfrm>
            <a:off x="8107680" y="4572000"/>
            <a:ext cx="3514344" cy="1691640"/>
          </a:xfrm>
          <a:prstGeom prst="roundRect">
            <a:avLst>
              <a:gd name="adj" fmla="val 5405"/>
            </a:avLst>
          </a:prstGeom>
          <a:solidFill>
            <a:srgbClr val="161F1C"/>
          </a:solidFill>
          <a:ln w="12700">
            <a:solidFill>
              <a:srgbClr val="1D2926"/>
            </a:solidFill>
            <a:prstDash val="solid"/>
          </a:ln>
        </p:spPr>
      </p:sp>
      <p:sp>
        <p:nvSpPr>
          <p:cNvPr id="14" name="Text 10"/>
          <p:cNvSpPr txBox="1"/>
          <p:nvPr/>
        </p:nvSpPr>
        <p:spPr>
          <a:xfrm>
            <a:off x="8345424" y="4773168"/>
            <a:ext cx="3038856" cy="566928"/>
          </a:xfrm>
          <a:prstGeom prst="rect">
            <a:avLst/>
          </a:prstGeom>
          <a:noFill/>
          <a:ln/>
        </p:spPr>
        <p:txBody>
          <a:bodyPr wrap="square" lIns="0" tIns="0" rIns="0" bIns="0" rtlCol="0" anchor="ctr"/>
          <a:lstStyle/>
          <a:p>
            <a:pPr indent="0" marL="0">
              <a:buNone/>
            </a:pPr>
            <a:r>
              <a:rPr lang="en-US" sz="1500" b="1" dirty="0">
                <a:solidFill>
                  <a:srgbClr val="6BB6EC"/>
                </a:solidFill>
                <a:latin typeface="Arial" pitchFamily="34" charset="0"/>
                <a:ea typeface="Arial" pitchFamily="34" charset="-122"/>
                <a:cs typeface="Arial" pitchFamily="34" charset="-120"/>
              </a:rPr>
              <a:t>Stated as planning figures</a:t>
            </a:r>
            <a:endParaRPr lang="en-US" sz="1500" dirty="0"/>
          </a:p>
        </p:txBody>
      </p:sp>
      <p:sp>
        <p:nvSpPr>
          <p:cNvPr id="15" name="Text 11"/>
          <p:cNvSpPr txBox="1"/>
          <p:nvPr/>
        </p:nvSpPr>
        <p:spPr>
          <a:xfrm>
            <a:off x="8345424" y="5376672"/>
            <a:ext cx="3038856" cy="685800"/>
          </a:xfrm>
          <a:prstGeom prst="rect">
            <a:avLst/>
          </a:prstGeom>
          <a:noFill/>
          <a:ln/>
        </p:spPr>
        <p:txBody>
          <a:bodyPr wrap="square" lIns="0" tIns="0" rIns="0" bIns="0" rtlCol="0" anchor="t"/>
          <a:lstStyle/>
          <a:p>
            <a:pPr indent="0" marL="0">
              <a:lnSpc>
                <a:spcPct val="112000"/>
              </a:lnSpc>
              <a:buNone/>
            </a:pPr>
            <a:r>
              <a:rPr lang="en-US" sz="1300" dirty="0">
                <a:solidFill>
                  <a:srgbClr val="E9EFEC"/>
                </a:solidFill>
                <a:latin typeface="Calibri" pitchFamily="34" charset="0"/>
                <a:ea typeface="Calibri" pitchFamily="34" charset="-122"/>
                <a:cs typeface="Calibri" pitchFamily="34" charset="-120"/>
              </a:rPr>
              <a:t>Not forecasts, not a promise of returns. The banner says so, and so does every projection that uses them.</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PART 9 — ENGINEERING</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Two ways to run it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66928" y="1645920"/>
            <a:ext cx="5298948" cy="2377440"/>
          </a:xfrm>
          <a:prstGeom prst="roundRect">
            <a:avLst>
              <a:gd name="adj" fmla="val 3846"/>
            </a:avLst>
          </a:prstGeom>
          <a:solidFill>
            <a:srgbClr val="161F1C"/>
          </a:solidFill>
          <a:ln w="12700">
            <a:solidFill>
              <a:srgbClr val="1D2926"/>
            </a:solidFill>
            <a:prstDash val="solid"/>
          </a:ln>
        </p:spPr>
      </p:sp>
      <p:sp>
        <p:nvSpPr>
          <p:cNvPr id="7" name="Text 4"/>
          <p:cNvSpPr txBox="1"/>
          <p:nvPr/>
        </p:nvSpPr>
        <p:spPr>
          <a:xfrm>
            <a:off x="822960" y="1874520"/>
            <a:ext cx="4786884" cy="36576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Full stack, locally</a:t>
            </a:r>
            <a:endParaRPr lang="en-US" sz="1700" dirty="0"/>
          </a:p>
        </p:txBody>
      </p:sp>
      <p:sp>
        <p:nvSpPr>
          <p:cNvPr id="8" name="Text 5"/>
          <p:cNvSpPr txBox="1"/>
          <p:nvPr/>
        </p:nvSpPr>
        <p:spPr>
          <a:xfrm>
            <a:off x="822960" y="2331720"/>
            <a:ext cx="4786884" cy="1097280"/>
          </a:xfrm>
          <a:prstGeom prst="rect">
            <a:avLst/>
          </a:prstGeom>
          <a:noFill/>
          <a:ln/>
        </p:spPr>
        <p:txBody>
          <a:bodyPr wrap="square" lIns="0" tIns="0" rIns="0" bIns="0" rtlCol="0" anchor="t"/>
          <a:lstStyle/>
          <a:p>
            <a:pPr indent="0" marL="0">
              <a:lnSpc>
                <a:spcPct val="112000"/>
              </a:lnSpc>
              <a:buNone/>
            </a:pPr>
            <a:r>
              <a:rPr lang="en-US" sz="1350" dirty="0">
                <a:solidFill>
                  <a:srgbClr val="E9EFEC"/>
                </a:solidFill>
                <a:latin typeface="Calibri" pitchFamily="34" charset="0"/>
                <a:ea typeface="Calibri" pitchFamily="34" charset="-122"/>
                <a:cs typeface="Calibri" pitchFamily="34" charset="-120"/>
              </a:rPr>
              <a:t>Express API on port 4000, Vite dev server on 5173, proxied so there is one origin and no CORS. The AI assistant works here.</a:t>
            </a:r>
            <a:endParaRPr lang="en-US" sz="1350" dirty="0"/>
          </a:p>
        </p:txBody>
      </p:sp>
      <p:sp>
        <p:nvSpPr>
          <p:cNvPr id="9" name="Text 6"/>
          <p:cNvSpPr txBox="1"/>
          <p:nvPr/>
        </p:nvSpPr>
        <p:spPr>
          <a:xfrm>
            <a:off x="822960" y="3474720"/>
            <a:ext cx="4786884" cy="365760"/>
          </a:xfrm>
          <a:prstGeom prst="rect">
            <a:avLst/>
          </a:prstGeom>
          <a:noFill/>
          <a:ln/>
        </p:spPr>
        <p:txBody>
          <a:bodyPr wrap="square" lIns="0" tIns="0" rIns="0" bIns="0" rtlCol="0" anchor="ctr"/>
          <a:lstStyle/>
          <a:p>
            <a:pPr indent="0" marL="0">
              <a:buNone/>
            </a:pPr>
            <a:r>
              <a:rPr lang="en-US" sz="1250" dirty="0">
                <a:solidFill>
                  <a:srgbClr val="93A49D"/>
                </a:solidFill>
                <a:latin typeface="Calibri" pitchFamily="34" charset="0"/>
                <a:ea typeface="Calibri" pitchFamily="34" charset="-122"/>
                <a:cs typeface="Calibri" pitchFamily="34" charset="-120"/>
              </a:rPr>
              <a:t>One command: npm run dev</a:t>
            </a:r>
            <a:endParaRPr lang="en-US" sz="1250" dirty="0"/>
          </a:p>
        </p:txBody>
      </p:sp>
      <p:sp>
        <p:nvSpPr>
          <p:cNvPr id="10" name="Shape 7"/>
          <p:cNvSpPr/>
          <p:nvPr/>
        </p:nvSpPr>
        <p:spPr>
          <a:xfrm>
            <a:off x="6323076" y="1645920"/>
            <a:ext cx="5298948" cy="2377440"/>
          </a:xfrm>
          <a:prstGeom prst="roundRect">
            <a:avLst>
              <a:gd name="adj" fmla="val 3846"/>
            </a:avLst>
          </a:prstGeom>
          <a:solidFill>
            <a:srgbClr val="161F1C"/>
          </a:solidFill>
          <a:ln w="25400">
            <a:solidFill>
              <a:srgbClr val="2FD8A0"/>
            </a:solidFill>
            <a:prstDash val="solid"/>
          </a:ln>
        </p:spPr>
      </p:sp>
      <p:sp>
        <p:nvSpPr>
          <p:cNvPr id="11" name="Text 8"/>
          <p:cNvSpPr txBox="1"/>
          <p:nvPr/>
        </p:nvSpPr>
        <p:spPr>
          <a:xfrm>
            <a:off x="6579108" y="1874520"/>
            <a:ext cx="4786884" cy="365760"/>
          </a:xfrm>
          <a:prstGeom prst="rect">
            <a:avLst/>
          </a:prstGeom>
          <a:noFill/>
          <a:ln/>
        </p:spPr>
        <p:txBody>
          <a:bodyPr wrap="square" lIns="0" tIns="0" rIns="0" bIns="0" rtlCol="0" anchor="ctr"/>
          <a:lstStyle/>
          <a:p>
            <a:pPr indent="0" marL="0">
              <a:buNone/>
            </a:pPr>
            <a:r>
              <a:rPr lang="en-US" sz="1700" b="1" dirty="0">
                <a:solidFill>
                  <a:srgbClr val="2FD8A0"/>
                </a:solidFill>
                <a:latin typeface="Arial" pitchFamily="34" charset="0"/>
                <a:ea typeface="Arial" pitchFamily="34" charset="-122"/>
                <a:cs typeface="Arial" pitchFamily="34" charset="-120"/>
              </a:rPr>
              <a:t>Static, on GitHub Pages</a:t>
            </a:r>
            <a:endParaRPr lang="en-US" sz="1700" dirty="0"/>
          </a:p>
        </p:txBody>
      </p:sp>
      <p:sp>
        <p:nvSpPr>
          <p:cNvPr id="12" name="Text 9"/>
          <p:cNvSpPr txBox="1"/>
          <p:nvPr/>
        </p:nvSpPr>
        <p:spPr>
          <a:xfrm>
            <a:off x="6579108" y="2331720"/>
            <a:ext cx="4786884" cy="1097280"/>
          </a:xfrm>
          <a:prstGeom prst="rect">
            <a:avLst/>
          </a:prstGeom>
          <a:noFill/>
          <a:ln/>
        </p:spPr>
        <p:txBody>
          <a:bodyPr wrap="square" lIns="0" tIns="0" rIns="0" bIns="0" rtlCol="0" anchor="t"/>
          <a:lstStyle/>
          <a:p>
            <a:pPr indent="0" marL="0">
              <a:lnSpc>
                <a:spcPct val="112000"/>
              </a:lnSpc>
              <a:buNone/>
            </a:pPr>
            <a:r>
              <a:rPr lang="en-US" sz="1350" dirty="0">
                <a:solidFill>
                  <a:srgbClr val="E9EFEC"/>
                </a:solidFill>
                <a:latin typeface="Calibri" pitchFamily="34" charset="0"/>
                <a:ea typeface="Calibri" pitchFamily="34" charset="-122"/>
                <a:cs typeface="Calibri" pitchFamily="34" charset="-120"/>
              </a:rPr>
              <a:t>Pages serves files, not processes. So a second client answers the same calls in the browser, using the same engine and localStorage for the profile.</a:t>
            </a:r>
            <a:endParaRPr lang="en-US" sz="1350" dirty="0"/>
          </a:p>
        </p:txBody>
      </p:sp>
      <p:sp>
        <p:nvSpPr>
          <p:cNvPr id="13" name="Text 10"/>
          <p:cNvSpPr txBox="1"/>
          <p:nvPr/>
        </p:nvSpPr>
        <p:spPr>
          <a:xfrm>
            <a:off x="6579108" y="3474720"/>
            <a:ext cx="4786884" cy="365760"/>
          </a:xfrm>
          <a:prstGeom prst="rect">
            <a:avLst/>
          </a:prstGeom>
          <a:noFill/>
          <a:ln/>
        </p:spPr>
        <p:txBody>
          <a:bodyPr wrap="square" lIns="0" tIns="0" rIns="0" bIns="0" rtlCol="0" anchor="ctr"/>
          <a:lstStyle/>
          <a:p>
            <a:pPr indent="0" marL="0">
              <a:buNone/>
            </a:pPr>
            <a:r>
              <a:rPr lang="en-US" sz="1250" dirty="0">
                <a:solidFill>
                  <a:srgbClr val="93A49D"/>
                </a:solidFill>
                <a:latin typeface="Calibri" pitchFamily="34" charset="0"/>
                <a:ea typeface="Calibri" pitchFamily="34" charset="-122"/>
                <a:cs typeface="Calibri" pitchFamily="34" charset="-120"/>
              </a:rPr>
              <a:t>Chosen at build time, so only one ships.</a:t>
            </a:r>
            <a:endParaRPr lang="en-US" sz="1250" dirty="0"/>
          </a:p>
        </p:txBody>
      </p:sp>
      <p:sp>
        <p:nvSpPr>
          <p:cNvPr id="14" name="Text 11"/>
          <p:cNvSpPr txBox="1"/>
          <p:nvPr/>
        </p:nvSpPr>
        <p:spPr>
          <a:xfrm>
            <a:off x="566928" y="4251960"/>
            <a:ext cx="11055096" cy="1005840"/>
          </a:xfrm>
          <a:prstGeom prst="rect">
            <a:avLst/>
          </a:prstGeom>
          <a:noFill/>
          <a:ln/>
        </p:spPr>
        <p:txBody>
          <a:bodyPr wrap="square" lIns="0" tIns="0" rIns="0" bIns="0" rtlCol="0" anchor="t"/>
          <a:lstStyle/>
          <a:p>
            <a:pPr indent="0" marL="0">
              <a:lnSpc>
                <a:spcPct val="120000"/>
              </a:lnSpc>
              <a:buNone/>
            </a:pPr>
            <a:r>
              <a:rPr lang="en-US" sz="1450" dirty="0">
                <a:solidFill>
                  <a:srgbClr val="E9EFEC"/>
                </a:solidFill>
                <a:latin typeface="Calibri" pitchFamily="34" charset="0"/>
                <a:ea typeface="Calibri" pitchFamily="34" charset="-122"/>
                <a:cs typeface="Calibri" pitchFamily="34" charset="-120"/>
              </a:rPr>
              <a:t>It is not a mock. Every route the client calls is either a pure function of the profile or a read of it, so the browser produces the same numbers the server would. The one exception is the agent, which needs a key — and it says so rather than pretending.</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200" kern="0" dirty="0">
                <a:solidFill>
                  <a:srgbClr val="2FD8A0"/>
                </a:solidFill>
                <a:latin typeface="Calibri" pitchFamily="34" charset="0"/>
                <a:ea typeface="Calibri" pitchFamily="34" charset="-122"/>
                <a:cs typeface="Calibri" pitchFamily="34" charset="-120"/>
              </a:rPr>
              <a:t>ENGINEERING</a:t>
            </a:r>
            <a:endParaRPr lang="en-US" sz="11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000" b="1" dirty="0">
                <a:solidFill>
                  <a:srgbClr val="E9EFEC"/>
                </a:solidFill>
                <a:latin typeface="Arial" pitchFamily="34" charset="0"/>
                <a:ea typeface="Arial" pitchFamily="34" charset="-122"/>
                <a:cs typeface="Arial" pitchFamily="34" charset="-120"/>
              </a:rPr>
              <a:t>How we keep it honest</a:t>
            </a:r>
            <a:endParaRPr lang="en-US" sz="3000" dirty="0"/>
          </a:p>
        </p:txBody>
      </p:sp>
      <p:sp>
        <p:nvSpPr>
          <p:cNvPr id="4" name="Text 2"/>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42</a:t>
            </a:r>
            <a:endParaRPr lang="en-US" sz="1000" dirty="0"/>
          </a:p>
        </p:txBody>
      </p:sp>
      <p:sp>
        <p:nvSpPr>
          <p:cNvPr id="6" name="Shape 3"/>
          <p:cNvSpPr/>
          <p:nvPr/>
        </p:nvSpPr>
        <p:spPr>
          <a:xfrm>
            <a:off x="566928" y="1645920"/>
            <a:ext cx="3514344" cy="1828800"/>
          </a:xfrm>
          <a:prstGeom prst="roundRect">
            <a:avLst>
              <a:gd name="adj" fmla="val 5000"/>
            </a:avLst>
          </a:prstGeom>
          <a:solidFill>
            <a:srgbClr val="161F1C"/>
          </a:solidFill>
          <a:ln w="12700">
            <a:solidFill>
              <a:srgbClr val="1D2926"/>
            </a:solidFill>
            <a:prstDash val="solid"/>
          </a:ln>
        </p:spPr>
      </p:sp>
      <p:sp>
        <p:nvSpPr>
          <p:cNvPr id="7" name="Text 4"/>
          <p:cNvSpPr txBox="1"/>
          <p:nvPr/>
        </p:nvSpPr>
        <p:spPr>
          <a:xfrm>
            <a:off x="804672" y="1828800"/>
            <a:ext cx="3038856" cy="548640"/>
          </a:xfrm>
          <a:prstGeom prst="rect">
            <a:avLst/>
          </a:prstGeom>
          <a:noFill/>
          <a:ln/>
        </p:spPr>
        <p:txBody>
          <a:bodyPr wrap="square" lIns="0" tIns="0" rIns="0" bIns="0" rtlCol="0" anchor="ctr"/>
          <a:lstStyle/>
          <a:p>
            <a:pPr indent="0" marL="0">
              <a:buNone/>
            </a:pPr>
            <a:r>
              <a:rPr lang="en-US" sz="2800" b="1" dirty="0">
                <a:solidFill>
                  <a:srgbClr val="2FD8A0"/>
                </a:solidFill>
                <a:latin typeface="Arial" pitchFamily="34" charset="0"/>
                <a:ea typeface="Arial" pitchFamily="34" charset="-122"/>
                <a:cs typeface="Arial" pitchFamily="34" charset="-120"/>
              </a:rPr>
              <a:t>239</a:t>
            </a:r>
            <a:endParaRPr lang="en-US" sz="2800" dirty="0"/>
          </a:p>
        </p:txBody>
      </p:sp>
      <p:sp>
        <p:nvSpPr>
          <p:cNvPr id="8" name="Text 5"/>
          <p:cNvSpPr txBox="1"/>
          <p:nvPr/>
        </p:nvSpPr>
        <p:spPr>
          <a:xfrm>
            <a:off x="804672" y="2395728"/>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Tests, all green</a:t>
            </a:r>
            <a:endParaRPr lang="en-US" sz="1500" dirty="0"/>
          </a:p>
        </p:txBody>
      </p:sp>
      <p:sp>
        <p:nvSpPr>
          <p:cNvPr id="9" name="Text 6"/>
          <p:cNvSpPr txBox="1"/>
          <p:nvPr/>
        </p:nvSpPr>
        <p:spPr>
          <a:xfrm>
            <a:off x="804672" y="2743200"/>
            <a:ext cx="3038856" cy="64008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Engine arithmetic, API and agent, page renders — no credentials needed</a:t>
            </a:r>
            <a:endParaRPr lang="en-US" sz="1200" dirty="0"/>
          </a:p>
        </p:txBody>
      </p:sp>
      <p:sp>
        <p:nvSpPr>
          <p:cNvPr id="10" name="Shape 7"/>
          <p:cNvSpPr/>
          <p:nvPr/>
        </p:nvSpPr>
        <p:spPr>
          <a:xfrm>
            <a:off x="4337304" y="1645920"/>
            <a:ext cx="3514344" cy="1828800"/>
          </a:xfrm>
          <a:prstGeom prst="roundRect">
            <a:avLst>
              <a:gd name="adj" fmla="val 5000"/>
            </a:avLst>
          </a:prstGeom>
          <a:solidFill>
            <a:srgbClr val="161F1C"/>
          </a:solidFill>
          <a:ln w="12700">
            <a:solidFill>
              <a:srgbClr val="1D2926"/>
            </a:solidFill>
            <a:prstDash val="solid"/>
          </a:ln>
        </p:spPr>
      </p:sp>
      <p:sp>
        <p:nvSpPr>
          <p:cNvPr id="11" name="Text 8"/>
          <p:cNvSpPr txBox="1"/>
          <p:nvPr/>
        </p:nvSpPr>
        <p:spPr>
          <a:xfrm>
            <a:off x="4575048" y="1828800"/>
            <a:ext cx="3038856" cy="548640"/>
          </a:xfrm>
          <a:prstGeom prst="rect">
            <a:avLst/>
          </a:prstGeom>
          <a:noFill/>
          <a:ln/>
        </p:spPr>
        <p:txBody>
          <a:bodyPr wrap="square" lIns="0" tIns="0" rIns="0" bIns="0" rtlCol="0" anchor="ctr"/>
          <a:lstStyle/>
          <a:p>
            <a:pPr indent="0" marL="0">
              <a:buNone/>
            </a:pPr>
            <a:r>
              <a:rPr lang="en-US" sz="2800" b="1" dirty="0">
                <a:solidFill>
                  <a:srgbClr val="2FD8A0"/>
                </a:solidFill>
                <a:latin typeface="Arial" pitchFamily="34" charset="0"/>
                <a:ea typeface="Arial" pitchFamily="34" charset="-122"/>
                <a:cs typeface="Arial" pitchFamily="34" charset="-120"/>
              </a:rPr>
              <a:t>3</a:t>
            </a:r>
            <a:endParaRPr lang="en-US" sz="2800" dirty="0"/>
          </a:p>
        </p:txBody>
      </p:sp>
      <p:sp>
        <p:nvSpPr>
          <p:cNvPr id="12" name="Text 9"/>
          <p:cNvSpPr txBox="1"/>
          <p:nvPr/>
        </p:nvSpPr>
        <p:spPr>
          <a:xfrm>
            <a:off x="4575048" y="2395728"/>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Test suites</a:t>
            </a:r>
            <a:endParaRPr lang="en-US" sz="1500" dirty="0"/>
          </a:p>
        </p:txBody>
      </p:sp>
      <p:sp>
        <p:nvSpPr>
          <p:cNvPr id="13" name="Text 10"/>
          <p:cNvSpPr txBox="1"/>
          <p:nvPr/>
        </p:nvSpPr>
        <p:spPr>
          <a:xfrm>
            <a:off x="4575048" y="2743200"/>
            <a:ext cx="3038856" cy="64008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shared, server and web, each run on every push</a:t>
            </a:r>
            <a:endParaRPr lang="en-US" sz="1200" dirty="0"/>
          </a:p>
        </p:txBody>
      </p:sp>
      <p:sp>
        <p:nvSpPr>
          <p:cNvPr id="14" name="Shape 11"/>
          <p:cNvSpPr/>
          <p:nvPr/>
        </p:nvSpPr>
        <p:spPr>
          <a:xfrm>
            <a:off x="8107680" y="1645920"/>
            <a:ext cx="3514344" cy="1828800"/>
          </a:xfrm>
          <a:prstGeom prst="roundRect">
            <a:avLst>
              <a:gd name="adj" fmla="val 5000"/>
            </a:avLst>
          </a:prstGeom>
          <a:solidFill>
            <a:srgbClr val="161F1C"/>
          </a:solidFill>
          <a:ln w="12700">
            <a:solidFill>
              <a:srgbClr val="1D2926"/>
            </a:solidFill>
            <a:prstDash val="solid"/>
          </a:ln>
        </p:spPr>
      </p:sp>
      <p:sp>
        <p:nvSpPr>
          <p:cNvPr id="15" name="Text 12"/>
          <p:cNvSpPr txBox="1"/>
          <p:nvPr/>
        </p:nvSpPr>
        <p:spPr>
          <a:xfrm>
            <a:off x="8345424" y="1828800"/>
            <a:ext cx="3038856" cy="548640"/>
          </a:xfrm>
          <a:prstGeom prst="rect">
            <a:avLst/>
          </a:prstGeom>
          <a:noFill/>
          <a:ln/>
        </p:spPr>
        <p:txBody>
          <a:bodyPr wrap="square" lIns="0" tIns="0" rIns="0" bIns="0" rtlCol="0" anchor="ctr"/>
          <a:lstStyle/>
          <a:p>
            <a:pPr indent="0" marL="0">
              <a:buNone/>
            </a:pPr>
            <a:r>
              <a:rPr lang="en-US" sz="2800" b="1" dirty="0">
                <a:solidFill>
                  <a:srgbClr val="2FD8A0"/>
                </a:solidFill>
                <a:latin typeface="Arial" pitchFamily="34" charset="0"/>
                <a:ea typeface="Arial" pitchFamily="34" charset="-122"/>
                <a:cs typeface="Arial" pitchFamily="34" charset="-120"/>
              </a:rPr>
              <a:t>CI</a:t>
            </a:r>
            <a:endParaRPr lang="en-US" sz="2800" dirty="0"/>
          </a:p>
        </p:txBody>
      </p:sp>
      <p:sp>
        <p:nvSpPr>
          <p:cNvPr id="16" name="Text 13"/>
          <p:cNvSpPr txBox="1"/>
          <p:nvPr/>
        </p:nvSpPr>
        <p:spPr>
          <a:xfrm>
            <a:off x="8345424" y="2395728"/>
            <a:ext cx="3038856" cy="310896"/>
          </a:xfrm>
          <a:prstGeom prst="rect">
            <a:avLst/>
          </a:prstGeom>
          <a:noFill/>
          <a:ln/>
        </p:spPr>
        <p:txBody>
          <a:bodyPr wrap="square" lIns="0" tIns="0" rIns="0" bIns="0" rtlCol="0" anchor="ctr"/>
          <a:lstStyle/>
          <a:p>
            <a:pPr indent="0" marL="0">
              <a:buNone/>
            </a:pPr>
            <a:r>
              <a:rPr lang="en-US" sz="1500" b="1" dirty="0">
                <a:solidFill>
                  <a:srgbClr val="E9EFEC"/>
                </a:solidFill>
                <a:latin typeface="Arial" pitchFamily="34" charset="0"/>
                <a:ea typeface="Arial" pitchFamily="34" charset="-122"/>
                <a:cs typeface="Arial" pitchFamily="34" charset="-120"/>
              </a:rPr>
              <a:t>On every commit</a:t>
            </a:r>
            <a:endParaRPr lang="en-US" sz="1500" dirty="0"/>
          </a:p>
        </p:txBody>
      </p:sp>
      <p:sp>
        <p:nvSpPr>
          <p:cNvPr id="17" name="Text 14"/>
          <p:cNvSpPr txBox="1"/>
          <p:nvPr/>
        </p:nvSpPr>
        <p:spPr>
          <a:xfrm>
            <a:off x="8345424" y="2743200"/>
            <a:ext cx="3038856" cy="640080"/>
          </a:xfrm>
          <a:prstGeom prst="rect">
            <a:avLst/>
          </a:prstGeom>
          <a:noFill/>
          <a:ln/>
        </p:spPr>
        <p:txBody>
          <a:bodyPr wrap="square" lIns="0" tIns="0" rIns="0" bIns="0" rtlCol="0" anchor="t"/>
          <a:lstStyle/>
          <a:p>
            <a:pPr indent="0" marL="0">
              <a:buNone/>
            </a:pPr>
            <a:r>
              <a:rPr lang="en-US" sz="1200" dirty="0">
                <a:solidFill>
                  <a:srgbClr val="93A49D"/>
                </a:solidFill>
                <a:latin typeface="Calibri" pitchFamily="34" charset="0"/>
                <a:ea typeface="Calibri" pitchFamily="34" charset="-122"/>
                <a:cs typeface="Calibri" pitchFamily="34" charset="-120"/>
              </a:rPr>
              <a:t>Typecheck, tests, build, and an end-to-end demo journey against a live API</a:t>
            </a:r>
            <a:endParaRPr lang="en-US" sz="1200" dirty="0"/>
          </a:p>
        </p:txBody>
      </p:sp>
      <p:sp>
        <p:nvSpPr>
          <p:cNvPr id="18" name="Shape 15"/>
          <p:cNvSpPr/>
          <p:nvPr/>
        </p:nvSpPr>
        <p:spPr>
          <a:xfrm>
            <a:off x="566928" y="3749040"/>
            <a:ext cx="5344668" cy="1371600"/>
          </a:xfrm>
          <a:prstGeom prst="roundRect">
            <a:avLst>
              <a:gd name="adj" fmla="val 6667"/>
            </a:avLst>
          </a:prstGeom>
          <a:solidFill>
            <a:srgbClr val="161F1C"/>
          </a:solidFill>
          <a:ln w="12700">
            <a:solidFill>
              <a:srgbClr val="1D2926"/>
            </a:solidFill>
            <a:prstDash val="solid"/>
          </a:ln>
        </p:spPr>
      </p:sp>
      <p:sp>
        <p:nvSpPr>
          <p:cNvPr id="19" name="Text 16"/>
          <p:cNvSpPr txBox="1"/>
          <p:nvPr/>
        </p:nvSpPr>
        <p:spPr>
          <a:xfrm>
            <a:off x="804672" y="3931920"/>
            <a:ext cx="4869180" cy="292608"/>
          </a:xfrm>
          <a:prstGeom prst="rect">
            <a:avLst/>
          </a:prstGeom>
          <a:noFill/>
          <a:ln/>
        </p:spPr>
        <p:txBody>
          <a:bodyPr wrap="square" lIns="0" tIns="0" rIns="0" bIns="0" rtlCol="0" anchor="ctr"/>
          <a:lstStyle/>
          <a:p>
            <a:pPr indent="0" marL="0">
              <a:buNone/>
            </a:pPr>
            <a:r>
              <a:rPr lang="en-US" sz="1400" b="1" dirty="0">
                <a:solidFill>
                  <a:srgbClr val="2FD8A0"/>
                </a:solidFill>
                <a:latin typeface="Arial" pitchFamily="34" charset="0"/>
                <a:ea typeface="Arial" pitchFamily="34" charset="-122"/>
                <a:cs typeface="Arial" pitchFamily="34" charset="-120"/>
              </a:rPr>
              <a:t>Accessibility is tested, not assumed</a:t>
            </a:r>
            <a:endParaRPr lang="en-US" sz="1400" dirty="0"/>
          </a:p>
        </p:txBody>
      </p:sp>
      <p:sp>
        <p:nvSpPr>
          <p:cNvPr id="20" name="Text 17"/>
          <p:cNvSpPr txBox="1"/>
          <p:nvPr/>
        </p:nvSpPr>
        <p:spPr>
          <a:xfrm>
            <a:off x="804672" y="4261104"/>
            <a:ext cx="4869180" cy="77724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Automated checks assert that every page has exactly one h1, that headings never skip a level, and that every form control has an accessible name.</a:t>
            </a:r>
            <a:endParaRPr lang="en-US" sz="1250" dirty="0"/>
          </a:p>
        </p:txBody>
      </p:sp>
      <p:sp>
        <p:nvSpPr>
          <p:cNvPr id="21" name="Shape 18"/>
          <p:cNvSpPr/>
          <p:nvPr/>
        </p:nvSpPr>
        <p:spPr>
          <a:xfrm>
            <a:off x="6277356" y="3749040"/>
            <a:ext cx="5344668" cy="1371600"/>
          </a:xfrm>
          <a:prstGeom prst="roundRect">
            <a:avLst>
              <a:gd name="adj" fmla="val 6667"/>
            </a:avLst>
          </a:prstGeom>
          <a:solidFill>
            <a:srgbClr val="161F1C"/>
          </a:solidFill>
          <a:ln w="12700">
            <a:solidFill>
              <a:srgbClr val="1D2926"/>
            </a:solidFill>
            <a:prstDash val="solid"/>
          </a:ln>
        </p:spPr>
      </p:sp>
      <p:sp>
        <p:nvSpPr>
          <p:cNvPr id="22" name="Text 19"/>
          <p:cNvSpPr txBox="1"/>
          <p:nvPr/>
        </p:nvSpPr>
        <p:spPr>
          <a:xfrm>
            <a:off x="6515100" y="3931920"/>
            <a:ext cx="4869180" cy="292608"/>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Regression tests name their bug</a:t>
            </a:r>
            <a:endParaRPr lang="en-US" sz="1400" dirty="0"/>
          </a:p>
        </p:txBody>
      </p:sp>
      <p:sp>
        <p:nvSpPr>
          <p:cNvPr id="23" name="Text 20"/>
          <p:cNvSpPr txBox="1"/>
          <p:nvPr/>
        </p:nvSpPr>
        <p:spPr>
          <a:xfrm>
            <a:off x="6515100" y="4261104"/>
            <a:ext cx="4869180" cy="777240"/>
          </a:xfrm>
          <a:prstGeom prst="rect">
            <a:avLst/>
          </a:prstGeom>
          <a:noFill/>
          <a:ln/>
        </p:spPr>
        <p:txBody>
          <a:bodyPr wrap="square" lIns="0" tIns="0" rIns="0" bIns="0" rtlCol="0" anchor="t"/>
          <a:lstStyle/>
          <a:p>
            <a:pPr indent="0" marL="0">
              <a:lnSpc>
                <a:spcPct val="110000"/>
              </a:lnSpc>
              <a:buNone/>
            </a:pPr>
            <a:r>
              <a:rPr lang="en-US" sz="1250" dirty="0">
                <a:solidFill>
                  <a:srgbClr val="93A49D"/>
                </a:solidFill>
                <a:latin typeface="Calibri" pitchFamily="34" charset="0"/>
                <a:ea typeface="Calibri" pitchFamily="34" charset="-122"/>
                <a:cs typeface="Calibri" pitchFamily="34" charset="-120"/>
              </a:rPr>
              <a:t>Each one describes the defect it prevents — "the % funded axis stretches to fit an over-funded goal" — so nobody deletes it later without understanding why.</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8A33D"/>
        </a:solidFill>
      </p:bgPr>
    </p:bg>
    <p:spTree>
      <p:nvGrpSpPr>
        <p:cNvPr id="1" name=""/>
        <p:cNvGrpSpPr/>
        <p:nvPr/>
      </p:nvGrpSpPr>
      <p:grpSpPr>
        <a:xfrm>
          <a:off x="0" y="0"/>
          <a:ext cx="0" cy="0"/>
          <a:chOff x="0" y="0"/>
          <a:chExt cx="0" cy="0"/>
        </a:xfrm>
      </p:grpSpPr>
      <p:sp>
        <p:nvSpPr>
          <p:cNvPr id="2" name="Text 0"/>
          <p:cNvSpPr txBox="1"/>
          <p:nvPr/>
        </p:nvSpPr>
        <p:spPr>
          <a:xfrm>
            <a:off x="566928" y="1280160"/>
            <a:ext cx="11055096" cy="274320"/>
          </a:xfrm>
          <a:prstGeom prst="rect">
            <a:avLst/>
          </a:prstGeom>
          <a:noFill/>
          <a:ln/>
        </p:spPr>
        <p:txBody>
          <a:bodyPr wrap="square" lIns="0" tIns="0" rIns="0" bIns="0" rtlCol="0" anchor="ctr"/>
          <a:lstStyle/>
          <a:p>
            <a:pPr indent="0" marL="0">
              <a:buNone/>
            </a:pPr>
            <a:r>
              <a:rPr lang="en-US" sz="1300" b="1" spc="300" kern="0" dirty="0">
                <a:solidFill>
                  <a:srgbClr val="2B1D05"/>
                </a:solidFill>
                <a:latin typeface="Calibri" pitchFamily="34" charset="0"/>
                <a:ea typeface="Calibri" pitchFamily="34" charset="-122"/>
                <a:cs typeface="Calibri" pitchFamily="34" charset="-120"/>
              </a:rPr>
              <a:t>STATED ON EVERY SCREEN</a:t>
            </a:r>
            <a:endParaRPr lang="en-US" sz="1300" dirty="0"/>
          </a:p>
        </p:txBody>
      </p:sp>
      <p:sp>
        <p:nvSpPr>
          <p:cNvPr id="3" name="Text 1"/>
          <p:cNvSpPr txBox="1"/>
          <p:nvPr/>
        </p:nvSpPr>
        <p:spPr>
          <a:xfrm>
            <a:off x="566928" y="1783080"/>
            <a:ext cx="10597896" cy="2011680"/>
          </a:xfrm>
          <a:prstGeom prst="rect">
            <a:avLst/>
          </a:prstGeom>
          <a:noFill/>
          <a:ln/>
        </p:spPr>
        <p:txBody>
          <a:bodyPr wrap="square" lIns="0" tIns="0" rIns="0" bIns="0" rtlCol="0" anchor="ctr"/>
          <a:lstStyle/>
          <a:p>
            <a:pPr indent="0" marL="0">
              <a:lnSpc>
                <a:spcPct val="115000"/>
              </a:lnSpc>
              <a:buNone/>
            </a:pPr>
            <a:r>
              <a:rPr lang="en-US" sz="3200" b="1" dirty="0">
                <a:solidFill>
                  <a:srgbClr val="2B1D05"/>
                </a:solidFill>
                <a:latin typeface="Arial" pitchFamily="34" charset="0"/>
                <a:ea typeface="Arial" pitchFamily="34" charset="-122"/>
                <a:cs typeface="Arial" pitchFamily="34" charset="-120"/>
              </a:rPr>
              <a:t>All sample data is synthetic and fabricated for this project. Nothing here is real market data, and nothing here is financial advice.</a:t>
            </a:r>
            <a:endParaRPr lang="en-US" sz="3200" dirty="0"/>
          </a:p>
        </p:txBody>
      </p:sp>
      <p:sp>
        <p:nvSpPr>
          <p:cNvPr id="4" name="Text 2"/>
          <p:cNvSpPr txBox="1"/>
          <p:nvPr/>
        </p:nvSpPr>
        <p:spPr>
          <a:xfrm>
            <a:off x="566928" y="3977640"/>
            <a:ext cx="9957816" cy="1097280"/>
          </a:xfrm>
          <a:prstGeom prst="rect">
            <a:avLst/>
          </a:prstGeom>
          <a:noFill/>
          <a:ln/>
        </p:spPr>
        <p:txBody>
          <a:bodyPr wrap="square" lIns="0" tIns="0" rIns="0" bIns="0" rtlCol="0" anchor="ctr"/>
          <a:lstStyle/>
          <a:p>
            <a:pPr indent="0" marL="0">
              <a:lnSpc>
                <a:spcPct val="120000"/>
              </a:lnSpc>
              <a:buNone/>
            </a:pPr>
            <a:r>
              <a:rPr lang="en-US" sz="1600" dirty="0">
                <a:solidFill>
                  <a:srgbClr val="3A2807"/>
                </a:solidFill>
                <a:latin typeface="Calibri" pitchFamily="34" charset="0"/>
                <a:ea typeface="Calibri" pitchFamily="34" charset="-122"/>
                <a:cs typeface="Calibri" pitchFamily="34" charset="-120"/>
              </a:rPr>
              <a:t>The assumptions are illustrative long-run planning figures, not forecasts. We built a planning engine, not a prediction engine — and the difference is printed next to every number it produces.</a:t>
            </a:r>
            <a:endParaRPr lang="en-US" sz="1600" dirty="0"/>
          </a:p>
        </p:txBody>
      </p:sp>
      <p:sp>
        <p:nvSpPr>
          <p:cNvPr id="5" name="Text 3"/>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5A4413"/>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210"/>
        </a:solidFill>
      </p:bgPr>
    </p:bg>
    <p:spTree>
      <p:nvGrpSpPr>
        <p:cNvPr id="1" name=""/>
        <p:cNvGrpSpPr/>
        <p:nvPr/>
      </p:nvGrpSpPr>
      <p:grpSpPr>
        <a:xfrm>
          <a:off x="0" y="0"/>
          <a:ext cx="0" cy="0"/>
          <a:chOff x="0" y="0"/>
          <a:chExt cx="0" cy="0"/>
        </a:xfrm>
      </p:grpSpPr>
      <p:sp>
        <p:nvSpPr>
          <p:cNvPr id="2" name="Text 0"/>
          <p:cNvSpPr txBox="1"/>
          <p:nvPr/>
        </p:nvSpPr>
        <p:spPr>
          <a:xfrm>
            <a:off x="566928" y="1737360"/>
            <a:ext cx="11055096" cy="1005840"/>
          </a:xfrm>
          <a:prstGeom prst="rect">
            <a:avLst/>
          </a:prstGeom>
          <a:noFill/>
          <a:ln/>
        </p:spPr>
        <p:txBody>
          <a:bodyPr wrap="square" lIns="0" tIns="0" rIns="0" bIns="0" rtlCol="0" anchor="ctr"/>
          <a:lstStyle/>
          <a:p>
            <a:pPr indent="0" marL="0">
              <a:buNone/>
            </a:pPr>
            <a:r>
              <a:rPr lang="en-US" sz="4400" b="1" dirty="0">
                <a:solidFill>
                  <a:srgbClr val="E9EFEC"/>
                </a:solidFill>
                <a:latin typeface="Arial" pitchFamily="34" charset="0"/>
                <a:ea typeface="Arial" pitchFamily="34" charset="-122"/>
                <a:cs typeface="Arial" pitchFamily="34" charset="-120"/>
              </a:rPr>
              <a:t>Advice you can argue with.</a:t>
            </a:r>
            <a:endParaRPr lang="en-US" sz="4400" dirty="0"/>
          </a:p>
        </p:txBody>
      </p:sp>
      <p:sp>
        <p:nvSpPr>
          <p:cNvPr id="3" name="Text 1"/>
          <p:cNvSpPr txBox="1"/>
          <p:nvPr/>
        </p:nvSpPr>
        <p:spPr>
          <a:xfrm>
            <a:off x="566928" y="2834640"/>
            <a:ext cx="8778240" cy="1005840"/>
          </a:xfrm>
          <a:prstGeom prst="rect">
            <a:avLst/>
          </a:prstGeom>
          <a:noFill/>
          <a:ln/>
        </p:spPr>
        <p:txBody>
          <a:bodyPr wrap="square" lIns="0" tIns="0" rIns="0" bIns="0" rtlCol="0" anchor="ctr"/>
          <a:lstStyle/>
          <a:p>
            <a:pPr indent="0" marL="0">
              <a:lnSpc>
                <a:spcPct val="120000"/>
              </a:lnSpc>
              <a:buNone/>
            </a:pPr>
            <a:r>
              <a:rPr lang="en-US" sz="1700" dirty="0">
                <a:solidFill>
                  <a:srgbClr val="93A49D"/>
                </a:solidFill>
                <a:latin typeface="Calibri" pitchFamily="34" charset="0"/>
                <a:ea typeface="Calibri" pitchFamily="34" charset="-122"/>
                <a:cs typeface="Calibri" pitchFamily="34" charset="-120"/>
              </a:rPr>
              <a:t>A deterministic engine that decides, a model that only explains, and the arithmetic printed next to every figure so you never have to take it on trust.</a:t>
            </a:r>
            <a:endParaRPr lang="en-US" sz="1700" dirty="0"/>
          </a:p>
        </p:txBody>
      </p:sp>
      <p:sp>
        <p:nvSpPr>
          <p:cNvPr id="4" name="Shape 2"/>
          <p:cNvSpPr/>
          <p:nvPr/>
        </p:nvSpPr>
        <p:spPr>
          <a:xfrm>
            <a:off x="566928" y="4023360"/>
            <a:ext cx="4754880" cy="914400"/>
          </a:xfrm>
          <a:prstGeom prst="roundRect">
            <a:avLst>
              <a:gd name="adj" fmla="val 10000"/>
            </a:avLst>
          </a:prstGeom>
          <a:solidFill>
            <a:srgbClr val="161F1C"/>
          </a:solidFill>
          <a:ln w="12700">
            <a:solidFill>
              <a:srgbClr val="1D2926"/>
            </a:solidFill>
            <a:prstDash val="solid"/>
          </a:ln>
        </p:spPr>
      </p:sp>
      <p:sp>
        <p:nvSpPr>
          <p:cNvPr id="5" name="Text 3"/>
          <p:cNvSpPr txBox="1"/>
          <p:nvPr/>
        </p:nvSpPr>
        <p:spPr>
          <a:xfrm>
            <a:off x="822960" y="4169664"/>
            <a:ext cx="4206240"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Live app</a:t>
            </a:r>
            <a:endParaRPr lang="en-US" sz="1150" dirty="0"/>
          </a:p>
        </p:txBody>
      </p:sp>
      <p:sp>
        <p:nvSpPr>
          <p:cNvPr id="6" name="Text 4"/>
          <p:cNvSpPr txBox="1"/>
          <p:nvPr/>
        </p:nvSpPr>
        <p:spPr>
          <a:xfrm>
            <a:off x="822960" y="4425696"/>
            <a:ext cx="4206240" cy="310896"/>
          </a:xfrm>
          <a:prstGeom prst="rect">
            <a:avLst/>
          </a:prstGeom>
          <a:noFill/>
          <a:ln/>
        </p:spPr>
        <p:txBody>
          <a:bodyPr wrap="square" lIns="0" tIns="0" rIns="0" bIns="0" rtlCol="0" anchor="ctr"/>
          <a:lstStyle/>
          <a:p>
            <a:pPr indent="0" marL="0">
              <a:buNone/>
            </a:pPr>
            <a:r>
              <a:rPr lang="en-US" sz="1400" dirty="0">
                <a:solidFill>
                  <a:srgbClr val="2FD8A0"/>
                </a:solidFill>
                <a:latin typeface="Calibri" pitchFamily="34" charset="0"/>
                <a:ea typeface="Calibri" pitchFamily="34" charset="-122"/>
                <a:cs typeface="Calibri" pitchFamily="34" charset="-120"/>
              </a:rPr>
              <a:t>deepak17kb.github.io/BroadBridge</a:t>
            </a:r>
            <a:endParaRPr lang="en-US" sz="1400" dirty="0"/>
          </a:p>
        </p:txBody>
      </p:sp>
      <p:sp>
        <p:nvSpPr>
          <p:cNvPr id="7" name="Shape 5"/>
          <p:cNvSpPr/>
          <p:nvPr/>
        </p:nvSpPr>
        <p:spPr>
          <a:xfrm>
            <a:off x="5687568" y="4023360"/>
            <a:ext cx="4754880" cy="914400"/>
          </a:xfrm>
          <a:prstGeom prst="roundRect">
            <a:avLst>
              <a:gd name="adj" fmla="val 10000"/>
            </a:avLst>
          </a:prstGeom>
          <a:solidFill>
            <a:srgbClr val="161F1C"/>
          </a:solidFill>
          <a:ln w="12700">
            <a:solidFill>
              <a:srgbClr val="1D2926"/>
            </a:solidFill>
            <a:prstDash val="solid"/>
          </a:ln>
        </p:spPr>
      </p:sp>
      <p:sp>
        <p:nvSpPr>
          <p:cNvPr id="8" name="Text 6"/>
          <p:cNvSpPr txBox="1"/>
          <p:nvPr/>
        </p:nvSpPr>
        <p:spPr>
          <a:xfrm>
            <a:off x="5943600" y="4169664"/>
            <a:ext cx="4206240" cy="237744"/>
          </a:xfrm>
          <a:prstGeom prst="rect">
            <a:avLst/>
          </a:prstGeom>
          <a:noFill/>
          <a:ln/>
        </p:spPr>
        <p:txBody>
          <a:bodyPr wrap="square" lIns="0" tIns="0" rIns="0" bIns="0" rtlCol="0" anchor="ctr"/>
          <a:lstStyle/>
          <a:p>
            <a:pPr indent="0" marL="0">
              <a:buNone/>
            </a:pPr>
            <a:r>
              <a:rPr lang="en-US" sz="1150" dirty="0">
                <a:solidFill>
                  <a:srgbClr val="93A49D"/>
                </a:solidFill>
                <a:latin typeface="Calibri" pitchFamily="34" charset="0"/>
                <a:ea typeface="Calibri" pitchFamily="34" charset="-122"/>
                <a:cs typeface="Calibri" pitchFamily="34" charset="-120"/>
              </a:rPr>
              <a:t>Source</a:t>
            </a:r>
            <a:endParaRPr lang="en-US" sz="1150" dirty="0"/>
          </a:p>
        </p:txBody>
      </p:sp>
      <p:sp>
        <p:nvSpPr>
          <p:cNvPr id="9" name="Text 7"/>
          <p:cNvSpPr txBox="1"/>
          <p:nvPr/>
        </p:nvSpPr>
        <p:spPr>
          <a:xfrm>
            <a:off x="5943600" y="4425696"/>
            <a:ext cx="4206240" cy="310896"/>
          </a:xfrm>
          <a:prstGeom prst="rect">
            <a:avLst/>
          </a:prstGeom>
          <a:noFill/>
          <a:ln/>
        </p:spPr>
        <p:txBody>
          <a:bodyPr wrap="square" lIns="0" tIns="0" rIns="0" bIns="0" rtlCol="0" anchor="ctr"/>
          <a:lstStyle/>
          <a:p>
            <a:pPr indent="0" marL="0">
              <a:buNone/>
            </a:pPr>
            <a:r>
              <a:rPr lang="en-US" sz="1400" dirty="0">
                <a:solidFill>
                  <a:srgbClr val="2FD8A0"/>
                </a:solidFill>
                <a:latin typeface="Calibri" pitchFamily="34" charset="0"/>
                <a:ea typeface="Calibri" pitchFamily="34" charset="-122"/>
                <a:cs typeface="Calibri" pitchFamily="34" charset="-120"/>
              </a:rPr>
              <a:t>github.com/Deepak17kb/BroadBridge</a:t>
            </a:r>
            <a:endParaRPr lang="en-US" sz="1400" dirty="0"/>
          </a:p>
        </p:txBody>
      </p:sp>
      <p:sp>
        <p:nvSpPr>
          <p:cNvPr id="10" name="Text 8"/>
          <p:cNvSpPr txBox="1"/>
          <p:nvPr/>
        </p:nvSpPr>
        <p:spPr>
          <a:xfrm>
            <a:off x="566928" y="5212080"/>
            <a:ext cx="3657600" cy="365760"/>
          </a:xfrm>
          <a:prstGeom prst="rect">
            <a:avLst/>
          </a:prstGeom>
          <a:noFill/>
          <a:ln/>
        </p:spPr>
        <p:txBody>
          <a:bodyPr wrap="square" lIns="0" tIns="0" rIns="0" bIns="0" rtlCol="0" anchor="ctr"/>
          <a:lstStyle/>
          <a:p>
            <a:pPr indent="0" marL="0">
              <a:buNone/>
            </a:pPr>
            <a:r>
              <a:rPr lang="en-US" sz="1800" b="1" dirty="0">
                <a:solidFill>
                  <a:srgbClr val="E9EFEC"/>
                </a:solidFill>
                <a:latin typeface="Arial" pitchFamily="34" charset="0"/>
                <a:ea typeface="Arial" pitchFamily="34" charset="-122"/>
                <a:cs typeface="Arial" pitchFamily="34" charset="-120"/>
              </a:rPr>
              <a:t>Questions?</a:t>
            </a:r>
            <a:endParaRPr lang="en-US" sz="1800" dirty="0"/>
          </a:p>
        </p:txBody>
      </p:sp>
      <p:sp>
        <p:nvSpPr>
          <p:cNvPr id="11" name="Text 9"/>
          <p:cNvSpPr txBox="1"/>
          <p:nvPr/>
        </p:nvSpPr>
        <p:spPr>
          <a:xfrm>
            <a:off x="10890504" y="6291072"/>
            <a:ext cx="731520" cy="256032"/>
          </a:xfrm>
          <a:prstGeom prst="rect">
            <a:avLst/>
          </a:prstGeom>
          <a:noFill/>
          <a:ln/>
        </p:spPr>
        <p:txBody>
          <a:bodyPr wrap="square" lIns="0" tIns="0" rIns="0" bIns="0" rtlCol="0" anchor="ctr"/>
          <a:lstStyle/>
          <a:p>
            <a:pPr algn="r" indent="0" marL="0">
              <a:buNone/>
            </a:pPr>
            <a:r>
              <a:rPr lang="en-US" sz="1000" dirty="0">
                <a:solidFill>
                  <a:srgbClr val="93A49D"/>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BroadBridge Project Walkthrough</dc:title>
  <dc:subject>PptxGenJS Presentation</dc:subject>
  <dc:creator>BroadBridge</dc:creator>
  <cp:lastModifiedBy>BroadBridge</cp:lastModifiedBy>
  <cp:revision>1</cp:revision>
  <dcterms:created xsi:type="dcterms:W3CDTF">2026-09-22T16:44:59Z</dcterms:created>
  <dcterms:modified xsi:type="dcterms:W3CDTF">2026-09-22T16:44:59Z</dcterms:modified>
</cp:coreProperties>
</file>